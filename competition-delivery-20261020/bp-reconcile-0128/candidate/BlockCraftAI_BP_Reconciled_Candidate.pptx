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f8a231311d4276" /><Relationship Type="http://schemas.openxmlformats.org/officeDocument/2006/relationships/extended-properties" Target="/docProps/app.xml" Id="Rd6ede78146004374" /><Relationship Type="http://schemas.openxmlformats.org/officeDocument/2006/relationships/officeDocument" Target="/ppt/presentation.xml" Id="Rb4af6eeeef0c45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b69a9cba614691"/>
  </p:sldMasterIdLst>
  <p:notesMasterIdLst>
    <p:notesMasterId xmlns:r="http://schemas.openxmlformats.org/officeDocument/2006/relationships" r:id="R5c97198719cb4337"/>
  </p:notesMasterIdLst>
  <p:sldIdLst>
    <p:sldId xmlns:r="http://schemas.openxmlformats.org/officeDocument/2006/relationships" id="256" r:id="R356029f782204c70"/>
    <p:sldId xmlns:r="http://schemas.openxmlformats.org/officeDocument/2006/relationships" id="257" r:id="Rc6d85c9c2fe34f1e"/>
    <p:sldId xmlns:r="http://schemas.openxmlformats.org/officeDocument/2006/relationships" id="258" r:id="Re277206d413b4858"/>
    <p:sldId xmlns:r="http://schemas.openxmlformats.org/officeDocument/2006/relationships" id="259" r:id="Re621c3f6df5e4e80"/>
    <p:sldId xmlns:r="http://schemas.openxmlformats.org/officeDocument/2006/relationships" id="260" r:id="R68530abd8a8b42d2"/>
    <p:sldId xmlns:r="http://schemas.openxmlformats.org/officeDocument/2006/relationships" id="261" r:id="R38e9ef10982d46c3"/>
    <p:sldId xmlns:r="http://schemas.openxmlformats.org/officeDocument/2006/relationships" id="262" r:id="R7c52cc1c34f944e1"/>
    <p:sldId xmlns:r="http://schemas.openxmlformats.org/officeDocument/2006/relationships" id="263" r:id="R4339a1a76e0943f4"/>
    <p:sldId xmlns:r="http://schemas.openxmlformats.org/officeDocument/2006/relationships" id="264" r:id="Ra0254b2408cc4b4d"/>
    <p:sldId xmlns:r="http://schemas.openxmlformats.org/officeDocument/2006/relationships" id="265" r:id="R4d19e0ae538942e9"/>
    <p:sldId xmlns:r="http://schemas.openxmlformats.org/officeDocument/2006/relationships" id="266" r:id="R9a0e31ac677c411a"/>
    <p:sldId xmlns:r="http://schemas.openxmlformats.org/officeDocument/2006/relationships" id="267" r:id="R54f90728a9af4343"/>
    <p:sldId xmlns:r="http://schemas.openxmlformats.org/officeDocument/2006/relationships" id="268" r:id="R0bc93a92065245b8"/>
    <p:sldId xmlns:r="http://schemas.openxmlformats.org/officeDocument/2006/relationships" id="269" r:id="R7b1b22e271724fe5"/>
    <p:sldId xmlns:r="http://schemas.openxmlformats.org/officeDocument/2006/relationships" id="270" r:id="R40d708aeeb8b478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31188d745c4ae5" /><Relationship Type="http://schemas.openxmlformats.org/officeDocument/2006/relationships/slideMaster" Target="/ppt/slideMasters/slideMaster1.xml" Id="R79b69a9cba614691" /><Relationship Type="http://schemas.openxmlformats.org/officeDocument/2006/relationships/notesMaster" Target="/ppt/notesMasters/notesMaster1.xml" Id="R5c97198719cb4337" /><Relationship Type="http://schemas.openxmlformats.org/officeDocument/2006/relationships/presProps" Target="/ppt/presProps.xml" Id="R0da00ff379f94ade" /><Relationship Type="http://schemas.openxmlformats.org/officeDocument/2006/relationships/tableStyles" Target="/ppt/tableStyles.xml" Id="Rc0e77a21bbdd437b" /><Relationship Type="http://schemas.openxmlformats.org/officeDocument/2006/relationships/slide" Target="/ppt/slides/slide1.xml" Id="R356029f782204c70" /><Relationship Type="http://schemas.openxmlformats.org/officeDocument/2006/relationships/slide" Target="/ppt/slides/slide2.xml" Id="Rc6d85c9c2fe34f1e" /><Relationship Type="http://schemas.openxmlformats.org/officeDocument/2006/relationships/slide" Target="/ppt/slides/slide3.xml" Id="Re277206d413b4858" /><Relationship Type="http://schemas.openxmlformats.org/officeDocument/2006/relationships/slide" Target="/ppt/slides/slide4.xml" Id="Re621c3f6df5e4e80" /><Relationship Type="http://schemas.openxmlformats.org/officeDocument/2006/relationships/slide" Target="/ppt/slides/slide5.xml" Id="R68530abd8a8b42d2" /><Relationship Type="http://schemas.openxmlformats.org/officeDocument/2006/relationships/slide" Target="/ppt/slides/slide6.xml" Id="R38e9ef10982d46c3" /><Relationship Type="http://schemas.openxmlformats.org/officeDocument/2006/relationships/slide" Target="/ppt/slides/slide7.xml" Id="R7c52cc1c34f944e1" /><Relationship Type="http://schemas.openxmlformats.org/officeDocument/2006/relationships/slide" Target="/ppt/slides/slide8.xml" Id="R4339a1a76e0943f4" /><Relationship Type="http://schemas.openxmlformats.org/officeDocument/2006/relationships/slide" Target="/ppt/slides/slide9.xml" Id="Ra0254b2408cc4b4d" /><Relationship Type="http://schemas.openxmlformats.org/officeDocument/2006/relationships/slide" Target="/ppt/slides/slide10.xml" Id="R4d19e0ae538942e9" /><Relationship Type="http://schemas.openxmlformats.org/officeDocument/2006/relationships/slide" Target="/ppt/slides/slide11.xml" Id="R9a0e31ac677c411a" /><Relationship Type="http://schemas.openxmlformats.org/officeDocument/2006/relationships/slide" Target="/ppt/slides/slide12.xml" Id="R54f90728a9af4343" /><Relationship Type="http://schemas.openxmlformats.org/officeDocument/2006/relationships/slide" Target="/ppt/slides/slide13.xml" Id="R0bc93a92065245b8" /><Relationship Type="http://schemas.openxmlformats.org/officeDocument/2006/relationships/slide" Target="/ppt/slides/slide14.xml" Id="R7b1b22e271724fe5" /><Relationship Type="http://schemas.openxmlformats.org/officeDocument/2006/relationships/slide" Target="/ppt/slides/slide15.xml" Id="R40d708aeeb8b47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5b3fbf175a46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e66fc7ac3e47de" /><Relationship Type="http://schemas.openxmlformats.org/officeDocument/2006/relationships/notesMaster" Target="/ppt/notesMasters/notesMaster1.xml" Id="R5cc9e1bf800c49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ff3576c36f49b5" /><Relationship Type="http://schemas.openxmlformats.org/officeDocument/2006/relationships/notesMaster" Target="/ppt/notesMasters/notesMaster1.xml" Id="R80d2f6a103b84f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9fea61cd304bdc" /><Relationship Type="http://schemas.openxmlformats.org/officeDocument/2006/relationships/notesMaster" Target="/ppt/notesMasters/notesMaster1.xml" Id="Ra92df3c8a5d14f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ef7eff6a7d4cf4" /><Relationship Type="http://schemas.openxmlformats.org/officeDocument/2006/relationships/notesMaster" Target="/ppt/notesMasters/notesMaster1.xml" Id="Rbe249820789242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0fece5b01e40f0" /><Relationship Type="http://schemas.openxmlformats.org/officeDocument/2006/relationships/notesMaster" Target="/ppt/notesMasters/notesMaster1.xml" Id="Rbdb676a7b04846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70adf3a5644d4e" /><Relationship Type="http://schemas.openxmlformats.org/officeDocument/2006/relationships/notesMaster" Target="/ppt/notesMasters/notesMaster1.xml" Id="R1e3954cf6a5741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61029d3b7e43c5" /><Relationship Type="http://schemas.openxmlformats.org/officeDocument/2006/relationships/notesMaster" Target="/ppt/notesMasters/notesMaster1.xml" Id="R1c128fd2014345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e8a8df964f4d82" /><Relationship Type="http://schemas.openxmlformats.org/officeDocument/2006/relationships/notesMaster" Target="/ppt/notesMasters/notesMaster1.xml" Id="Rd032e64930294a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c5606428fd4463" /><Relationship Type="http://schemas.openxmlformats.org/officeDocument/2006/relationships/notesMaster" Target="/ppt/notesMasters/notesMaster1.xml" Id="R8f7da47661dd4c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eabeac55ef413f" /><Relationship Type="http://schemas.openxmlformats.org/officeDocument/2006/relationships/notesMaster" Target="/ppt/notesMasters/notesMaster1.xml" Id="R6075d33a1a3843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64c55dabb94241" /><Relationship Type="http://schemas.openxmlformats.org/officeDocument/2006/relationships/notesMaster" Target="/ppt/notesMasters/notesMaster1.xml" Id="R27f1e8745c424e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50e782381e4b7f" /><Relationship Type="http://schemas.openxmlformats.org/officeDocument/2006/relationships/notesMaster" Target="/ppt/notesMasters/notesMaster1.xml" Id="Ref4cb94851324e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d083d1860f457a" /><Relationship Type="http://schemas.openxmlformats.org/officeDocument/2006/relationships/notesMaster" Target="/ppt/notesMasters/notesMaster1.xml" Id="Rfade3e69821e4d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fbb3014d624a9c" /><Relationship Type="http://schemas.openxmlformats.org/officeDocument/2006/relationships/notesMaster" Target="/ppt/notesMasters/notesMaster1.xml" Id="Rb04646a571c743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5f2867ebc849e4" /><Relationship Type="http://schemas.openxmlformats.org/officeDocument/2006/relationships/notesMaster" Target="/ppt/notesMasters/notesMaster1.xml" Id="Raa615d77a9f049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定位与目标闭环来源：本轮 Tech Lead 指令。封面为品牌概念构图，非产品真实截图。Mochi 复用仓库 src/assets/mochi.png。赛事名称沿用原 BP 第1页。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不使用市场统计或竞品缺陷断言。市场痛点按用户本轮指令标为待验证假设。下排为目标机制，非已上线能力。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目标用户与六类需求来自本轮用户指令，未加入虚构画像、用户数量或需求统计。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所有界面为概念示意，不冒充真实运行截图。现有基础与未来能力边界参见 P10，事实基线 origin/main 8cfa37f。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六步闭环来自本轮指令。状态基于 main 8cfa37f、PR49/52 及历史独立 QA。受控修改的离线验证不等于正式自然语言修改已上线。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规划机制为目标能力，图中学习计划/记录/回顾仅用于解释软件组成，不是当前真实在线模型生成结果。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复用已有 Mochi 品牌资产。基础视觉反馈来源 src/components/mochi 与 docs/mochi-motion.md；能力状态见 main docs/mochi-pr49-entry-contract.md。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学习、健身、计划、任务均为需求概念原型，并非工程完成结论。提供的66.27秒视频有学习/任务画面，但版本与生成来源未确认，未作为当前能力证据。报名真实运行基于受控 AppSpec，非在线模型结果。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B/C 图片分别来自 competition-delivery-20261019/video-b/screenshots/02-b-mode-functional-blocks.png 与07-c-mode-record-and-metric.png，仅裁切不改UI。录制基线7e94dc9568501dd4ad218a43b5aca31026aed2b2，不冒充8cfa37f最新录屏。独立QA631支持v1受控Mock/CRUD/ZIP等历史验收，PR52补充同树205项开发回归和浏览器Fixture，不等同最新main独立全量QA。番茄钟证据：docs/acceptance/trusted-pomodoro-ui/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8cfa37f5112adaab1e0adbb4cb4086240111d436；PR49 merge f8b7574与PR52 merge8cfa37f。来源 docs/mochi-pr49-entry-contract.md、docs/workshop-react-export-integration.md、docs/phase2-core/independent-qa631/REPORT-SNAPSHOT.md、docs/acceptance/trusted-pomodoro-ui/REPORT.md、PR52 body。当前轮未重跑生产代码QA，无付费模型调用。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比较替代路径，不使用原BP未经本轮核实的Lovable/Bubble功能限制。无市占率或增长数据。BlockCraft一行是目标体验，不是生产完成声明。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价格区间来源原BP第11页，仅保留访谈测试价格假设。三层商业模式来自本轮指令；尚无成交/订阅/收入证据。无外部市场数据与付费模型调用。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路线图为阶段性计划，不虚构完成日期。任意React/TSX安全编译执行仍待隔离/生命周期等安全验收；ModelScope公网URL未提供或验证。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人员与职责原BP第14页。姓名按原图核对：刘东媛、王致远、干陆烃芸、金运梓、郑相。最终提交前请成员本人核对职务与姓名用字。PR与独立QA是已有工程协作证据，不宣称最新main获得独立全量背书。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愿景与共创邀请。没有添加未经确认的公网地址或二维码，没有宣称在线模型与正式修改Provider已生产启用。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dad59790043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0c4d569714a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0f4bcadce4b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22b8ceb81740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ba6a6eecc4c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c853180284e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4280E0-29A0-4DDD-96B1-246DF90F3B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1ABFBA5-4B2F-4A63-BFD4-5D23E68EEF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D76AC0-9768-418F-AB22-FFCDE90DA0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57D937-DD24-473F-B7A4-A3CA0E17BB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24E002-B864-4062-B488-81AAF5DD7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58C641-215F-4631-AE41-2930C67BB9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6EF096-BBA1-41AD-8E79-B69549A29E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18D287-82CF-4837-8C15-EFFEF3A2ED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804F85-A7C6-4000-95CE-590DB2D0CE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A9D3B1-5B34-4BEF-BC04-603B7EC262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accf93b43e4f4e" /><Relationship Type="http://schemas.openxmlformats.org/officeDocument/2006/relationships/slideLayout" Target="/ppt/slideLayouts/slideLayout1.xml" Id="R4a6e23a6304d4117" /><Relationship Type="http://schemas.openxmlformats.org/officeDocument/2006/relationships/slideLayout" Target="/ppt/slideLayouts/slideLayout2.xml" Id="Re1a988be996948bf" /><Relationship Type="http://schemas.openxmlformats.org/officeDocument/2006/relationships/slideLayout" Target="/ppt/slideLayouts/slideLayout3.xml" Id="Rf15657cd43db461d" /><Relationship Type="http://schemas.openxmlformats.org/officeDocument/2006/relationships/slideLayout" Target="/ppt/slideLayouts/slideLayout4.xml" Id="Rbd5a6ce4993743d4" /><Relationship Type="http://schemas.openxmlformats.org/officeDocument/2006/relationships/slideLayout" Target="/ppt/slideLayouts/slideLayout5.xml" Id="R259d11ad9d5145dc" /><Relationship Type="http://schemas.openxmlformats.org/officeDocument/2006/relationships/slideLayout" Target="/ppt/slideLayouts/slideLayout6.xml" Id="R6e70d53601d641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6e23a6304d4117"/>
    <p:sldLayoutId xmlns:r="http://schemas.openxmlformats.org/officeDocument/2006/relationships" id="2147483650" r:id="Re1a988be996948bf"/>
    <p:sldLayoutId xmlns:r="http://schemas.openxmlformats.org/officeDocument/2006/relationships" id="2147483651" r:id="Rf15657cd43db461d"/>
    <p:sldLayoutId xmlns:r="http://schemas.openxmlformats.org/officeDocument/2006/relationships" id="2147483652" r:id="Rbd5a6ce4993743d4"/>
    <p:sldLayoutId xmlns:r="http://schemas.openxmlformats.org/officeDocument/2006/relationships" id="2147483653" r:id="R259d11ad9d5145dc"/>
    <p:sldLayoutId xmlns:r="http://schemas.openxmlformats.org/officeDocument/2006/relationships" id="2147483654" r:id="R6e70d53601d641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a40caf7094e11" /><Relationship Type="http://schemas.openxmlformats.org/officeDocument/2006/relationships/image" Target="/ppt/media/image.png" Id="Rdbeb03ce1ba04968" /><Relationship Type="http://schemas.openxmlformats.org/officeDocument/2006/relationships/notesSlide" Target="/ppt/notesSlides/notesSlide1.xml" Id="Rc310489db4f344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c04dc60f348e3" /><Relationship Type="http://schemas.openxmlformats.org/officeDocument/2006/relationships/image" Target="/ppt/media/image2.png" Id="Rf88c95fa07584dfc" /><Relationship Type="http://schemas.openxmlformats.org/officeDocument/2006/relationships/notesSlide" Target="/ppt/notesSlides/notesSlide2.xml" Id="Rabd3dcd0db8044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2905cc8f6d4ecb" /><Relationship Type="http://schemas.openxmlformats.org/officeDocument/2006/relationships/image" Target="/ppt/media/image3.png" Id="R8f021cd231ff4d0f" /><Relationship Type="http://schemas.openxmlformats.org/officeDocument/2006/relationships/notesSlide" Target="/ppt/notesSlides/notesSlide3.xml" Id="Re9052aaf8d554d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060565f64f4a34" /><Relationship Type="http://schemas.openxmlformats.org/officeDocument/2006/relationships/image" Target="/ppt/media/image4.png" Id="R4e0b45d890034808" /><Relationship Type="http://schemas.openxmlformats.org/officeDocument/2006/relationships/image" Target="/ppt/media/image5.png" Id="R92e4fabab8654c11" /><Relationship Type="http://schemas.openxmlformats.org/officeDocument/2006/relationships/notesSlide" Target="/ppt/notesSlides/notesSlide4.xml" Id="Ra95728f1e69541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ceb96a7944a25" /><Relationship Type="http://schemas.openxmlformats.org/officeDocument/2006/relationships/image" Target="/ppt/media/image6.png" Id="R461f26fd9cc84636" /><Relationship Type="http://schemas.openxmlformats.org/officeDocument/2006/relationships/notesSlide" Target="/ppt/notesSlides/notesSlide5.xml" Id="R235753a2c68447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7389522bd34f90" /><Relationship Type="http://schemas.openxmlformats.org/officeDocument/2006/relationships/image" Target="/ppt/media/image7.png" Id="Rb78edf2c4ce1485c" /><Relationship Type="http://schemas.openxmlformats.org/officeDocument/2006/relationships/image" Target="/ppt/media/image8.png" Id="Re3d861126fe84d17" /><Relationship Type="http://schemas.openxmlformats.org/officeDocument/2006/relationships/notesSlide" Target="/ppt/notesSlides/notesSlide6.xml" Id="R5e1b26ab81d447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995398b2e49c9" /><Relationship Type="http://schemas.openxmlformats.org/officeDocument/2006/relationships/image" Target="/ppt/media/image9.png" Id="Rd642936c2c354a4d" /><Relationship Type="http://schemas.openxmlformats.org/officeDocument/2006/relationships/image" Target="/ppt/media/image10.png" Id="Ra225f78d0e8b4a66" /><Relationship Type="http://schemas.openxmlformats.org/officeDocument/2006/relationships/notesSlide" Target="/ppt/notesSlides/notesSlide7.xml" Id="R32c2734adab24f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f4caf58df4221" /><Relationship Type="http://schemas.openxmlformats.org/officeDocument/2006/relationships/image" Target="/ppt/media/image11.png" Id="Rc14aee782a664fd0" /><Relationship Type="http://schemas.openxmlformats.org/officeDocument/2006/relationships/notesSlide" Target="/ppt/notesSlides/notesSlide8.xml" Id="R733230db9ccc42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7b31892e7c4fbc" /><Relationship Type="http://schemas.openxmlformats.org/officeDocument/2006/relationships/image" Target="/ppt/media/image12.png" Id="Rd0a04b67805d4a68" /><Relationship Type="http://schemas.openxmlformats.org/officeDocument/2006/relationships/image" Target="/ppt/media/image13.png" Id="R920aa09400014ada" /><Relationship Type="http://schemas.openxmlformats.org/officeDocument/2006/relationships/image" Target="/ppt/media/image14.png" Id="R531074f281f24511" /><Relationship Type="http://schemas.openxmlformats.org/officeDocument/2006/relationships/notesSlide" Target="/ppt/notesSlides/notesSlide9.xml" Id="R6ca4832b34a34c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2aa404463b4a3d" /><Relationship Type="http://schemas.openxmlformats.org/officeDocument/2006/relationships/image" Target="/ppt/media/image15.png" Id="R1a644ba663834658" /><Relationship Type="http://schemas.openxmlformats.org/officeDocument/2006/relationships/notesSlide" Target="/ppt/notesSlides/notesSlide10.xml" Id="R6cd00f27540d4d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fcaa09127427b" /><Relationship Type="http://schemas.openxmlformats.org/officeDocument/2006/relationships/image" Target="/ppt/media/image16.png" Id="Rfba680e97a704729" /><Relationship Type="http://schemas.openxmlformats.org/officeDocument/2006/relationships/notesSlide" Target="/ppt/notesSlides/notesSlide11.xml" Id="R0be6f79cca8c42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45e5d1aa246ea" /><Relationship Type="http://schemas.openxmlformats.org/officeDocument/2006/relationships/image" Target="/ppt/media/image17.png" Id="R2b7f6459c2474e70" /><Relationship Type="http://schemas.openxmlformats.org/officeDocument/2006/relationships/notesSlide" Target="/ppt/notesSlides/notesSlide12.xml" Id="R58e9072566334d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a5fe35a1e4779" /><Relationship Type="http://schemas.openxmlformats.org/officeDocument/2006/relationships/image" Target="/ppt/media/image18.png" Id="R9bf3b85c98054da8" /><Relationship Type="http://schemas.openxmlformats.org/officeDocument/2006/relationships/notesSlide" Target="/ppt/notesSlides/notesSlide13.xml" Id="R7ad095cd66a241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61bf3c6f414150" /><Relationship Type="http://schemas.openxmlformats.org/officeDocument/2006/relationships/image" Target="/ppt/media/image19.png" Id="R33929f81f7464b5b" /><Relationship Type="http://schemas.openxmlformats.org/officeDocument/2006/relationships/notesSlide" Target="/ppt/notesSlides/notesSlide14.xml" Id="Re589f8192fde44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2e570dc084ce7" /><Relationship Type="http://schemas.openxmlformats.org/officeDocument/2006/relationships/image" Target="/ppt/media/image20.png" Id="R683461907c7540ce" /><Relationship Type="http://schemas.openxmlformats.org/officeDocument/2006/relationships/notesSlide" Target="/ppt/notesSlides/notesSlide15.xml" Id="R185ce738e4384d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1-0">
            <a:extLst xmlns:a="http://schemas.openxmlformats.org/drawingml/2006/main">
              <a:ext uri="{FF2B5EF4-FFF2-40B4-BE49-F238E27FC236}">
                <a16:creationId xmlns:a16="http://schemas.microsoft.com/office/drawing/2014/main" id="{A84FD5BC-3FF1-4F6C-8D16-1A917988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-1">
            <a:extLst xmlns:a="http://schemas.openxmlformats.org/drawingml/2006/main">
              <a:ext uri="{FF2B5EF4-FFF2-40B4-BE49-F238E27FC236}">
                <a16:creationId xmlns:a16="http://schemas.microsoft.com/office/drawing/2014/main" id="{554DB4D6-E357-4E80-B620-69B43CC9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1-2">
            <a:extLst xmlns:a="http://schemas.openxmlformats.org/drawingml/2006/main">
              <a:ext uri="{FF2B5EF4-FFF2-40B4-BE49-F238E27FC236}">
                <a16:creationId xmlns:a16="http://schemas.microsoft.com/office/drawing/2014/main" id="{A2512C5C-154A-4A34-9743-B53A6D55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-3">
            <a:extLst xmlns:a="http://schemas.openxmlformats.org/drawingml/2006/main">
              <a:ext uri="{FF2B5EF4-FFF2-40B4-BE49-F238E27FC236}">
                <a16:creationId xmlns:a16="http://schemas.microsoft.com/office/drawing/2014/main" id="{C8B14A53-CC0A-4BDE-89A0-EE5EFBF2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-4-BlockCraft AI">
            <a:extLst xmlns:a="http://schemas.openxmlformats.org/drawingml/2006/main">
              <a:ext uri="{FF2B5EF4-FFF2-40B4-BE49-F238E27FC236}">
                <a16:creationId xmlns:a16="http://schemas.microsoft.com/office/drawing/2014/main" id="{4B986448-A438-4770-9479-5F4B130A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1-5-BLOCKCRAFT AI  /  从想">
            <a:extLst xmlns:a="http://schemas.openxmlformats.org/drawingml/2006/main">
              <a:ext uri="{FF2B5EF4-FFF2-40B4-BE49-F238E27FC236}">
                <a16:creationId xmlns:a16="http://schemas.microsoft.com/office/drawing/2014/main" id="{4BE7BD16-7855-4270-AEF7-FC3F0265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BLOCKCRAFT AI  /  从想法开始创造</a:t>
            </a:r>
          </a:p>
        </p:txBody>
      </p:sp>
      <p:sp>
        <p:nvSpPr>
          <p:cNvPr id="7" name="p1-6">
            <a:extLst xmlns:a="http://schemas.openxmlformats.org/drawingml/2006/main">
              <a:ext uri="{FF2B5EF4-FFF2-40B4-BE49-F238E27FC236}">
                <a16:creationId xmlns:a16="http://schemas.microsoft.com/office/drawing/2014/main" id="{58535AAD-437B-40D5-A0FC-6092D147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-7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5009582C-BE64-4917-A0D3-B9FE22A8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9" name="p1-8-01 / 15">
            <a:extLst xmlns:a="http://schemas.openxmlformats.org/drawingml/2006/main">
              <a:ext uri="{FF2B5EF4-FFF2-40B4-BE49-F238E27FC236}">
                <a16:creationId xmlns:a16="http://schemas.microsoft.com/office/drawing/2014/main" id="{163A9F19-A17E-4DBE-ABF2-0FDF7E97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01 / 15</a:t>
            </a:r>
          </a:p>
        </p:txBody>
      </p:sp>
      <p:sp>
        <p:nvSpPr>
          <p:cNvPr id="10" name="p1-9-把想法，">
            <a:extLst xmlns:a="http://schemas.openxmlformats.org/drawingml/2006/main">
              <a:ext uri="{FF2B5EF4-FFF2-40B4-BE49-F238E27FC236}">
                <a16:creationId xmlns:a16="http://schemas.microsoft.com/office/drawing/2014/main" id="{A01DEF63-5C4C-42BB-9AFC-C88D9BFF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8572500" cy="1068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59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把想法，</a:t>
            </a:r>
          </a:p>
        </p:txBody>
      </p:sp>
      <p:sp>
        <p:nvSpPr>
          <p:cNvPr id="11" name="p1-10-搭成自己的软件。">
            <a:extLst xmlns:a="http://schemas.openxmlformats.org/drawingml/2006/main">
              <a:ext uri="{FF2B5EF4-FFF2-40B4-BE49-F238E27FC236}">
                <a16:creationId xmlns:a16="http://schemas.microsoft.com/office/drawing/2014/main" id="{1049FE30-769F-461D-AFB1-2247F3FB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9619"/>
            <a:ext cx="8572500" cy="1068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59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59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搭成自己的软件。</a:t>
            </a:r>
          </a:p>
        </p:txBody>
      </p:sp>
      <p:sp>
        <p:nvSpPr>
          <p:cNvPr id="12" name="p1-11-面向编程零基础用户的">
            <a:extLst xmlns:a="http://schemas.openxmlformats.org/drawingml/2006/main">
              <a:ext uri="{FF2B5EF4-FFF2-40B4-BE49-F238E27FC236}">
                <a16:creationId xmlns:a16="http://schemas.microsoft.com/office/drawing/2014/main" id="{95FD4F8D-3B13-40EE-AEA5-440E12E0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752475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24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面向编程零基础用户的</a:t>
            </a:r>
          </a:p>
        </p:txBody>
      </p:sp>
      <p:sp>
        <p:nvSpPr>
          <p:cNvPr id="13" name="p1-12-AI 原生可视化软件创造平台">
            <a:extLst xmlns:a="http://schemas.openxmlformats.org/drawingml/2006/main">
              <a:ext uri="{FF2B5EF4-FFF2-40B4-BE49-F238E27FC236}">
                <a16:creationId xmlns:a16="http://schemas.microsoft.com/office/drawing/2014/main" id="{4830717D-4495-48E8-8585-230F051B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4895"/>
            <a:ext cx="752475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24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AI 原生可视化软件创造平台</a:t>
            </a:r>
          </a:p>
        </p:txBody>
      </p:sp>
      <p:sp>
        <p:nvSpPr>
          <p:cNvPr id="14" name="p1-13">
            <a:extLst xmlns:a="http://schemas.openxmlformats.org/drawingml/2006/main">
              <a:ext uri="{FF2B5EF4-FFF2-40B4-BE49-F238E27FC236}">
                <a16:creationId xmlns:a16="http://schemas.microsoft.com/office/drawing/2014/main" id="{E7442A20-DA26-4928-94C7-DC0E69B4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1-14-自然语言">
            <a:extLst xmlns:a="http://schemas.openxmlformats.org/drawingml/2006/main">
              <a:ext uri="{FF2B5EF4-FFF2-40B4-BE49-F238E27FC236}">
                <a16:creationId xmlns:a16="http://schemas.microsoft.com/office/drawing/2014/main" id="{B85CFD8B-EBA3-402A-A1D1-FF4B7C5F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00725"/>
            <a:ext cx="11239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自然语言</a:t>
            </a:r>
          </a:p>
        </p:txBody>
      </p:sp>
      <p:sp>
        <p:nvSpPr>
          <p:cNvPr id="16" name="p1-15">
            <a:extLst xmlns:a="http://schemas.openxmlformats.org/drawingml/2006/main">
              <a:ext uri="{FF2B5EF4-FFF2-40B4-BE49-F238E27FC236}">
                <a16:creationId xmlns:a16="http://schemas.microsoft.com/office/drawing/2014/main" id="{5E727699-02CB-4994-8395-8CAA22EE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531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1-16-功能积木">
            <a:extLst xmlns:a="http://schemas.openxmlformats.org/drawingml/2006/main">
              <a:ext uri="{FF2B5EF4-FFF2-40B4-BE49-F238E27FC236}">
                <a16:creationId xmlns:a16="http://schemas.microsoft.com/office/drawing/2014/main" id="{2E5EE89D-DB92-4EF0-8614-D4DEB079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00725"/>
            <a:ext cx="11239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功能积木</a:t>
            </a:r>
          </a:p>
        </p:txBody>
      </p:sp>
      <p:sp>
        <p:nvSpPr>
          <p:cNvPr id="18" name="p1-17">
            <a:extLst xmlns:a="http://schemas.openxmlformats.org/drawingml/2006/main">
              <a:ext uri="{FF2B5EF4-FFF2-40B4-BE49-F238E27FC236}">
                <a16:creationId xmlns:a16="http://schemas.microsoft.com/office/drawing/2014/main" id="{355075E1-1F3C-4521-9184-7CBC1137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7531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1-18-Mochi 陪伴">
            <a:extLst xmlns:a="http://schemas.openxmlformats.org/drawingml/2006/main">
              <a:ext uri="{FF2B5EF4-FFF2-40B4-BE49-F238E27FC236}">
                <a16:creationId xmlns:a16="http://schemas.microsoft.com/office/drawing/2014/main" id="{14823106-FE27-4FDB-9257-9D998B8F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00725"/>
            <a:ext cx="13906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Mochi 陪伴</a:t>
            </a:r>
          </a:p>
        </p:txBody>
      </p:sp>
      <p:sp>
        <p:nvSpPr>
          <p:cNvPr id="20" name="p1-19">
            <a:extLst xmlns:a="http://schemas.openxmlformats.org/drawingml/2006/main">
              <a:ext uri="{FF2B5EF4-FFF2-40B4-BE49-F238E27FC236}">
                <a16:creationId xmlns:a16="http://schemas.microsoft.com/office/drawing/2014/main" id="{451DD224-34BD-4487-BF22-F119E75E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3857625" cy="385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A5B2C-FD64-46BD-BF81-409CD2BF55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b03ce1ba04968"/>
          <a:stretch xmlns:a="http://schemas.openxmlformats.org/drawingml/2006/main"/>
        </p:blipFill>
        <p:spPr>
          <a:xfrm xmlns:a="http://schemas.openxmlformats.org/drawingml/2006/main">
            <a:off x="9839325" y="2863993"/>
            <a:ext cx="3476625" cy="3111214"/>
          </a:xfrm>
          <a:prstGeom xmlns:a="http://schemas.openxmlformats.org/drawingml/2006/main" prst="rect">
            <a:avLst/>
          </a:prstGeom>
        </p:spPr>
      </p:pic>
      <p:sp>
        <p:nvSpPr>
          <p:cNvPr id="22" name="p1-21">
            <a:extLst xmlns:a="http://schemas.openxmlformats.org/drawingml/2006/main">
              <a:ext uri="{FF2B5EF4-FFF2-40B4-BE49-F238E27FC236}">
                <a16:creationId xmlns:a16="http://schemas.microsoft.com/office/drawing/2014/main" id="{55C9D0D0-FECE-4AD9-A92C-182E0647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476375"/>
            <a:ext cx="5715000" cy="866775"/>
          </a:xfrm>
          <a:prstGeom xmlns:a="http://schemas.openxmlformats.org/drawingml/2006/main" prst="roundRect">
            <a:avLst>
              <a:gd name="adj" fmla="val 263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3" name="p1-22-“做一个适合我的学习小助手。”">
            <a:extLst xmlns:a="http://schemas.openxmlformats.org/drawingml/2006/main">
              <a:ext uri="{FF2B5EF4-FFF2-40B4-BE49-F238E27FC236}">
                <a16:creationId xmlns:a16="http://schemas.microsoft.com/office/drawing/2014/main" id="{5D96DF49-83E7-456A-94C2-AEA093D5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43075"/>
            <a:ext cx="52387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“做一个适合我的学习小助手。”</a:t>
            </a:r>
          </a:p>
        </p:txBody>
      </p:sp>
      <p:sp>
        <p:nvSpPr>
          <p:cNvPr id="24" name="p1-23">
            <a:extLst xmlns:a="http://schemas.openxmlformats.org/drawingml/2006/main">
              <a:ext uri="{FF2B5EF4-FFF2-40B4-BE49-F238E27FC236}">
                <a16:creationId xmlns:a16="http://schemas.microsoft.com/office/drawing/2014/main" id="{C81250A6-3445-4DE1-9500-50ECFBEF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1-24">
            <a:extLst xmlns:a="http://schemas.openxmlformats.org/drawingml/2006/main">
              <a:ext uri="{FF2B5EF4-FFF2-40B4-BE49-F238E27FC236}">
                <a16:creationId xmlns:a16="http://schemas.microsoft.com/office/drawing/2014/main" id="{520AA4CD-8317-45A0-B715-D8D39AE9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33375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1-25">
            <a:extLst xmlns:a="http://schemas.openxmlformats.org/drawingml/2006/main">
              <a:ext uri="{FF2B5EF4-FFF2-40B4-BE49-F238E27FC236}">
                <a16:creationId xmlns:a16="http://schemas.microsoft.com/office/drawing/2014/main" id="{7AD7AA80-553F-4427-835A-27B82758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147637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1-26">
            <a:extLst xmlns:a="http://schemas.openxmlformats.org/drawingml/2006/main">
              <a:ext uri="{FF2B5EF4-FFF2-40B4-BE49-F238E27FC236}">
                <a16:creationId xmlns:a16="http://schemas.microsoft.com/office/drawing/2014/main" id="{4C22F3FB-90B7-40DF-BC68-26F36ADE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28" name="p1-27">
            <a:extLst xmlns:a="http://schemas.openxmlformats.org/drawingml/2006/main">
              <a:ext uri="{FF2B5EF4-FFF2-40B4-BE49-F238E27FC236}">
                <a16:creationId xmlns:a16="http://schemas.microsoft.com/office/drawing/2014/main" id="{CC2209EF-657A-4C37-93A0-0DAED5B6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868" y="3621024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1-28">
            <a:extLst xmlns:a="http://schemas.openxmlformats.org/drawingml/2006/main">
              <a:ext uri="{FF2B5EF4-FFF2-40B4-BE49-F238E27FC236}">
                <a16:creationId xmlns:a16="http://schemas.microsoft.com/office/drawing/2014/main" id="{11E29A45-F22F-476B-863E-6FFA1D2E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80174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0" name="p1-29">
            <a:extLst xmlns:a="http://schemas.openxmlformats.org/drawingml/2006/main">
              <a:ext uri="{FF2B5EF4-FFF2-40B4-BE49-F238E27FC236}">
                <a16:creationId xmlns:a16="http://schemas.microsoft.com/office/drawing/2014/main" id="{A3ADF92C-DB37-4A56-B1DD-B6C29EE7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868" y="3700748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1-30">
            <a:extLst xmlns:a="http://schemas.openxmlformats.org/drawingml/2006/main">
              <a:ext uri="{FF2B5EF4-FFF2-40B4-BE49-F238E27FC236}">
                <a16:creationId xmlns:a16="http://schemas.microsoft.com/office/drawing/2014/main" id="{A8CE7EF1-2713-48CA-9DAC-DF9A7086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9899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2" name="p1-31">
            <a:extLst xmlns:a="http://schemas.openxmlformats.org/drawingml/2006/main">
              <a:ext uri="{FF2B5EF4-FFF2-40B4-BE49-F238E27FC236}">
                <a16:creationId xmlns:a16="http://schemas.microsoft.com/office/drawing/2014/main" id="{E6F818ED-130B-4B03-A7CD-E14B630F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868" y="3780473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1-32-任务">
            <a:extLst xmlns:a="http://schemas.openxmlformats.org/drawingml/2006/main">
              <a:ext uri="{FF2B5EF4-FFF2-40B4-BE49-F238E27FC236}">
                <a16:creationId xmlns:a16="http://schemas.microsoft.com/office/drawing/2014/main" id="{23CCD4FA-1D12-4518-85C1-D6C45506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1133475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任务</a:t>
            </a:r>
          </a:p>
        </p:txBody>
      </p:sp>
      <p:sp>
        <p:nvSpPr>
          <p:cNvPr id="34" name="p1-33">
            <a:extLst xmlns:a="http://schemas.openxmlformats.org/drawingml/2006/main">
              <a:ext uri="{FF2B5EF4-FFF2-40B4-BE49-F238E27FC236}">
                <a16:creationId xmlns:a16="http://schemas.microsoft.com/office/drawing/2014/main" id="{918F42FC-50C8-4F3A-AA99-C5CEB2F6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4429125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1-34">
            <a:extLst xmlns:a="http://schemas.openxmlformats.org/drawingml/2006/main">
              <a:ext uri="{FF2B5EF4-FFF2-40B4-BE49-F238E27FC236}">
                <a16:creationId xmlns:a16="http://schemas.microsoft.com/office/drawing/2014/main" id="{23C595DA-D31B-4203-891E-65E34C79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4429125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1-35">
            <a:extLst xmlns:a="http://schemas.openxmlformats.org/drawingml/2006/main">
              <a:ext uri="{FF2B5EF4-FFF2-40B4-BE49-F238E27FC236}">
                <a16:creationId xmlns:a16="http://schemas.microsoft.com/office/drawing/2014/main" id="{9C351507-DB33-4BB2-97DE-B4644870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4524375"/>
            <a:ext cx="147637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1-36">
            <a:extLst xmlns:a="http://schemas.openxmlformats.org/drawingml/2006/main">
              <a:ext uri="{FF2B5EF4-FFF2-40B4-BE49-F238E27FC236}">
                <a16:creationId xmlns:a16="http://schemas.microsoft.com/office/drawing/2014/main" id="{3B6F5EA7-258C-47F9-83DD-A09C5215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4695825"/>
            <a:ext cx="218599" cy="257175"/>
          </a:xfrm>
          <a:prstGeom xmlns:a="http://schemas.openxmlformats.org/drawingml/2006/main" prst="roundRect">
            <a:avLst>
              <a:gd name="adj" fmla="val 2178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8" name="p1-37">
            <a:extLst xmlns:a="http://schemas.openxmlformats.org/drawingml/2006/main">
              <a:ext uri="{FF2B5EF4-FFF2-40B4-BE49-F238E27FC236}">
                <a16:creationId xmlns:a16="http://schemas.microsoft.com/office/drawing/2014/main" id="{E86AFF75-B98D-4CC6-A061-641F5B48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2945" y="4752404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1-38">
            <a:extLst xmlns:a="http://schemas.openxmlformats.org/drawingml/2006/main">
              <a:ext uri="{FF2B5EF4-FFF2-40B4-BE49-F238E27FC236}">
                <a16:creationId xmlns:a16="http://schemas.microsoft.com/office/drawing/2014/main" id="{3111FA02-A233-43AE-AB32-E4395C5B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2945" y="4811554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1-39">
            <a:extLst xmlns:a="http://schemas.openxmlformats.org/drawingml/2006/main">
              <a:ext uri="{FF2B5EF4-FFF2-40B4-BE49-F238E27FC236}">
                <a16:creationId xmlns:a16="http://schemas.microsoft.com/office/drawing/2014/main" id="{464409E2-D249-4190-97E1-F1DAE8FF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2945" y="4870704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1-40-记录">
            <a:extLst xmlns:a="http://schemas.openxmlformats.org/drawingml/2006/main">
              <a:ext uri="{FF2B5EF4-FFF2-40B4-BE49-F238E27FC236}">
                <a16:creationId xmlns:a16="http://schemas.microsoft.com/office/drawing/2014/main" id="{E6BDC219-F170-462D-BFE2-6613CF07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5076825"/>
            <a:ext cx="1133475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记录</a:t>
            </a:r>
          </a:p>
        </p:txBody>
      </p:sp>
      <p:sp>
        <p:nvSpPr>
          <p:cNvPr id="42" name="p1-41">
            <a:extLst xmlns:a="http://schemas.openxmlformats.org/drawingml/2006/main">
              <a:ext uri="{FF2B5EF4-FFF2-40B4-BE49-F238E27FC236}">
                <a16:creationId xmlns:a16="http://schemas.microsoft.com/office/drawing/2014/main" id="{C091FD5F-1802-4F01-A03A-C7E95CEC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92455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1-42">
            <a:extLst xmlns:a="http://schemas.openxmlformats.org/drawingml/2006/main">
              <a:ext uri="{FF2B5EF4-FFF2-40B4-BE49-F238E27FC236}">
                <a16:creationId xmlns:a16="http://schemas.microsoft.com/office/drawing/2014/main" id="{F645B7CB-34C9-4193-9116-098562D1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92455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1-43">
            <a:extLst xmlns:a="http://schemas.openxmlformats.org/drawingml/2006/main">
              <a:ext uri="{FF2B5EF4-FFF2-40B4-BE49-F238E27FC236}">
                <a16:creationId xmlns:a16="http://schemas.microsoft.com/office/drawing/2014/main" id="{BC896EE4-997D-4903-B9CD-F49E7D59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019800"/>
            <a:ext cx="18288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1-44">
            <a:extLst xmlns:a="http://schemas.openxmlformats.org/drawingml/2006/main">
              <a:ext uri="{FF2B5EF4-FFF2-40B4-BE49-F238E27FC236}">
                <a16:creationId xmlns:a16="http://schemas.microsoft.com/office/drawing/2014/main" id="{409DAE6C-343C-48AE-9451-DCE1909B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16968"/>
            <a:ext cx="257175" cy="218599"/>
          </a:xfrm>
          <a:prstGeom xmlns:a="http://schemas.openxmlformats.org/drawingml/2006/main" prst="roundRect">
            <a:avLst>
              <a:gd name="adj" fmla="val 2178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6" name="p1-45">
            <a:extLst xmlns:a="http://schemas.openxmlformats.org/drawingml/2006/main">
              <a:ext uri="{FF2B5EF4-FFF2-40B4-BE49-F238E27FC236}">
                <a16:creationId xmlns:a16="http://schemas.microsoft.com/office/drawing/2014/main" id="{224A1F69-874F-4FE8-95AE-3775CC21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68403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1-46">
            <a:extLst xmlns:a="http://schemas.openxmlformats.org/drawingml/2006/main">
              <a:ext uri="{FF2B5EF4-FFF2-40B4-BE49-F238E27FC236}">
                <a16:creationId xmlns:a16="http://schemas.microsoft.com/office/drawing/2014/main" id="{2DAE8D9F-6208-4250-A3DC-F5D9E70E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292" y="6309551"/>
            <a:ext cx="25718" cy="25718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1-47">
            <a:extLst xmlns:a="http://schemas.openxmlformats.org/drawingml/2006/main">
              <a:ext uri="{FF2B5EF4-FFF2-40B4-BE49-F238E27FC236}">
                <a16:creationId xmlns:a16="http://schemas.microsoft.com/office/drawing/2014/main" id="{387BE597-7E1D-406B-87D5-EC43CC58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292" y="6373844"/>
            <a:ext cx="25718" cy="25718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1-48">
            <a:extLst xmlns:a="http://schemas.openxmlformats.org/drawingml/2006/main">
              <a:ext uri="{FF2B5EF4-FFF2-40B4-BE49-F238E27FC236}">
                <a16:creationId xmlns:a16="http://schemas.microsoft.com/office/drawing/2014/main" id="{75EC95C0-16ED-4625-AC4D-CFA1C81A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729" y="6309551"/>
            <a:ext cx="25718" cy="25718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1-49">
            <a:extLst xmlns:a="http://schemas.openxmlformats.org/drawingml/2006/main">
              <a:ext uri="{FF2B5EF4-FFF2-40B4-BE49-F238E27FC236}">
                <a16:creationId xmlns:a16="http://schemas.microsoft.com/office/drawing/2014/main" id="{A778C13C-172F-4007-BE55-A70CB0C7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729" y="6373844"/>
            <a:ext cx="25718" cy="25718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1-50">
            <a:extLst xmlns:a="http://schemas.openxmlformats.org/drawingml/2006/main">
              <a:ext uri="{FF2B5EF4-FFF2-40B4-BE49-F238E27FC236}">
                <a16:creationId xmlns:a16="http://schemas.microsoft.com/office/drawing/2014/main" id="{1C7B4879-6723-49EF-BE73-ADB644FD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166" y="6309551"/>
            <a:ext cx="25718" cy="25718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1-51">
            <a:extLst xmlns:a="http://schemas.openxmlformats.org/drawingml/2006/main">
              <a:ext uri="{FF2B5EF4-FFF2-40B4-BE49-F238E27FC236}">
                <a16:creationId xmlns:a16="http://schemas.microsoft.com/office/drawing/2014/main" id="{8B23CE1C-5C0C-41E9-8188-6CB27F18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166" y="6373844"/>
            <a:ext cx="25718" cy="25718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1-52-提醒">
            <a:extLst xmlns:a="http://schemas.openxmlformats.org/drawingml/2006/main">
              <a:ext uri="{FF2B5EF4-FFF2-40B4-BE49-F238E27FC236}">
                <a16:creationId xmlns:a16="http://schemas.microsoft.com/office/drawing/2014/main" id="{E4BDF62A-2DF3-4CF7-94E4-ED170359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72250"/>
            <a:ext cx="148590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提醒</a:t>
            </a:r>
          </a:p>
        </p:txBody>
      </p:sp>
      <p:sp>
        <p:nvSpPr>
          <p:cNvPr id="54" name="p1-53-让普通人直接表达想法，像搭积木一样制作软">
            <a:extLst xmlns:a="http://schemas.openxmlformats.org/drawingml/2006/main">
              <a:ext uri="{FF2B5EF4-FFF2-40B4-BE49-F238E27FC236}">
                <a16:creationId xmlns:a16="http://schemas.microsoft.com/office/drawing/2014/main" id="{B2EADAA0-E277-4405-BC8D-4B3A5BE1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96100"/>
            <a:ext cx="12192000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让普通人直接表达想法，像搭积木一样制作软件。</a:t>
            </a:r>
          </a:p>
        </p:txBody>
      </p:sp>
      <p:sp>
        <p:nvSpPr>
          <p:cNvPr id="55" name="p1-54-工程基础可验证 · 完整 AI 原生创造">
            <a:extLst xmlns:a="http://schemas.openxmlformats.org/drawingml/2006/main">
              <a:ext uri="{FF2B5EF4-FFF2-40B4-BE49-F238E27FC236}">
                <a16:creationId xmlns:a16="http://schemas.microsoft.com/office/drawing/2014/main" id="{90942A82-A0D9-482E-A007-EE59D6C5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工程基础可验证 · 完整 AI 原生创造体验持续研发  |  浙客松 · 天猫 OPC 孵化赛道</a:t>
            </a:r>
          </a:p>
        </p:txBody>
      </p:sp>
    </p:spTree>
    <p:extLst>
      <p:ext uri="{BB962C8B-B14F-4D97-AF65-F5344CB8AC3E}">
        <p14:creationId xmlns:p14="http://schemas.microsoft.com/office/powerpoint/2010/main" val="14006705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p2-0">
            <a:extLst xmlns:a="http://schemas.openxmlformats.org/drawingml/2006/main">
              <a:ext uri="{FF2B5EF4-FFF2-40B4-BE49-F238E27FC236}">
                <a16:creationId xmlns:a16="http://schemas.microsoft.com/office/drawing/2014/main" id="{25E157AC-C76B-443D-8568-9582E219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2-1">
            <a:extLst xmlns:a="http://schemas.openxmlformats.org/drawingml/2006/main">
              <a:ext uri="{FF2B5EF4-FFF2-40B4-BE49-F238E27FC236}">
                <a16:creationId xmlns:a16="http://schemas.microsoft.com/office/drawing/2014/main" id="{4E39C97F-E950-4267-BA87-EB18BC64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2-2">
            <a:extLst xmlns:a="http://schemas.openxmlformats.org/drawingml/2006/main">
              <a:ext uri="{FF2B5EF4-FFF2-40B4-BE49-F238E27FC236}">
                <a16:creationId xmlns:a16="http://schemas.microsoft.com/office/drawing/2014/main" id="{B1C6A5D4-1FED-455C-AA97-FAFEC21F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2-3">
            <a:extLst xmlns:a="http://schemas.openxmlformats.org/drawingml/2006/main">
              <a:ext uri="{FF2B5EF4-FFF2-40B4-BE49-F238E27FC236}">
                <a16:creationId xmlns:a16="http://schemas.microsoft.com/office/drawing/2014/main" id="{1CF981F6-0684-4A17-BB6B-B27FED29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2-4-BlockCraft AI">
            <a:extLst xmlns:a="http://schemas.openxmlformats.org/drawingml/2006/main">
              <a:ext uri="{FF2B5EF4-FFF2-40B4-BE49-F238E27FC236}">
                <a16:creationId xmlns:a16="http://schemas.microsoft.com/office/drawing/2014/main" id="{7378063D-2370-4266-9D89-1A6A5EBB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2-5-01 / 市场判断">
            <a:extLst xmlns:a="http://schemas.openxmlformats.org/drawingml/2006/main">
              <a:ext uri="{FF2B5EF4-FFF2-40B4-BE49-F238E27FC236}">
                <a16:creationId xmlns:a16="http://schemas.microsoft.com/office/drawing/2014/main" id="{3BCBDD42-59B1-4B06-BF0C-371BA916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01 / 市场判断</a:t>
            </a:r>
          </a:p>
        </p:txBody>
      </p:sp>
      <p:sp>
        <p:nvSpPr>
          <p:cNvPr id="7" name="p2-6-写代码更容易了，创造软件仍有门槛">
            <a:extLst xmlns:a="http://schemas.openxmlformats.org/drawingml/2006/main">
              <a:ext uri="{FF2B5EF4-FFF2-40B4-BE49-F238E27FC236}">
                <a16:creationId xmlns:a16="http://schemas.microsoft.com/office/drawing/2014/main" id="{96F5368D-1191-4B40-B74D-4F3584B5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写代码更容易了，创造软件仍有门槛</a:t>
            </a:r>
          </a:p>
        </p:txBody>
      </p:sp>
      <p:sp>
        <p:nvSpPr>
          <p:cNvPr id="8" name="p2-7-Vibe Coding 降低了编码难度；">
            <a:extLst xmlns:a="http://schemas.openxmlformats.org/drawingml/2006/main">
              <a:ext uri="{FF2B5EF4-FFF2-40B4-BE49-F238E27FC236}">
                <a16:creationId xmlns:a16="http://schemas.microsoft.com/office/drawing/2014/main" id="{77B477E5-B47B-4479-8500-DD95E2A9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Vibe Coding 降低了编码难度；零基础用户能否顺畅完成全过程，仍需验证。</a:t>
            </a:r>
          </a:p>
        </p:txBody>
      </p:sp>
      <p:sp>
        <p:nvSpPr>
          <p:cNvPr id="9" name="p2-8">
            <a:extLst xmlns:a="http://schemas.openxmlformats.org/drawingml/2006/main">
              <a:ext uri="{FF2B5EF4-FFF2-40B4-BE49-F238E27FC236}">
                <a16:creationId xmlns:a16="http://schemas.microsoft.com/office/drawing/2014/main" id="{2EC79076-CE77-4D80-87D4-C1DD5BAE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2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24DF4DF6-2E36-4F0C-B459-768C2CAB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2-10-02 / 15">
            <a:extLst xmlns:a="http://schemas.openxmlformats.org/drawingml/2006/main">
              <a:ext uri="{FF2B5EF4-FFF2-40B4-BE49-F238E27FC236}">
                <a16:creationId xmlns:a16="http://schemas.microsoft.com/office/drawing/2014/main" id="{EBB6EF19-A05B-4C80-A323-A45BE03C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02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33862-52D2-4AEC-BC57-E062313DB5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c95fa07584dfc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2-12">
            <a:extLst xmlns:a="http://schemas.openxmlformats.org/drawingml/2006/main">
              <a:ext uri="{FF2B5EF4-FFF2-40B4-BE49-F238E27FC236}">
                <a16:creationId xmlns:a16="http://schemas.microsoft.com/office/drawing/2014/main" id="{963C9037-8ED5-43C4-B761-1E2FF846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057275"/>
            <a:ext cx="2524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2-13-待验证的市场假设">
            <a:extLst xmlns:a="http://schemas.openxmlformats.org/drawingml/2006/main">
              <a:ext uri="{FF2B5EF4-FFF2-40B4-BE49-F238E27FC236}">
                <a16:creationId xmlns:a16="http://schemas.microsoft.com/office/drawing/2014/main" id="{6C67DAF4-8C34-4D82-B4B5-E3167E33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104900"/>
            <a:ext cx="2295525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待验证的市场假设</a:t>
            </a:r>
          </a:p>
        </p:txBody>
      </p:sp>
      <p:sp>
        <p:nvSpPr>
          <p:cNvPr id="15" name="p2-14">
            <a:extLst xmlns:a="http://schemas.openxmlformats.org/drawingml/2006/main">
              <a:ext uri="{FF2B5EF4-FFF2-40B4-BE49-F238E27FC236}">
                <a16:creationId xmlns:a16="http://schemas.microsoft.com/office/drawing/2014/main" id="{0C35FF2E-8451-4903-82EF-B2F9DAE1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3238500" cy="39243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2-15-会说一句话">
            <a:extLst xmlns:a="http://schemas.openxmlformats.org/drawingml/2006/main">
              <a:ext uri="{FF2B5EF4-FFF2-40B4-BE49-F238E27FC236}">
                <a16:creationId xmlns:a16="http://schemas.microsoft.com/office/drawing/2014/main" id="{DECFE7E9-6E09-4B8E-A186-4410DA4E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09950"/>
            <a:ext cx="2667000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会说一句话</a:t>
            </a:r>
          </a:p>
        </p:txBody>
      </p:sp>
      <p:sp>
        <p:nvSpPr>
          <p:cNvPr id="17" name="p2-16-≠">
            <a:extLst xmlns:a="http://schemas.openxmlformats.org/drawingml/2006/main">
              <a:ext uri="{FF2B5EF4-FFF2-40B4-BE49-F238E27FC236}">
                <a16:creationId xmlns:a16="http://schemas.microsoft.com/office/drawing/2014/main" id="{AD305629-7CDF-4A57-916B-AB871198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43350"/>
            <a:ext cx="2667000" cy="865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480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≠</a:t>
            </a:r>
          </a:p>
        </p:txBody>
      </p:sp>
      <p:sp>
        <p:nvSpPr>
          <p:cNvPr id="18" name="p2-17-会完成一个">
            <a:extLst xmlns:a="http://schemas.openxmlformats.org/drawingml/2006/main">
              <a:ext uri="{FF2B5EF4-FFF2-40B4-BE49-F238E27FC236}">
                <a16:creationId xmlns:a16="http://schemas.microsoft.com/office/drawing/2014/main" id="{CF8E9E8F-5A58-4BA8-8324-627A09B7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62500"/>
            <a:ext cx="266700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会完成一个</a:t>
            </a:r>
          </a:p>
        </p:txBody>
      </p:sp>
      <p:sp>
        <p:nvSpPr>
          <p:cNvPr id="19" name="p2-18-可持续使用的软件">
            <a:extLst xmlns:a="http://schemas.openxmlformats.org/drawingml/2006/main">
              <a:ext uri="{FF2B5EF4-FFF2-40B4-BE49-F238E27FC236}">
                <a16:creationId xmlns:a16="http://schemas.microsoft.com/office/drawing/2014/main" id="{FACE1649-7F60-4EC0-93D8-9186A617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164836"/>
            <a:ext cx="266700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可持续使用的软件</a:t>
            </a:r>
          </a:p>
        </p:txBody>
      </p:sp>
      <p:sp>
        <p:nvSpPr>
          <p:cNvPr id="20" name="p2-19-门槛从“写语法”">
            <a:extLst xmlns:a="http://schemas.openxmlformats.org/drawingml/2006/main">
              <a:ext uri="{FF2B5EF4-FFF2-40B4-BE49-F238E27FC236}">
                <a16:creationId xmlns:a16="http://schemas.microsoft.com/office/drawing/2014/main" id="{424DE8E8-EED1-4E65-A9F4-1E8310E0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010275"/>
            <a:ext cx="26670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DCEADE"/>
                </a:solidFill>
                <a:latin typeface="DengXian"/>
                <a:ea typeface="DengXian"/>
                <a:cs typeface="DengXian"/>
              </a:rPr>
              <a:t>门槛从“写语法”</a:t>
            </a:r>
          </a:p>
        </p:txBody>
      </p:sp>
      <p:sp>
        <p:nvSpPr>
          <p:cNvPr id="21" name="p2-20-转向“理解和控制”">
            <a:extLst xmlns:a="http://schemas.openxmlformats.org/drawingml/2006/main">
              <a:ext uri="{FF2B5EF4-FFF2-40B4-BE49-F238E27FC236}">
                <a16:creationId xmlns:a16="http://schemas.microsoft.com/office/drawing/2014/main" id="{DFF5EBA4-8EBE-4851-87D4-09A48DD6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12027"/>
            <a:ext cx="26670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CEAD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DCEADE"/>
                </a:solidFill>
                <a:latin typeface="DengXian"/>
                <a:ea typeface="DengXian"/>
                <a:cs typeface="DengXian"/>
              </a:rPr>
              <a:t>转向“理解和控制”</a:t>
            </a:r>
          </a:p>
        </p:txBody>
      </p:sp>
      <p:sp>
        <p:nvSpPr>
          <p:cNvPr id="22" name="p2-21">
            <a:extLst xmlns:a="http://schemas.openxmlformats.org/drawingml/2006/main">
              <a:ext uri="{FF2B5EF4-FFF2-40B4-BE49-F238E27FC236}">
                <a16:creationId xmlns:a16="http://schemas.microsoft.com/office/drawing/2014/main" id="{52D21604-1963-43AB-AD36-D408D485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2390775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3" name="p2-22-01">
            <a:extLst xmlns:a="http://schemas.openxmlformats.org/drawingml/2006/main">
              <a:ext uri="{FF2B5EF4-FFF2-40B4-BE49-F238E27FC236}">
                <a16:creationId xmlns:a16="http://schemas.microsoft.com/office/drawing/2014/main" id="{692A7A78-FD2C-4D22-BDB4-4904B9BE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71825"/>
            <a:ext cx="200025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sp>
        <p:nvSpPr>
          <p:cNvPr id="24" name="p2-23-理解结构">
            <a:extLst xmlns:a="http://schemas.openxmlformats.org/drawingml/2006/main">
              <a:ext uri="{FF2B5EF4-FFF2-40B4-BE49-F238E27FC236}">
                <a16:creationId xmlns:a16="http://schemas.microsoft.com/office/drawing/2014/main" id="{5E850FAC-D681-41C1-8DF4-B3861A97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2057400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理解结构</a:t>
            </a:r>
          </a:p>
        </p:txBody>
      </p:sp>
      <p:sp>
        <p:nvSpPr>
          <p:cNvPr id="25" name="p2-24-需要哪些功能？">
            <a:extLst xmlns:a="http://schemas.openxmlformats.org/drawingml/2006/main">
              <a:ext uri="{FF2B5EF4-FFF2-40B4-BE49-F238E27FC236}">
                <a16:creationId xmlns:a16="http://schemas.microsoft.com/office/drawing/2014/main" id="{0F25D303-0D31-496D-96DE-E2CEA6D8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91000"/>
            <a:ext cx="2114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需要哪些功能？</a:t>
            </a:r>
          </a:p>
        </p:txBody>
      </p:sp>
      <p:sp>
        <p:nvSpPr>
          <p:cNvPr id="26" name="p2-25-↓">
            <a:extLst xmlns:a="http://schemas.openxmlformats.org/drawingml/2006/main">
              <a:ext uri="{FF2B5EF4-FFF2-40B4-BE49-F238E27FC236}">
                <a16:creationId xmlns:a16="http://schemas.microsoft.com/office/drawing/2014/main" id="{3DACF0DC-F04B-437D-B24B-2CE483AF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86325"/>
            <a:ext cx="476250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↓</a:t>
            </a:r>
          </a:p>
        </p:txBody>
      </p:sp>
      <p:sp>
        <p:nvSpPr>
          <p:cNvPr id="27" name="p2-26">
            <a:extLst xmlns:a="http://schemas.openxmlformats.org/drawingml/2006/main">
              <a:ext uri="{FF2B5EF4-FFF2-40B4-BE49-F238E27FC236}">
                <a16:creationId xmlns:a16="http://schemas.microsoft.com/office/drawing/2014/main" id="{9A96A6CA-16D3-4FB7-A8BA-01405E05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10200"/>
            <a:ext cx="2390775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2-27-我们的目标回应">
            <a:extLst xmlns:a="http://schemas.openxmlformats.org/drawingml/2006/main">
              <a:ext uri="{FF2B5EF4-FFF2-40B4-BE49-F238E27FC236}">
                <a16:creationId xmlns:a16="http://schemas.microsoft.com/office/drawing/2014/main" id="{256F66AD-0070-403D-866C-90BCBD18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955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我们的目标回应</a:t>
            </a:r>
          </a:p>
        </p:txBody>
      </p:sp>
      <p:sp>
        <p:nvSpPr>
          <p:cNvPr id="29" name="p2-28-Mochi 推荐功能模块">
            <a:extLst xmlns:a="http://schemas.openxmlformats.org/drawingml/2006/main">
              <a:ext uri="{FF2B5EF4-FFF2-40B4-BE49-F238E27FC236}">
                <a16:creationId xmlns:a16="http://schemas.microsoft.com/office/drawing/2014/main" id="{46B70365-7E47-4AD3-9360-95803B02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048375"/>
            <a:ext cx="21336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Mochi 推荐功能模块</a:t>
            </a:r>
          </a:p>
        </p:txBody>
      </p:sp>
      <p:sp>
        <p:nvSpPr>
          <p:cNvPr id="30" name="p2-29">
            <a:extLst xmlns:a="http://schemas.openxmlformats.org/drawingml/2006/main">
              <a:ext uri="{FF2B5EF4-FFF2-40B4-BE49-F238E27FC236}">
                <a16:creationId xmlns:a16="http://schemas.microsoft.com/office/drawing/2014/main" id="{BE4618C6-4411-4D22-A388-232C49BA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52750"/>
            <a:ext cx="2390775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1" name="p2-30-02">
            <a:extLst xmlns:a="http://schemas.openxmlformats.org/drawingml/2006/main">
              <a:ext uri="{FF2B5EF4-FFF2-40B4-BE49-F238E27FC236}">
                <a16:creationId xmlns:a16="http://schemas.microsoft.com/office/drawing/2014/main" id="{BDDE1F07-EA2E-4A79-863C-C1D65306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71825"/>
            <a:ext cx="200025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02</a:t>
            </a:r>
          </a:p>
        </p:txBody>
      </p:sp>
      <p:sp>
        <p:nvSpPr>
          <p:cNvPr id="32" name="p2-31-说清需求">
            <a:extLst xmlns:a="http://schemas.openxmlformats.org/drawingml/2006/main">
              <a:ext uri="{FF2B5EF4-FFF2-40B4-BE49-F238E27FC236}">
                <a16:creationId xmlns:a16="http://schemas.microsoft.com/office/drawing/2014/main" id="{48051801-DA1B-45F9-9B3F-812EA832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19500"/>
            <a:ext cx="2057400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说清需求</a:t>
            </a:r>
          </a:p>
        </p:txBody>
      </p:sp>
      <p:sp>
        <p:nvSpPr>
          <p:cNvPr id="33" name="p2-32-复杂想法怎么表达？">
            <a:extLst xmlns:a="http://schemas.openxmlformats.org/drawingml/2006/main">
              <a:ext uri="{FF2B5EF4-FFF2-40B4-BE49-F238E27FC236}">
                <a16:creationId xmlns:a16="http://schemas.microsoft.com/office/drawing/2014/main" id="{D748F160-8E7F-46D2-9CE2-296F7FF5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2114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复杂想法怎么表达？</a:t>
            </a:r>
          </a:p>
        </p:txBody>
      </p:sp>
      <p:sp>
        <p:nvSpPr>
          <p:cNvPr id="34" name="p2-33-↓">
            <a:extLst xmlns:a="http://schemas.openxmlformats.org/drawingml/2006/main">
              <a:ext uri="{FF2B5EF4-FFF2-40B4-BE49-F238E27FC236}">
                <a16:creationId xmlns:a16="http://schemas.microsoft.com/office/drawing/2014/main" id="{1C34A9EE-0F71-4D37-8D91-8F94C56C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86325"/>
            <a:ext cx="476250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↓</a:t>
            </a:r>
          </a:p>
        </p:txBody>
      </p:sp>
      <p:sp>
        <p:nvSpPr>
          <p:cNvPr id="35" name="p2-34">
            <a:extLst xmlns:a="http://schemas.openxmlformats.org/drawingml/2006/main">
              <a:ext uri="{FF2B5EF4-FFF2-40B4-BE49-F238E27FC236}">
                <a16:creationId xmlns:a16="http://schemas.microsoft.com/office/drawing/2014/main" id="{02BBEA60-1D0C-4419-B9D2-F733C79F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10200"/>
            <a:ext cx="2390775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2-35-我们的目标回应">
            <a:extLst xmlns:a="http://schemas.openxmlformats.org/drawingml/2006/main">
              <a:ext uri="{FF2B5EF4-FFF2-40B4-BE49-F238E27FC236}">
                <a16:creationId xmlns:a16="http://schemas.microsoft.com/office/drawing/2014/main" id="{92A4CB2E-D525-4C35-A047-121E549A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91175"/>
            <a:ext cx="20955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我们的目标回应</a:t>
            </a:r>
          </a:p>
        </p:txBody>
      </p:sp>
      <p:sp>
        <p:nvSpPr>
          <p:cNvPr id="37" name="p2-36-用积木承载具体意图">
            <a:extLst xmlns:a="http://schemas.openxmlformats.org/drawingml/2006/main">
              <a:ext uri="{FF2B5EF4-FFF2-40B4-BE49-F238E27FC236}">
                <a16:creationId xmlns:a16="http://schemas.microsoft.com/office/drawing/2014/main" id="{2956BFE3-C48A-49A9-A21F-51160F1B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048375"/>
            <a:ext cx="21336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用积木承载具体意图</a:t>
            </a:r>
          </a:p>
        </p:txBody>
      </p:sp>
      <p:sp>
        <p:nvSpPr>
          <p:cNvPr id="38" name="p2-37">
            <a:extLst xmlns:a="http://schemas.openxmlformats.org/drawingml/2006/main">
              <a:ext uri="{FF2B5EF4-FFF2-40B4-BE49-F238E27FC236}">
                <a16:creationId xmlns:a16="http://schemas.microsoft.com/office/drawing/2014/main" id="{E4A6C122-4A69-422E-97AE-774ADF25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2390775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9" name="p2-38-03">
            <a:extLst xmlns:a="http://schemas.openxmlformats.org/drawingml/2006/main">
              <a:ext uri="{FF2B5EF4-FFF2-40B4-BE49-F238E27FC236}">
                <a16:creationId xmlns:a16="http://schemas.microsoft.com/office/drawing/2014/main" id="{E1F569BF-F723-48B9-BE4B-1A5DD4E0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71825"/>
            <a:ext cx="200025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03</a:t>
            </a:r>
          </a:p>
        </p:txBody>
      </p:sp>
      <p:sp>
        <p:nvSpPr>
          <p:cNvPr id="40" name="p2-39-控制修改">
            <a:extLst xmlns:a="http://schemas.openxmlformats.org/drawingml/2006/main">
              <a:ext uri="{FF2B5EF4-FFF2-40B4-BE49-F238E27FC236}">
                <a16:creationId xmlns:a16="http://schemas.microsoft.com/office/drawing/2014/main" id="{68FF9E71-7AEB-4031-8C04-9A9F1C7A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0"/>
            <a:ext cx="2057400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控制修改</a:t>
            </a:r>
          </a:p>
        </p:txBody>
      </p:sp>
      <p:sp>
        <p:nvSpPr>
          <p:cNvPr id="41" name="p2-40-这次会改到哪里？">
            <a:extLst xmlns:a="http://schemas.openxmlformats.org/drawingml/2006/main">
              <a:ext uri="{FF2B5EF4-FFF2-40B4-BE49-F238E27FC236}">
                <a16:creationId xmlns:a16="http://schemas.microsoft.com/office/drawing/2014/main" id="{CD9F4C32-6CDD-4904-9B4E-0696434A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0"/>
            <a:ext cx="2114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这次会改到哪里？</a:t>
            </a:r>
          </a:p>
        </p:txBody>
      </p:sp>
      <p:sp>
        <p:nvSpPr>
          <p:cNvPr id="42" name="p2-41-↓">
            <a:extLst xmlns:a="http://schemas.openxmlformats.org/drawingml/2006/main">
              <a:ext uri="{FF2B5EF4-FFF2-40B4-BE49-F238E27FC236}">
                <a16:creationId xmlns:a16="http://schemas.microsoft.com/office/drawing/2014/main" id="{628DE9B0-9DF2-4CAF-9E2C-C7B29461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886325"/>
            <a:ext cx="476250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↓</a:t>
            </a:r>
          </a:p>
        </p:txBody>
      </p:sp>
      <p:sp>
        <p:nvSpPr>
          <p:cNvPr id="43" name="p2-42">
            <a:extLst xmlns:a="http://schemas.openxmlformats.org/drawingml/2006/main">
              <a:ext uri="{FF2B5EF4-FFF2-40B4-BE49-F238E27FC236}">
                <a16:creationId xmlns:a16="http://schemas.microsoft.com/office/drawing/2014/main" id="{CBC17F22-CB10-485F-AE87-3B55BE03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10200"/>
            <a:ext cx="2390775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2-43-我们的目标回应">
            <a:extLst xmlns:a="http://schemas.openxmlformats.org/drawingml/2006/main">
              <a:ext uri="{FF2B5EF4-FFF2-40B4-BE49-F238E27FC236}">
                <a16:creationId xmlns:a16="http://schemas.microsoft.com/office/drawing/2014/main" id="{4041C328-D327-490A-9614-C12C39E9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591175"/>
            <a:ext cx="20955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我们的目标回应</a:t>
            </a:r>
          </a:p>
        </p:txBody>
      </p:sp>
      <p:sp>
        <p:nvSpPr>
          <p:cNvPr id="45" name="p2-44-选中积木，查看方案">
            <a:extLst xmlns:a="http://schemas.openxmlformats.org/drawingml/2006/main">
              <a:ext uri="{FF2B5EF4-FFF2-40B4-BE49-F238E27FC236}">
                <a16:creationId xmlns:a16="http://schemas.microsoft.com/office/drawing/2014/main" id="{0A04C15F-A3F5-49B4-8E56-46194E7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048375"/>
            <a:ext cx="21336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选中积木，查看方案</a:t>
            </a:r>
          </a:p>
        </p:txBody>
      </p:sp>
      <p:sp>
        <p:nvSpPr>
          <p:cNvPr id="46" name="p2-45">
            <a:extLst xmlns:a="http://schemas.openxmlformats.org/drawingml/2006/main">
              <a:ext uri="{FF2B5EF4-FFF2-40B4-BE49-F238E27FC236}">
                <a16:creationId xmlns:a16="http://schemas.microsoft.com/office/drawing/2014/main" id="{0FDFB7C6-4B67-417E-9B82-19C819B4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952750"/>
            <a:ext cx="2390775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47" name="p2-46-04">
            <a:extLst xmlns:a="http://schemas.openxmlformats.org/drawingml/2006/main">
              <a:ext uri="{FF2B5EF4-FFF2-40B4-BE49-F238E27FC236}">
                <a16:creationId xmlns:a16="http://schemas.microsoft.com/office/drawing/2014/main" id="{82941BC3-A180-4AA0-858B-80DC4030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171825"/>
            <a:ext cx="200025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04</a:t>
            </a:r>
          </a:p>
        </p:txBody>
      </p:sp>
      <p:sp>
        <p:nvSpPr>
          <p:cNvPr id="48" name="p2-47-判断与迭代">
            <a:extLst xmlns:a="http://schemas.openxmlformats.org/drawingml/2006/main">
              <a:ext uri="{FF2B5EF4-FFF2-40B4-BE49-F238E27FC236}">
                <a16:creationId xmlns:a16="http://schemas.microsoft.com/office/drawing/2014/main" id="{7C0EC4B3-CBD3-4ABC-9A64-3E8996A4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619500"/>
            <a:ext cx="2057400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判断与迭代</a:t>
            </a:r>
          </a:p>
        </p:txBody>
      </p:sp>
      <p:sp>
        <p:nvSpPr>
          <p:cNvPr id="49" name="p2-48-结果对吗，还能改吗？">
            <a:extLst xmlns:a="http://schemas.openxmlformats.org/drawingml/2006/main">
              <a:ext uri="{FF2B5EF4-FFF2-40B4-BE49-F238E27FC236}">
                <a16:creationId xmlns:a16="http://schemas.microsoft.com/office/drawing/2014/main" id="{353B7485-7E1B-4D0E-B583-9BF9967D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191000"/>
            <a:ext cx="2114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结果对吗，还能改吗？</a:t>
            </a:r>
          </a:p>
        </p:txBody>
      </p:sp>
      <p:sp>
        <p:nvSpPr>
          <p:cNvPr id="50" name="p2-49-↓">
            <a:extLst xmlns:a="http://schemas.openxmlformats.org/drawingml/2006/main">
              <a:ext uri="{FF2B5EF4-FFF2-40B4-BE49-F238E27FC236}">
                <a16:creationId xmlns:a16="http://schemas.microsoft.com/office/drawing/2014/main" id="{99B41508-CA17-4341-BEF5-5159BE14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4886325"/>
            <a:ext cx="476250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↓</a:t>
            </a:r>
          </a:p>
        </p:txBody>
      </p:sp>
      <p:sp>
        <p:nvSpPr>
          <p:cNvPr id="51" name="p2-50">
            <a:extLst xmlns:a="http://schemas.openxmlformats.org/drawingml/2006/main">
              <a:ext uri="{FF2B5EF4-FFF2-40B4-BE49-F238E27FC236}">
                <a16:creationId xmlns:a16="http://schemas.microsoft.com/office/drawing/2014/main" id="{C89D13D5-6436-464F-8EBC-F8C40AB2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410200"/>
            <a:ext cx="2390775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2-51-我们的目标回应">
            <a:extLst xmlns:a="http://schemas.openxmlformats.org/drawingml/2006/main">
              <a:ext uri="{FF2B5EF4-FFF2-40B4-BE49-F238E27FC236}">
                <a16:creationId xmlns:a16="http://schemas.microsoft.com/office/drawing/2014/main" id="{E7830917-09F1-4A50-AB6D-A5C0E5C7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591175"/>
            <a:ext cx="20955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我们的目标回应</a:t>
            </a:r>
          </a:p>
        </p:txBody>
      </p:sp>
      <p:sp>
        <p:nvSpPr>
          <p:cNvPr id="53" name="p2-52-C 模式预览，再回到 B">
            <a:extLst xmlns:a="http://schemas.openxmlformats.org/drawingml/2006/main">
              <a:ext uri="{FF2B5EF4-FFF2-40B4-BE49-F238E27FC236}">
                <a16:creationId xmlns:a16="http://schemas.microsoft.com/office/drawing/2014/main" id="{68E307BF-831F-47D8-9FEE-E3BDC669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048375"/>
            <a:ext cx="21336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C 模式预览，再回到 B</a:t>
            </a:r>
          </a:p>
        </p:txBody>
      </p:sp>
      <p:sp>
        <p:nvSpPr>
          <p:cNvPr id="54" name="p2-53-验证方式">
            <a:extLst xmlns:a="http://schemas.openxmlformats.org/drawingml/2006/main">
              <a:ext uri="{FF2B5EF4-FFF2-40B4-BE49-F238E27FC236}">
                <a16:creationId xmlns:a16="http://schemas.microsoft.com/office/drawing/2014/main" id="{FE0A3428-16F3-41DD-B289-6342CB9B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219950"/>
            <a:ext cx="14287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5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验证方式</a:t>
            </a:r>
          </a:p>
        </p:txBody>
      </p:sp>
      <p:sp>
        <p:nvSpPr>
          <p:cNvPr id="55" name="p2-54-观察首次创建与一次局部修改：记录完成情况">
            <a:extLst xmlns:a="http://schemas.openxmlformats.org/drawingml/2006/main">
              <a:ext uri="{FF2B5EF4-FFF2-40B4-BE49-F238E27FC236}">
                <a16:creationId xmlns:a16="http://schemas.microsoft.com/office/drawing/2014/main" id="{9AD3B6D8-E918-48C8-9BD5-AD046CBE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7200900"/>
            <a:ext cx="123825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观察首次创建与一次局部修改：记录完成情况、耗时、求助点和继续使用意愿。</a:t>
            </a:r>
          </a:p>
        </p:txBody>
      </p:sp>
      <p:sp>
        <p:nvSpPr>
          <p:cNvPr id="56" name="p2-55-本页是团队提出的市场判断与产品目标；尚无">
            <a:extLst xmlns:a="http://schemas.openxmlformats.org/drawingml/2006/main">
              <a:ext uri="{FF2B5EF4-FFF2-40B4-BE49-F238E27FC236}">
                <a16:creationId xmlns:a16="http://schemas.microsoft.com/office/drawing/2014/main" id="{BEC37A9D-CA96-4B1D-92D1-517980A8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本页是团队提出的市场判断与产品目标；尚无可引用的用户访谈样本或完成率数据。</a:t>
            </a:r>
          </a:p>
        </p:txBody>
      </p:sp>
    </p:spTree>
    <p:extLst>
      <p:ext uri="{BB962C8B-B14F-4D97-AF65-F5344CB8AC3E}">
        <p14:creationId xmlns:p14="http://schemas.microsoft.com/office/powerpoint/2010/main" val="15537390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p3-0">
            <a:extLst xmlns:a="http://schemas.openxmlformats.org/drawingml/2006/main">
              <a:ext uri="{FF2B5EF4-FFF2-40B4-BE49-F238E27FC236}">
                <a16:creationId xmlns:a16="http://schemas.microsoft.com/office/drawing/2014/main" id="{3F3B2945-6E86-4DFA-85E3-304000F6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3-1">
            <a:extLst xmlns:a="http://schemas.openxmlformats.org/drawingml/2006/main">
              <a:ext uri="{FF2B5EF4-FFF2-40B4-BE49-F238E27FC236}">
                <a16:creationId xmlns:a16="http://schemas.microsoft.com/office/drawing/2014/main" id="{A1B5DDD1-9059-4492-A9E5-19D1A1B8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3-2">
            <a:extLst xmlns:a="http://schemas.openxmlformats.org/drawingml/2006/main">
              <a:ext uri="{FF2B5EF4-FFF2-40B4-BE49-F238E27FC236}">
                <a16:creationId xmlns:a16="http://schemas.microsoft.com/office/drawing/2014/main" id="{7F5D50D5-44AA-432D-852F-CE9C7EAD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3-3">
            <a:extLst xmlns:a="http://schemas.openxmlformats.org/drawingml/2006/main">
              <a:ext uri="{FF2B5EF4-FFF2-40B4-BE49-F238E27FC236}">
                <a16:creationId xmlns:a16="http://schemas.microsoft.com/office/drawing/2014/main" id="{88EC059A-63AE-490E-9187-ECF01B9E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3-4-BlockCraft AI">
            <a:extLst xmlns:a="http://schemas.openxmlformats.org/drawingml/2006/main">
              <a:ext uri="{FF2B5EF4-FFF2-40B4-BE49-F238E27FC236}">
                <a16:creationId xmlns:a16="http://schemas.microsoft.com/office/drawing/2014/main" id="{FA4F300C-197E-4A73-94C6-38F4C848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3-5-02 / 目标用户">
            <a:extLst xmlns:a="http://schemas.openxmlformats.org/drawingml/2006/main">
              <a:ext uri="{FF2B5EF4-FFF2-40B4-BE49-F238E27FC236}">
                <a16:creationId xmlns:a16="http://schemas.microsoft.com/office/drawing/2014/main" id="{5EEC341E-5BAB-4A00-A63B-6465AC49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02 / 目标用户</a:t>
            </a:r>
          </a:p>
        </p:txBody>
      </p:sp>
      <p:sp>
        <p:nvSpPr>
          <p:cNvPr id="7" name="p3-6-需求很分散，创造方式可以共用">
            <a:extLst xmlns:a="http://schemas.openxmlformats.org/drawingml/2006/main">
              <a:ext uri="{FF2B5EF4-FFF2-40B4-BE49-F238E27FC236}">
                <a16:creationId xmlns:a16="http://schemas.microsoft.com/office/drawing/2014/main" id="{4F20E00A-841C-40C1-A3CB-5811A0CB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需求很分散，创造方式可以共用</a:t>
            </a:r>
          </a:p>
        </p:txBody>
      </p:sp>
      <p:sp>
        <p:nvSpPr>
          <p:cNvPr id="8" name="p3-7-面向有个性化小软件需求，但没有能力或兴趣">
            <a:extLst xmlns:a="http://schemas.openxmlformats.org/drawingml/2006/main">
              <a:ext uri="{FF2B5EF4-FFF2-40B4-BE49-F238E27FC236}">
                <a16:creationId xmlns:a16="http://schemas.microsoft.com/office/drawing/2014/main" id="{2A7A3FE9-EB0C-4681-B2E5-7DB5425C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面向有个性化小软件需求，但没有能力或兴趣学习复杂开发工具的普通用户。</a:t>
            </a:r>
          </a:p>
        </p:txBody>
      </p:sp>
      <p:sp>
        <p:nvSpPr>
          <p:cNvPr id="9" name="p3-8">
            <a:extLst xmlns:a="http://schemas.openxmlformats.org/drawingml/2006/main">
              <a:ext uri="{FF2B5EF4-FFF2-40B4-BE49-F238E27FC236}">
                <a16:creationId xmlns:a16="http://schemas.microsoft.com/office/drawing/2014/main" id="{E9B3A963-4B04-47A3-8774-82F59695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3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342F1BE6-AE7A-4AFB-9659-56680E23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3-10-03 / 15">
            <a:extLst xmlns:a="http://schemas.openxmlformats.org/drawingml/2006/main">
              <a:ext uri="{FF2B5EF4-FFF2-40B4-BE49-F238E27FC236}">
                <a16:creationId xmlns:a16="http://schemas.microsoft.com/office/drawing/2014/main" id="{675B0000-B5DF-458B-A15B-A4D7BD3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03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BAB52-0FE4-4E2B-9087-C9F0770709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21cd231ff4d0f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3-12">
            <a:extLst xmlns:a="http://schemas.openxmlformats.org/drawingml/2006/main">
              <a:ext uri="{FF2B5EF4-FFF2-40B4-BE49-F238E27FC236}">
                <a16:creationId xmlns:a16="http://schemas.microsoft.com/office/drawing/2014/main" id="{313BE0F5-795D-45E2-A352-D6A9177D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3876675" cy="4200525"/>
          </a:xfrm>
          <a:prstGeom xmlns:a="http://schemas.openxmlformats.org/drawingml/2006/main" prst="roundRect">
            <a:avLst>
              <a:gd name="adj" fmla="val 5897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3-13">
            <a:extLst xmlns:a="http://schemas.openxmlformats.org/drawingml/2006/main">
              <a:ext uri="{FF2B5EF4-FFF2-40B4-BE49-F238E27FC236}">
                <a16:creationId xmlns:a16="http://schemas.microsoft.com/office/drawing/2014/main" id="{524FE6A5-2422-4D8C-89FF-F554CA98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67075"/>
            <a:ext cx="160020" cy="1600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84B22"/>
            </a:solidFill>
            <a:prstDash val="solid"/>
          </a:ln>
        </p:spPr>
      </p:sp>
      <p:sp>
        <p:nvSpPr>
          <p:cNvPr id="15" name="p3-14">
            <a:extLst xmlns:a="http://schemas.openxmlformats.org/drawingml/2006/main">
              <a:ext uri="{FF2B5EF4-FFF2-40B4-BE49-F238E27FC236}">
                <a16:creationId xmlns:a16="http://schemas.microsoft.com/office/drawing/2014/main" id="{9908B98C-6E56-4FE4-AF1E-38F8CFA8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" y="3267075"/>
            <a:ext cx="160020" cy="1600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84B22"/>
            </a:solidFill>
            <a:prstDash val="solid"/>
          </a:ln>
        </p:spPr>
      </p:sp>
      <p:sp>
        <p:nvSpPr>
          <p:cNvPr id="16" name="p3-15">
            <a:extLst xmlns:a="http://schemas.openxmlformats.org/drawingml/2006/main">
              <a:ext uri="{FF2B5EF4-FFF2-40B4-BE49-F238E27FC236}">
                <a16:creationId xmlns:a16="http://schemas.microsoft.com/office/drawing/2014/main" id="{05A2A27E-2C48-4F7F-BA29-FC87F30B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4819"/>
            <a:ext cx="457200" cy="182880"/>
          </a:xfrm>
          <a:prstGeom xmlns:a="http://schemas.openxmlformats.org/drawingml/2006/main" prst="roundRect">
            <a:avLst>
              <a:gd name="adj" fmla="val 36458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A84B22"/>
            </a:solidFill>
            <a:prstDash val="solid"/>
          </a:ln>
        </p:spPr>
      </p:sp>
      <p:sp>
        <p:nvSpPr>
          <p:cNvPr id="17" name="p3-16-“我只想做一个">
            <a:extLst xmlns:a="http://schemas.openxmlformats.org/drawingml/2006/main">
              <a:ext uri="{FF2B5EF4-FFF2-40B4-BE49-F238E27FC236}">
                <a16:creationId xmlns:a16="http://schemas.microsoft.com/office/drawing/2014/main" id="{96A4FFBC-778B-4128-B82E-4A60A678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67175"/>
            <a:ext cx="3286125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4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“我只想做一个</a:t>
            </a:r>
          </a:p>
        </p:txBody>
      </p:sp>
      <p:sp>
        <p:nvSpPr>
          <p:cNvPr id="18" name="p3-17-真正适合自己的工具。”">
            <a:extLst xmlns:a="http://schemas.openxmlformats.org/drawingml/2006/main">
              <a:ext uri="{FF2B5EF4-FFF2-40B4-BE49-F238E27FC236}">
                <a16:creationId xmlns:a16="http://schemas.microsoft.com/office/drawing/2014/main" id="{5F1029B4-D020-4CEA-ABFF-37DF8714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82084"/>
            <a:ext cx="3286125" cy="44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4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真正适合自己的工具。”</a:t>
            </a:r>
          </a:p>
        </p:txBody>
      </p:sp>
      <p:sp>
        <p:nvSpPr>
          <p:cNvPr id="19" name="p3-18">
            <a:extLst xmlns:a="http://schemas.openxmlformats.org/drawingml/2006/main">
              <a:ext uri="{FF2B5EF4-FFF2-40B4-BE49-F238E27FC236}">
                <a16:creationId xmlns:a16="http://schemas.microsoft.com/office/drawing/2014/main" id="{7B9F9477-EE64-41B1-89E5-124C1271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245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3-19-有自己的流程与偏好">
            <a:extLst xmlns:a="http://schemas.openxmlformats.org/drawingml/2006/main">
              <a:ext uri="{FF2B5EF4-FFF2-40B4-BE49-F238E27FC236}">
                <a16:creationId xmlns:a16="http://schemas.microsoft.com/office/drawing/2014/main" id="{3AA2B750-E7F0-417C-94D7-E65C1E10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00675"/>
            <a:ext cx="295275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有自己的流程与偏好</a:t>
            </a:r>
          </a:p>
        </p:txBody>
      </p:sp>
      <p:sp>
        <p:nvSpPr>
          <p:cNvPr id="21" name="p3-20">
            <a:extLst xmlns:a="http://schemas.openxmlformats.org/drawingml/2006/main">
              <a:ext uri="{FF2B5EF4-FFF2-40B4-BE49-F238E27FC236}">
                <a16:creationId xmlns:a16="http://schemas.microsoft.com/office/drawing/2014/main" id="{848A7EC9-2503-47B7-ABCF-82777729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53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3-21-没有编程经验">
            <a:extLst xmlns:a="http://schemas.openxmlformats.org/drawingml/2006/main">
              <a:ext uri="{FF2B5EF4-FFF2-40B4-BE49-F238E27FC236}">
                <a16:creationId xmlns:a16="http://schemas.microsoft.com/office/drawing/2014/main" id="{71D90DE3-5AA3-4E10-8C3B-B82565A1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29300"/>
            <a:ext cx="295275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没有编程经验</a:t>
            </a:r>
          </a:p>
        </p:txBody>
      </p:sp>
      <p:sp>
        <p:nvSpPr>
          <p:cNvPr id="23" name="p3-22">
            <a:extLst xmlns:a="http://schemas.openxmlformats.org/drawingml/2006/main">
              <a:ext uri="{FF2B5EF4-FFF2-40B4-BE49-F238E27FC236}">
                <a16:creationId xmlns:a16="http://schemas.microsoft.com/office/drawing/2014/main" id="{22741055-E9E1-489D-A003-D6E3FF63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3817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3-23-希望直接表达并持续修改">
            <a:extLst xmlns:a="http://schemas.openxmlformats.org/drawingml/2006/main">
              <a:ext uri="{FF2B5EF4-FFF2-40B4-BE49-F238E27FC236}">
                <a16:creationId xmlns:a16="http://schemas.microsoft.com/office/drawing/2014/main" id="{FCF06E7E-5C0D-4BF3-9AAE-36AD1330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257925"/>
            <a:ext cx="295275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希望直接表达并持续修改</a:t>
            </a:r>
          </a:p>
        </p:txBody>
      </p:sp>
      <p:sp>
        <p:nvSpPr>
          <p:cNvPr id="25" name="p3-24">
            <a:extLst xmlns:a="http://schemas.openxmlformats.org/drawingml/2006/main">
              <a:ext uri="{FF2B5EF4-FFF2-40B4-BE49-F238E27FC236}">
                <a16:creationId xmlns:a16="http://schemas.microsoft.com/office/drawing/2014/main" id="{47005A65-9CB4-4BCF-9D6D-D4128C3B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43225"/>
            <a:ext cx="3076575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6" name="p3-25">
            <a:extLst xmlns:a="http://schemas.openxmlformats.org/drawingml/2006/main">
              <a:ext uri="{FF2B5EF4-FFF2-40B4-BE49-F238E27FC236}">
                <a16:creationId xmlns:a16="http://schemas.microsoft.com/office/drawing/2014/main" id="{C5682703-27A9-4069-AE1C-3B6F5710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33725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3-26">
            <a:extLst xmlns:a="http://schemas.openxmlformats.org/drawingml/2006/main">
              <a:ext uri="{FF2B5EF4-FFF2-40B4-BE49-F238E27FC236}">
                <a16:creationId xmlns:a16="http://schemas.microsoft.com/office/drawing/2014/main" id="{6236F0B7-7E44-44A7-8E27-5F41C87E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68980"/>
            <a:ext cx="304800" cy="259080"/>
          </a:xfrm>
          <a:prstGeom xmlns:a="http://schemas.openxmlformats.org/drawingml/2006/main" prst="roundRect">
            <a:avLst>
              <a:gd name="adj" fmla="val 18382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28" name="p3-27">
            <a:extLst xmlns:a="http://schemas.openxmlformats.org/drawingml/2006/main">
              <a:ext uri="{FF2B5EF4-FFF2-40B4-BE49-F238E27FC236}">
                <a16:creationId xmlns:a16="http://schemas.microsoft.com/office/drawing/2014/main" id="{BE3B6197-9D88-4570-9FBB-752108C8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29940"/>
            <a:ext cx="304800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3-28">
            <a:extLst xmlns:a="http://schemas.openxmlformats.org/drawingml/2006/main">
              <a:ext uri="{FF2B5EF4-FFF2-40B4-BE49-F238E27FC236}">
                <a16:creationId xmlns:a16="http://schemas.microsoft.com/office/drawing/2014/main" id="{3B45D8D6-633B-4F53-8AE9-AD55BBCE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989" y="3378708"/>
            <a:ext cx="30480" cy="3048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3-29">
            <a:extLst xmlns:a="http://schemas.openxmlformats.org/drawingml/2006/main">
              <a:ext uri="{FF2B5EF4-FFF2-40B4-BE49-F238E27FC236}">
                <a16:creationId xmlns:a16="http://schemas.microsoft.com/office/drawing/2014/main" id="{88EA3117-A7CB-477E-A0AA-2F787526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989" y="3454908"/>
            <a:ext cx="30480" cy="3048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3-30">
            <a:extLst xmlns:a="http://schemas.openxmlformats.org/drawingml/2006/main">
              <a:ext uri="{FF2B5EF4-FFF2-40B4-BE49-F238E27FC236}">
                <a16:creationId xmlns:a16="http://schemas.microsoft.com/office/drawing/2014/main" id="{0F8CDF37-88E0-4083-B11B-FCAA26D8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285" y="3378708"/>
            <a:ext cx="30480" cy="3048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3-31">
            <a:extLst xmlns:a="http://schemas.openxmlformats.org/drawingml/2006/main">
              <a:ext uri="{FF2B5EF4-FFF2-40B4-BE49-F238E27FC236}">
                <a16:creationId xmlns:a16="http://schemas.microsoft.com/office/drawing/2014/main" id="{BAD765BC-1EDC-4C44-AA2E-0E4F6D35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285" y="3454908"/>
            <a:ext cx="30480" cy="3048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3-32">
            <a:extLst xmlns:a="http://schemas.openxmlformats.org/drawingml/2006/main">
              <a:ext uri="{FF2B5EF4-FFF2-40B4-BE49-F238E27FC236}">
                <a16:creationId xmlns:a16="http://schemas.microsoft.com/office/drawing/2014/main" id="{A32996D0-1072-498A-AD43-E6BEC974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581" y="3378708"/>
            <a:ext cx="30480" cy="3048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3-33">
            <a:extLst xmlns:a="http://schemas.openxmlformats.org/drawingml/2006/main">
              <a:ext uri="{FF2B5EF4-FFF2-40B4-BE49-F238E27FC236}">
                <a16:creationId xmlns:a16="http://schemas.microsoft.com/office/drawing/2014/main" id="{20838430-9DB1-402A-A84A-8E41E14B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581" y="3454908"/>
            <a:ext cx="30480" cy="3048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3-34-个性化计划">
            <a:extLst xmlns:a="http://schemas.openxmlformats.org/drawingml/2006/main">
              <a:ext uri="{FF2B5EF4-FFF2-40B4-BE49-F238E27FC236}">
                <a16:creationId xmlns:a16="http://schemas.microsoft.com/office/drawing/2014/main" id="{FAF35A07-F6A5-4675-9108-D06AEA59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38575"/>
            <a:ext cx="2714625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个性化计划</a:t>
            </a:r>
          </a:p>
        </p:txBody>
      </p:sp>
      <p:sp>
        <p:nvSpPr>
          <p:cNvPr id="36" name="p3-35-按自己的节奏安排日程">
            <a:extLst xmlns:a="http://schemas.openxmlformats.org/drawingml/2006/main">
              <a:ext uri="{FF2B5EF4-FFF2-40B4-BE49-F238E27FC236}">
                <a16:creationId xmlns:a16="http://schemas.microsoft.com/office/drawing/2014/main" id="{DA41DA1C-F8DB-4ED1-A162-2417919F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81500"/>
            <a:ext cx="2714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按自己的节奏安排日程</a:t>
            </a:r>
          </a:p>
        </p:txBody>
      </p:sp>
      <p:sp>
        <p:nvSpPr>
          <p:cNvPr id="37" name="p3-36">
            <a:extLst xmlns:a="http://schemas.openxmlformats.org/drawingml/2006/main">
              <a:ext uri="{FF2B5EF4-FFF2-40B4-BE49-F238E27FC236}">
                <a16:creationId xmlns:a16="http://schemas.microsoft.com/office/drawing/2014/main" id="{8C4A804B-684F-4143-AD37-9CE8E3B8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943225"/>
            <a:ext cx="3076575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8" name="p3-37">
            <a:extLst xmlns:a="http://schemas.openxmlformats.org/drawingml/2006/main">
              <a:ext uri="{FF2B5EF4-FFF2-40B4-BE49-F238E27FC236}">
                <a16:creationId xmlns:a16="http://schemas.microsoft.com/office/drawing/2014/main" id="{977F92C3-84F1-4713-B5F5-F17C6D0E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33725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3-38">
            <a:extLst xmlns:a="http://schemas.openxmlformats.org/drawingml/2006/main">
              <a:ext uri="{FF2B5EF4-FFF2-40B4-BE49-F238E27FC236}">
                <a16:creationId xmlns:a16="http://schemas.microsoft.com/office/drawing/2014/main" id="{E400DE5A-A894-42AD-BC41-CC3A09E4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9084"/>
            <a:ext cx="48768" cy="109728"/>
          </a:xfrm>
          <a:prstGeom xmlns:a="http://schemas.openxmlformats.org/drawingml/2006/main" prst="roundRect">
            <a:avLst>
              <a:gd name="adj" fmla="val 39063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3-39">
            <a:extLst xmlns:a="http://schemas.openxmlformats.org/drawingml/2006/main">
              <a:ext uri="{FF2B5EF4-FFF2-40B4-BE49-F238E27FC236}">
                <a16:creationId xmlns:a16="http://schemas.microsoft.com/office/drawing/2014/main" id="{E5F0FED4-F006-46B0-BFD7-881767C5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282" y="3339084"/>
            <a:ext cx="48768" cy="109728"/>
          </a:xfrm>
          <a:prstGeom xmlns:a="http://schemas.openxmlformats.org/drawingml/2006/main" prst="roundRect">
            <a:avLst>
              <a:gd name="adj" fmla="val 39063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3-40">
            <a:extLst xmlns:a="http://schemas.openxmlformats.org/drawingml/2006/main">
              <a:ext uri="{FF2B5EF4-FFF2-40B4-BE49-F238E27FC236}">
                <a16:creationId xmlns:a16="http://schemas.microsoft.com/office/drawing/2014/main" id="{B5E261AC-99D8-4B7E-8439-DA7055A2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018" y="3275076"/>
            <a:ext cx="36576" cy="2316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3-41">
            <a:extLst xmlns:a="http://schemas.openxmlformats.org/drawingml/2006/main">
              <a:ext uri="{FF2B5EF4-FFF2-40B4-BE49-F238E27FC236}">
                <a16:creationId xmlns:a16="http://schemas.microsoft.com/office/drawing/2014/main" id="{6322D662-448C-40A1-8C21-ABC84E0E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706" y="3275076"/>
            <a:ext cx="36576" cy="2316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3-42">
            <a:extLst xmlns:a="http://schemas.openxmlformats.org/drawingml/2006/main">
              <a:ext uri="{FF2B5EF4-FFF2-40B4-BE49-F238E27FC236}">
                <a16:creationId xmlns:a16="http://schemas.microsoft.com/office/drawing/2014/main" id="{60F352A6-AF85-41CF-8DF0-EBB11A3B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594" y="3378708"/>
            <a:ext cx="134112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3-43-健身与习惯">
            <a:extLst xmlns:a="http://schemas.openxmlformats.org/drawingml/2006/main">
              <a:ext uri="{FF2B5EF4-FFF2-40B4-BE49-F238E27FC236}">
                <a16:creationId xmlns:a16="http://schemas.microsoft.com/office/drawing/2014/main" id="{7CFABCA7-1B59-4642-BE1E-9383EC35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838575"/>
            <a:ext cx="2714625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健身与习惯</a:t>
            </a:r>
          </a:p>
        </p:txBody>
      </p:sp>
      <p:sp>
        <p:nvSpPr>
          <p:cNvPr id="45" name="p3-44-记录过程，形成反馈">
            <a:extLst xmlns:a="http://schemas.openxmlformats.org/drawingml/2006/main">
              <a:ext uri="{FF2B5EF4-FFF2-40B4-BE49-F238E27FC236}">
                <a16:creationId xmlns:a16="http://schemas.microsoft.com/office/drawing/2014/main" id="{E489B1C6-99F7-404A-AD85-3DD6CB34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381500"/>
            <a:ext cx="2714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记录过程，形成反馈</a:t>
            </a:r>
          </a:p>
        </p:txBody>
      </p:sp>
      <p:sp>
        <p:nvSpPr>
          <p:cNvPr id="46" name="p3-45">
            <a:extLst xmlns:a="http://schemas.openxmlformats.org/drawingml/2006/main">
              <a:ext uri="{FF2B5EF4-FFF2-40B4-BE49-F238E27FC236}">
                <a16:creationId xmlns:a16="http://schemas.microsoft.com/office/drawing/2014/main" id="{E481D718-9B8A-460E-A13B-E82B3BE8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943225"/>
            <a:ext cx="3076575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47" name="p3-46">
            <a:extLst xmlns:a="http://schemas.openxmlformats.org/drawingml/2006/main">
              <a:ext uri="{FF2B5EF4-FFF2-40B4-BE49-F238E27FC236}">
                <a16:creationId xmlns:a16="http://schemas.microsoft.com/office/drawing/2014/main" id="{9F35754C-61AF-40F5-BA8F-7D742C55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133725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3-47">
            <a:extLst xmlns:a="http://schemas.openxmlformats.org/drawingml/2006/main">
              <a:ext uri="{FF2B5EF4-FFF2-40B4-BE49-F238E27FC236}">
                <a16:creationId xmlns:a16="http://schemas.microsoft.com/office/drawing/2014/main" id="{DEFCBB87-626A-4285-A7D2-E22B90F1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3238500"/>
            <a:ext cx="259080" cy="304800"/>
          </a:xfrm>
          <a:prstGeom xmlns:a="http://schemas.openxmlformats.org/drawingml/2006/main" prst="roundRect">
            <a:avLst>
              <a:gd name="adj" fmla="val 18382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9" name="p3-48">
            <a:extLst xmlns:a="http://schemas.openxmlformats.org/drawingml/2006/main">
              <a:ext uri="{FF2B5EF4-FFF2-40B4-BE49-F238E27FC236}">
                <a16:creationId xmlns:a16="http://schemas.microsoft.com/office/drawing/2014/main" id="{F8765C84-8267-44E5-9135-F02DCEA3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5191" y="3305556"/>
            <a:ext cx="158496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3-49">
            <a:extLst xmlns:a="http://schemas.openxmlformats.org/drawingml/2006/main">
              <a:ext uri="{FF2B5EF4-FFF2-40B4-BE49-F238E27FC236}">
                <a16:creationId xmlns:a16="http://schemas.microsoft.com/office/drawing/2014/main" id="{B2B1D9AC-AAEF-4635-B860-20C66F5C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5191" y="3375660"/>
            <a:ext cx="158496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3-50">
            <a:extLst xmlns:a="http://schemas.openxmlformats.org/drawingml/2006/main">
              <a:ext uri="{FF2B5EF4-FFF2-40B4-BE49-F238E27FC236}">
                <a16:creationId xmlns:a16="http://schemas.microsoft.com/office/drawing/2014/main" id="{52D723C6-915C-4B2D-938F-2B1AE673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5191" y="3445764"/>
            <a:ext cx="158496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3-51-学习与效率">
            <a:extLst xmlns:a="http://schemas.openxmlformats.org/drawingml/2006/main">
              <a:ext uri="{FF2B5EF4-FFF2-40B4-BE49-F238E27FC236}">
                <a16:creationId xmlns:a16="http://schemas.microsoft.com/office/drawing/2014/main" id="{BAD2EADC-83ED-4B8B-871E-50C12A00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838575"/>
            <a:ext cx="2714625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学习与效率</a:t>
            </a:r>
          </a:p>
        </p:txBody>
      </p:sp>
      <p:sp>
        <p:nvSpPr>
          <p:cNvPr id="53" name="p3-52-让记录适合自己的方法">
            <a:extLst xmlns:a="http://schemas.openxmlformats.org/drawingml/2006/main">
              <a:ext uri="{FF2B5EF4-FFF2-40B4-BE49-F238E27FC236}">
                <a16:creationId xmlns:a16="http://schemas.microsoft.com/office/drawing/2014/main" id="{C09EB6D4-D211-4E16-8134-9283BF54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381500"/>
            <a:ext cx="2714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让记录适合自己的方法</a:t>
            </a:r>
          </a:p>
        </p:txBody>
      </p:sp>
      <p:sp>
        <p:nvSpPr>
          <p:cNvPr id="54" name="p3-53">
            <a:extLst xmlns:a="http://schemas.openxmlformats.org/drawingml/2006/main">
              <a:ext uri="{FF2B5EF4-FFF2-40B4-BE49-F238E27FC236}">
                <a16:creationId xmlns:a16="http://schemas.microsoft.com/office/drawing/2014/main" id="{EE1278FB-3E30-472C-8BFE-DF5F1EF7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43500"/>
            <a:ext cx="3076575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55" name="p3-54">
            <a:extLst xmlns:a="http://schemas.openxmlformats.org/drawingml/2006/main">
              <a:ext uri="{FF2B5EF4-FFF2-40B4-BE49-F238E27FC236}">
                <a16:creationId xmlns:a16="http://schemas.microsoft.com/office/drawing/2014/main" id="{BA147D53-61BB-4BCB-9A01-69FA6020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3400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3-55">
            <a:extLst xmlns:a="http://schemas.openxmlformats.org/drawingml/2006/main">
              <a:ext uri="{FF2B5EF4-FFF2-40B4-BE49-F238E27FC236}">
                <a16:creationId xmlns:a16="http://schemas.microsoft.com/office/drawing/2014/main" id="{E42217C6-4575-4E09-9C6C-AF72B9AF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141" y="5487543"/>
            <a:ext cx="20320" cy="204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3-56">
            <a:extLst xmlns:a="http://schemas.openxmlformats.org/drawingml/2006/main">
              <a:ext uri="{FF2B5EF4-FFF2-40B4-BE49-F238E27FC236}">
                <a16:creationId xmlns:a16="http://schemas.microsoft.com/office/drawing/2014/main" id="{E73CD9A3-9ADB-4F72-BA57-68F4BD3B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893" y="5591175"/>
            <a:ext cx="188976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3-57">
            <a:extLst xmlns:a="http://schemas.openxmlformats.org/drawingml/2006/main">
              <a:ext uri="{FF2B5EF4-FFF2-40B4-BE49-F238E27FC236}">
                <a16:creationId xmlns:a16="http://schemas.microsoft.com/office/drawing/2014/main" id="{DE5B0F64-D3CE-40C1-BFF3-EC3D536A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438775"/>
            <a:ext cx="88392" cy="762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59" name="p3-58">
            <a:extLst xmlns:a="http://schemas.openxmlformats.org/drawingml/2006/main">
              <a:ext uri="{FF2B5EF4-FFF2-40B4-BE49-F238E27FC236}">
                <a16:creationId xmlns:a16="http://schemas.microsoft.com/office/drawing/2014/main" id="{826B0E20-F22C-452A-93EE-52261DA9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621" y="5438775"/>
            <a:ext cx="88392" cy="762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60" name="p3-59">
            <a:extLst xmlns:a="http://schemas.openxmlformats.org/drawingml/2006/main">
              <a:ext uri="{FF2B5EF4-FFF2-40B4-BE49-F238E27FC236}">
                <a16:creationId xmlns:a16="http://schemas.microsoft.com/office/drawing/2014/main" id="{17518532-AAA5-41FA-97D4-53972E81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373" y="5655183"/>
            <a:ext cx="88392" cy="762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61" name="p3-60-多线写作">
            <a:extLst xmlns:a="http://schemas.openxmlformats.org/drawingml/2006/main">
              <a:ext uri="{FF2B5EF4-FFF2-40B4-BE49-F238E27FC236}">
                <a16:creationId xmlns:a16="http://schemas.microsoft.com/office/drawing/2014/main" id="{28B8F040-D4EC-4FCD-AD4C-CEC25F47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38850"/>
            <a:ext cx="2714625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多线写作</a:t>
            </a:r>
          </a:p>
        </p:txBody>
      </p:sp>
      <p:sp>
        <p:nvSpPr>
          <p:cNvPr id="62" name="p3-61-组织角色与故事关系">
            <a:extLst xmlns:a="http://schemas.openxmlformats.org/drawingml/2006/main">
              <a:ext uri="{FF2B5EF4-FFF2-40B4-BE49-F238E27FC236}">
                <a16:creationId xmlns:a16="http://schemas.microsoft.com/office/drawing/2014/main" id="{0BE8BF16-461E-4F86-B671-7762CDEB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581775"/>
            <a:ext cx="2714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组织角色与故事关系</a:t>
            </a:r>
          </a:p>
        </p:txBody>
      </p:sp>
      <p:sp>
        <p:nvSpPr>
          <p:cNvPr id="63" name="p3-62">
            <a:extLst xmlns:a="http://schemas.openxmlformats.org/drawingml/2006/main">
              <a:ext uri="{FF2B5EF4-FFF2-40B4-BE49-F238E27FC236}">
                <a16:creationId xmlns:a16="http://schemas.microsoft.com/office/drawing/2014/main" id="{FA46E4FD-2176-42CB-B2CD-C0ABA04B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143500"/>
            <a:ext cx="3076575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64" name="p3-63">
            <a:extLst xmlns:a="http://schemas.openxmlformats.org/drawingml/2006/main">
              <a:ext uri="{FF2B5EF4-FFF2-40B4-BE49-F238E27FC236}">
                <a16:creationId xmlns:a16="http://schemas.microsoft.com/office/drawing/2014/main" id="{B9DD492D-E5BD-4D90-ABC3-E9C423FE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3400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3-64">
            <a:extLst xmlns:a="http://schemas.openxmlformats.org/drawingml/2006/main">
              <a:ext uri="{FF2B5EF4-FFF2-40B4-BE49-F238E27FC236}">
                <a16:creationId xmlns:a16="http://schemas.microsoft.com/office/drawing/2014/main" id="{15356E7C-714B-4349-A5F4-F58D4178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38775"/>
            <a:ext cx="106680" cy="1066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66" name="p3-65">
            <a:extLst xmlns:a="http://schemas.openxmlformats.org/drawingml/2006/main">
              <a:ext uri="{FF2B5EF4-FFF2-40B4-BE49-F238E27FC236}">
                <a16:creationId xmlns:a16="http://schemas.microsoft.com/office/drawing/2014/main" id="{0851E9DE-76AB-44EB-8F36-CAED63CB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130" y="5438775"/>
            <a:ext cx="106680" cy="1066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67" name="p3-66">
            <a:extLst xmlns:a="http://schemas.openxmlformats.org/drawingml/2006/main">
              <a:ext uri="{FF2B5EF4-FFF2-40B4-BE49-F238E27FC236}">
                <a16:creationId xmlns:a16="http://schemas.microsoft.com/office/drawing/2014/main" id="{216B403D-B3C3-42D8-B6AF-921D3FA5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97271"/>
            <a:ext cx="304800" cy="12192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68" name="p3-67-社团与活动">
            <a:extLst xmlns:a="http://schemas.openxmlformats.org/drawingml/2006/main">
              <a:ext uri="{FF2B5EF4-FFF2-40B4-BE49-F238E27FC236}">
                <a16:creationId xmlns:a16="http://schemas.microsoft.com/office/drawing/2014/main" id="{A730BE81-089E-44DA-AB27-70216AE0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6038850"/>
            <a:ext cx="2714625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社团与活动</a:t>
            </a:r>
          </a:p>
        </p:txBody>
      </p:sp>
      <p:sp>
        <p:nvSpPr>
          <p:cNvPr id="69" name="p3-68-为小团队协作做小工具">
            <a:extLst xmlns:a="http://schemas.openxmlformats.org/drawingml/2006/main">
              <a:ext uri="{FF2B5EF4-FFF2-40B4-BE49-F238E27FC236}">
                <a16:creationId xmlns:a16="http://schemas.microsoft.com/office/drawing/2014/main" id="{FD14DD56-4B06-4AE4-AB46-25225288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6581775"/>
            <a:ext cx="2714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为小团队协作做小工具</a:t>
            </a:r>
          </a:p>
        </p:txBody>
      </p:sp>
      <p:sp>
        <p:nvSpPr>
          <p:cNvPr id="70" name="p3-69">
            <a:extLst xmlns:a="http://schemas.openxmlformats.org/drawingml/2006/main">
              <a:ext uri="{FF2B5EF4-FFF2-40B4-BE49-F238E27FC236}">
                <a16:creationId xmlns:a16="http://schemas.microsoft.com/office/drawing/2014/main" id="{FE1D0CDC-25E2-4CDC-8E19-778CB2BA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143500"/>
            <a:ext cx="3076575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71" name="p3-70">
            <a:extLst xmlns:a="http://schemas.openxmlformats.org/drawingml/2006/main">
              <a:ext uri="{FF2B5EF4-FFF2-40B4-BE49-F238E27FC236}">
                <a16:creationId xmlns:a16="http://schemas.microsoft.com/office/drawing/2014/main" id="{62909E8B-C5E3-4A0D-908A-533E27C4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33400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3-71">
            <a:extLst xmlns:a="http://schemas.openxmlformats.org/drawingml/2006/main">
              <a:ext uri="{FF2B5EF4-FFF2-40B4-BE49-F238E27FC236}">
                <a16:creationId xmlns:a16="http://schemas.microsoft.com/office/drawing/2014/main" id="{4CB1A9C7-6E9C-4DB5-A8B5-767E9C25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438775"/>
            <a:ext cx="60960" cy="60960"/>
          </a:xfrm>
          <a:prstGeom xmlns:a="http://schemas.openxmlformats.org/drawingml/2006/main" prst="roundRect">
            <a:avLst>
              <a:gd name="adj" fmla="val 46875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73" name="p3-72">
            <a:extLst xmlns:a="http://schemas.openxmlformats.org/drawingml/2006/main">
              <a:ext uri="{FF2B5EF4-FFF2-40B4-BE49-F238E27FC236}">
                <a16:creationId xmlns:a16="http://schemas.microsoft.com/office/drawing/2014/main" id="{FE8CAA91-07DF-43CB-BD36-7177AB24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959" y="5463159"/>
            <a:ext cx="176784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3-73">
            <a:extLst xmlns:a="http://schemas.openxmlformats.org/drawingml/2006/main">
              <a:ext uri="{FF2B5EF4-FFF2-40B4-BE49-F238E27FC236}">
                <a16:creationId xmlns:a16="http://schemas.microsoft.com/office/drawing/2014/main" id="{CA77FD0B-60E6-4231-8D2A-191A35B2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533263"/>
            <a:ext cx="60960" cy="60960"/>
          </a:xfrm>
          <a:prstGeom xmlns:a="http://schemas.openxmlformats.org/drawingml/2006/main" prst="roundRect">
            <a:avLst>
              <a:gd name="adj" fmla="val 46875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75" name="p3-74">
            <a:extLst xmlns:a="http://schemas.openxmlformats.org/drawingml/2006/main">
              <a:ext uri="{FF2B5EF4-FFF2-40B4-BE49-F238E27FC236}">
                <a16:creationId xmlns:a16="http://schemas.microsoft.com/office/drawing/2014/main" id="{82D80C55-D11A-4DEA-98F9-9AE88BA9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959" y="5557647"/>
            <a:ext cx="176784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3-75">
            <a:extLst xmlns:a="http://schemas.openxmlformats.org/drawingml/2006/main">
              <a:ext uri="{FF2B5EF4-FFF2-40B4-BE49-F238E27FC236}">
                <a16:creationId xmlns:a16="http://schemas.microsoft.com/office/drawing/2014/main" id="{D52316B2-9EE0-44A2-9840-F04D3DA5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627751"/>
            <a:ext cx="60960" cy="60960"/>
          </a:xfrm>
          <a:prstGeom xmlns:a="http://schemas.openxmlformats.org/drawingml/2006/main" prst="roundRect">
            <a:avLst>
              <a:gd name="adj" fmla="val 46875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77" name="p3-76">
            <a:extLst xmlns:a="http://schemas.openxmlformats.org/drawingml/2006/main">
              <a:ext uri="{FF2B5EF4-FFF2-40B4-BE49-F238E27FC236}">
                <a16:creationId xmlns:a16="http://schemas.microsoft.com/office/drawing/2014/main" id="{C26D79CA-EF8C-4F9A-9F5B-9E05C21A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959" y="5652135"/>
            <a:ext cx="176784" cy="2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3-77-个人项目">
            <a:extLst xmlns:a="http://schemas.openxmlformats.org/drawingml/2006/main">
              <a:ext uri="{FF2B5EF4-FFF2-40B4-BE49-F238E27FC236}">
                <a16:creationId xmlns:a16="http://schemas.microsoft.com/office/drawing/2014/main" id="{BFBDF3CC-C564-49B1-9B77-3BB8E1ED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038850"/>
            <a:ext cx="2714625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个人项目</a:t>
            </a:r>
          </a:p>
        </p:txBody>
      </p:sp>
      <p:sp>
        <p:nvSpPr>
          <p:cNvPr id="79" name="p3-78-围绕具体任务组合功能">
            <a:extLst xmlns:a="http://schemas.openxmlformats.org/drawingml/2006/main">
              <a:ext uri="{FF2B5EF4-FFF2-40B4-BE49-F238E27FC236}">
                <a16:creationId xmlns:a16="http://schemas.microsoft.com/office/drawing/2014/main" id="{52F9731B-BCD3-4BA0-8AC7-D1BA7401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581775"/>
            <a:ext cx="2714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围绕具体任务组合功能</a:t>
            </a:r>
          </a:p>
        </p:txBody>
      </p:sp>
      <p:sp>
        <p:nvSpPr>
          <p:cNvPr id="80" name="p3-79-这是不同的软件创造需求方向，并非六种固定">
            <a:extLst xmlns:a="http://schemas.openxmlformats.org/drawingml/2006/main">
              <a:ext uri="{FF2B5EF4-FFF2-40B4-BE49-F238E27FC236}">
                <a16:creationId xmlns:a16="http://schemas.microsoft.com/office/drawing/2014/main" id="{AB3DF407-83B0-48C1-B936-70DB72A1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这是不同的软件创造需求方向，并非六种固定模板；多线写作属于长期目标，复杂逻辑尚不受当前 Runtime 完整支持。</a:t>
            </a:r>
          </a:p>
        </p:txBody>
      </p:sp>
    </p:spTree>
    <p:extLst>
      <p:ext uri="{BB962C8B-B14F-4D97-AF65-F5344CB8AC3E}">
        <p14:creationId xmlns:p14="http://schemas.microsoft.com/office/powerpoint/2010/main" val="1797304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p4-0">
            <a:extLst xmlns:a="http://schemas.openxmlformats.org/drawingml/2006/main">
              <a:ext uri="{FF2B5EF4-FFF2-40B4-BE49-F238E27FC236}">
                <a16:creationId xmlns:a16="http://schemas.microsoft.com/office/drawing/2014/main" id="{425C39E7-057C-4D9C-9596-81737955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4-1">
            <a:extLst xmlns:a="http://schemas.openxmlformats.org/drawingml/2006/main">
              <a:ext uri="{FF2B5EF4-FFF2-40B4-BE49-F238E27FC236}">
                <a16:creationId xmlns:a16="http://schemas.microsoft.com/office/drawing/2014/main" id="{15166462-2530-4C95-9192-D5A45B3C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4-2">
            <a:extLst xmlns:a="http://schemas.openxmlformats.org/drawingml/2006/main">
              <a:ext uri="{FF2B5EF4-FFF2-40B4-BE49-F238E27FC236}">
                <a16:creationId xmlns:a16="http://schemas.microsoft.com/office/drawing/2014/main" id="{324F0DB7-8EC5-4C31-8AF0-BF5A1CB7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4-3">
            <a:extLst xmlns:a="http://schemas.openxmlformats.org/drawingml/2006/main">
              <a:ext uri="{FF2B5EF4-FFF2-40B4-BE49-F238E27FC236}">
                <a16:creationId xmlns:a16="http://schemas.microsoft.com/office/drawing/2014/main" id="{5E8D4046-E9A5-4234-AA6B-78D88012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4-4-BlockCraft AI">
            <a:extLst xmlns:a="http://schemas.openxmlformats.org/drawingml/2006/main">
              <a:ext uri="{FF2B5EF4-FFF2-40B4-BE49-F238E27FC236}">
                <a16:creationId xmlns:a16="http://schemas.microsoft.com/office/drawing/2014/main" id="{A5C8B00D-3BD1-4F5F-85A1-C86BFC9E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4-5-03 / 解决方案">
            <a:extLst xmlns:a="http://schemas.openxmlformats.org/drawingml/2006/main">
              <a:ext uri="{FF2B5EF4-FFF2-40B4-BE49-F238E27FC236}">
                <a16:creationId xmlns:a16="http://schemas.microsoft.com/office/drawing/2014/main" id="{D1FDE794-1E16-4B02-BC4A-903ADB2E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03 / 解决方案</a:t>
            </a:r>
          </a:p>
        </p:txBody>
      </p:sp>
      <p:sp>
        <p:nvSpPr>
          <p:cNvPr id="7" name="p4-6-把抽象想法，变成看得见的软件结构">
            <a:extLst xmlns:a="http://schemas.openxmlformats.org/drawingml/2006/main">
              <a:ext uri="{FF2B5EF4-FFF2-40B4-BE49-F238E27FC236}">
                <a16:creationId xmlns:a16="http://schemas.microsoft.com/office/drawing/2014/main" id="{76C0D67C-FD5B-4540-8C60-9FFE0634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把抽象想法，变成看得见的软件结构</a:t>
            </a:r>
          </a:p>
        </p:txBody>
      </p:sp>
      <p:sp>
        <p:nvSpPr>
          <p:cNvPr id="8" name="p4-7-Mochi 帮助理解需求，B 模式安排功">
            <a:extLst xmlns:a="http://schemas.openxmlformats.org/drawingml/2006/main">
              <a:ext uri="{FF2B5EF4-FFF2-40B4-BE49-F238E27FC236}">
                <a16:creationId xmlns:a16="http://schemas.microsoft.com/office/drawing/2014/main" id="{BB9DD65A-5741-4AB3-B5DC-628ABDD3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Mochi 帮助理解需求，B 模式安排功能，C 模式检验实际效果。</a:t>
            </a:r>
          </a:p>
        </p:txBody>
      </p:sp>
      <p:sp>
        <p:nvSpPr>
          <p:cNvPr id="9" name="p4-8">
            <a:extLst xmlns:a="http://schemas.openxmlformats.org/drawingml/2006/main">
              <a:ext uri="{FF2B5EF4-FFF2-40B4-BE49-F238E27FC236}">
                <a16:creationId xmlns:a16="http://schemas.microsoft.com/office/drawing/2014/main" id="{F1E9E321-BB88-4FC1-A5BF-7069CCE1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4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261AA467-7DB1-40C9-BB5A-E1F66493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4-10-04 / 15">
            <a:extLst xmlns:a="http://schemas.openxmlformats.org/drawingml/2006/main">
              <a:ext uri="{FF2B5EF4-FFF2-40B4-BE49-F238E27FC236}">
                <a16:creationId xmlns:a16="http://schemas.microsoft.com/office/drawing/2014/main" id="{40FB6987-EEE4-45B3-BDFA-C75E8E8D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04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63793-52EC-4C80-9742-3D8D9DC4E0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b45d890034808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4-12">
            <a:extLst xmlns:a="http://schemas.openxmlformats.org/drawingml/2006/main">
              <a:ext uri="{FF2B5EF4-FFF2-40B4-BE49-F238E27FC236}">
                <a16:creationId xmlns:a16="http://schemas.microsoft.com/office/drawing/2014/main" id="{521A227A-AE29-436B-898C-44E3519E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1057275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4-13-产品交互概念示意">
            <a:extLst xmlns:a="http://schemas.openxmlformats.org/drawingml/2006/main">
              <a:ext uri="{FF2B5EF4-FFF2-40B4-BE49-F238E27FC236}">
                <a16:creationId xmlns:a16="http://schemas.microsoft.com/office/drawing/2014/main" id="{235B3AAF-7613-4220-98BC-4DF1F63D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1104900"/>
            <a:ext cx="21526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产品交互概念示意</a:t>
            </a:r>
          </a:p>
        </p:txBody>
      </p:sp>
      <p:sp>
        <p:nvSpPr>
          <p:cNvPr id="15" name="p4-14">
            <a:extLst xmlns:a="http://schemas.openxmlformats.org/drawingml/2006/main">
              <a:ext uri="{FF2B5EF4-FFF2-40B4-BE49-F238E27FC236}">
                <a16:creationId xmlns:a16="http://schemas.microsoft.com/office/drawing/2014/main" id="{3BB4295A-99D9-4469-B375-BE29A5C4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2905125" cy="3905250"/>
          </a:xfrm>
          <a:prstGeom xmlns:a="http://schemas.openxmlformats.org/drawingml/2006/main" prst="roundRect">
            <a:avLst>
              <a:gd name="adj" fmla="val 78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3D405-B2D4-402A-8960-1712CDACA3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4fabab8654c11"/>
          <a:stretch xmlns:a="http://schemas.openxmlformats.org/drawingml/2006/main"/>
        </p:blipFill>
        <p:spPr>
          <a:xfrm xmlns:a="http://schemas.openxmlformats.org/drawingml/2006/main">
            <a:off x="1419225" y="3289028"/>
            <a:ext cx="1323975" cy="1184818"/>
          </a:xfrm>
          <a:prstGeom xmlns:a="http://schemas.openxmlformats.org/drawingml/2006/main" prst="rect">
            <a:avLst/>
          </a:prstGeom>
        </p:spPr>
      </p:pic>
      <p:sp>
        <p:nvSpPr>
          <p:cNvPr id="17" name="p4-16-先说想做什么">
            <a:extLst xmlns:a="http://schemas.openxmlformats.org/drawingml/2006/main">
              <a:ext uri="{FF2B5EF4-FFF2-40B4-BE49-F238E27FC236}">
                <a16:creationId xmlns:a16="http://schemas.microsoft.com/office/drawing/2014/main" id="{8356C160-EB0D-4CD3-9504-72A34CE6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05350"/>
            <a:ext cx="247650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先说想做什么</a:t>
            </a:r>
          </a:p>
        </p:txBody>
      </p:sp>
      <p:sp>
        <p:nvSpPr>
          <p:cNvPr id="18" name="p4-17-“我想安排学习任务，">
            <a:extLst xmlns:a="http://schemas.openxmlformats.org/drawingml/2006/main">
              <a:ext uri="{FF2B5EF4-FFF2-40B4-BE49-F238E27FC236}">
                <a16:creationId xmlns:a16="http://schemas.microsoft.com/office/drawing/2014/main" id="{6680DCF4-4FE2-4496-BCE6-7FA52161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38750"/>
            <a:ext cx="2476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“我想安排学习任务，</a:t>
            </a:r>
          </a:p>
        </p:txBody>
      </p:sp>
      <p:sp>
        <p:nvSpPr>
          <p:cNvPr id="19" name="p4-18-也想记录每周的进度。”">
            <a:extLst xmlns:a="http://schemas.openxmlformats.org/drawingml/2006/main">
              <a:ext uri="{FF2B5EF4-FFF2-40B4-BE49-F238E27FC236}">
                <a16:creationId xmlns:a16="http://schemas.microsoft.com/office/drawing/2014/main" id="{8D479E9C-4497-40E9-8691-FD267C18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40502"/>
            <a:ext cx="2476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也想记录每周的进度。”</a:t>
            </a:r>
          </a:p>
        </p:txBody>
      </p:sp>
      <p:sp>
        <p:nvSpPr>
          <p:cNvPr id="20" name="p4-19">
            <a:extLst xmlns:a="http://schemas.openxmlformats.org/drawingml/2006/main">
              <a:ext uri="{FF2B5EF4-FFF2-40B4-BE49-F238E27FC236}">
                <a16:creationId xmlns:a16="http://schemas.microsoft.com/office/drawing/2014/main" id="{FE0B62BD-8927-47AB-BDF3-C0C0D0B1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48400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4-20-Mochi 规划模块 · 目标">
            <a:extLst xmlns:a="http://schemas.openxmlformats.org/drawingml/2006/main">
              <a:ext uri="{FF2B5EF4-FFF2-40B4-BE49-F238E27FC236}">
                <a16:creationId xmlns:a16="http://schemas.microsoft.com/office/drawing/2014/main" id="{81565F01-B3F6-41A6-BE43-D9D6E1BB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296025"/>
            <a:ext cx="21907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Mochi 规划模块 · 目标</a:t>
            </a:r>
          </a:p>
        </p:txBody>
      </p:sp>
      <p:sp>
        <p:nvSpPr>
          <p:cNvPr id="22" name="p4-21-→">
            <a:extLst xmlns:a="http://schemas.openxmlformats.org/drawingml/2006/main">
              <a:ext uri="{FF2B5EF4-FFF2-40B4-BE49-F238E27FC236}">
                <a16:creationId xmlns:a16="http://schemas.microsoft.com/office/drawing/2014/main" id="{3BD46696-C80A-4504-91B4-F5E846F8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610100"/>
            <a:ext cx="55245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23" name="p4-22">
            <a:extLst xmlns:a="http://schemas.openxmlformats.org/drawingml/2006/main">
              <a:ext uri="{FF2B5EF4-FFF2-40B4-BE49-F238E27FC236}">
                <a16:creationId xmlns:a16="http://schemas.microsoft.com/office/drawing/2014/main" id="{5604CECA-9FC7-4FC5-A068-8D7DCAD2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019425"/>
            <a:ext cx="5143500" cy="3905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4" name="p4-23">
            <a:extLst xmlns:a="http://schemas.openxmlformats.org/drawingml/2006/main">
              <a:ext uri="{FF2B5EF4-FFF2-40B4-BE49-F238E27FC236}">
                <a16:creationId xmlns:a16="http://schemas.microsoft.com/office/drawing/2014/main" id="{60DD046C-D216-48F5-AACC-FA79E609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28975"/>
            <a:ext cx="19335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4-24-B / 功能积木">
            <a:extLst xmlns:a="http://schemas.openxmlformats.org/drawingml/2006/main">
              <a:ext uri="{FF2B5EF4-FFF2-40B4-BE49-F238E27FC236}">
                <a16:creationId xmlns:a16="http://schemas.microsoft.com/office/drawing/2014/main" id="{783B7F21-7D01-4605-A440-132A5CDA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76600"/>
            <a:ext cx="1704975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B / 功能积木</a:t>
            </a:r>
          </a:p>
        </p:txBody>
      </p:sp>
      <p:sp>
        <p:nvSpPr>
          <p:cNvPr id="26" name="p4-25">
            <a:extLst xmlns:a="http://schemas.openxmlformats.org/drawingml/2006/main">
              <a:ext uri="{FF2B5EF4-FFF2-40B4-BE49-F238E27FC236}">
                <a16:creationId xmlns:a16="http://schemas.microsoft.com/office/drawing/2014/main" id="{1727D254-4EAA-4062-8FC6-27EF99CC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2430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4-26">
            <a:extLst xmlns:a="http://schemas.openxmlformats.org/drawingml/2006/main">
              <a:ext uri="{FF2B5EF4-FFF2-40B4-BE49-F238E27FC236}">
                <a16:creationId xmlns:a16="http://schemas.microsoft.com/office/drawing/2014/main" id="{4FADD769-3136-4340-B209-9FE82897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92430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4-27">
            <a:extLst xmlns:a="http://schemas.openxmlformats.org/drawingml/2006/main">
              <a:ext uri="{FF2B5EF4-FFF2-40B4-BE49-F238E27FC236}">
                <a16:creationId xmlns:a16="http://schemas.microsoft.com/office/drawing/2014/main" id="{45D24EEA-75AD-4F9B-A499-5C12F947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19550"/>
            <a:ext cx="21336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4-28">
            <a:extLst xmlns:a="http://schemas.openxmlformats.org/drawingml/2006/main">
              <a:ext uri="{FF2B5EF4-FFF2-40B4-BE49-F238E27FC236}">
                <a16:creationId xmlns:a16="http://schemas.microsoft.com/office/drawing/2014/main" id="{385363AD-5F4D-4C94-8ED8-2B656976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91000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0" name="p4-29">
            <a:extLst xmlns:a="http://schemas.openxmlformats.org/drawingml/2006/main">
              <a:ext uri="{FF2B5EF4-FFF2-40B4-BE49-F238E27FC236}">
                <a16:creationId xmlns:a16="http://schemas.microsoft.com/office/drawing/2014/main" id="{A7966C36-87E7-4F49-9ABD-EA211B50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268" y="4211574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4-30">
            <a:extLst xmlns:a="http://schemas.openxmlformats.org/drawingml/2006/main">
              <a:ext uri="{FF2B5EF4-FFF2-40B4-BE49-F238E27FC236}">
                <a16:creationId xmlns:a16="http://schemas.microsoft.com/office/drawing/2014/main" id="{778BA823-97B4-4578-95B8-4C1AE21D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70724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2" name="p4-31">
            <a:extLst xmlns:a="http://schemas.openxmlformats.org/drawingml/2006/main">
              <a:ext uri="{FF2B5EF4-FFF2-40B4-BE49-F238E27FC236}">
                <a16:creationId xmlns:a16="http://schemas.microsoft.com/office/drawing/2014/main" id="{67316EB4-348B-47D2-98D4-6F650B26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268" y="4291298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4-32">
            <a:extLst xmlns:a="http://schemas.openxmlformats.org/drawingml/2006/main">
              <a:ext uri="{FF2B5EF4-FFF2-40B4-BE49-F238E27FC236}">
                <a16:creationId xmlns:a16="http://schemas.microsoft.com/office/drawing/2014/main" id="{C86A5AAB-AFDC-4DAD-BD5D-A10FB9D6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50449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4" name="p4-33">
            <a:extLst xmlns:a="http://schemas.openxmlformats.org/drawingml/2006/main">
              <a:ext uri="{FF2B5EF4-FFF2-40B4-BE49-F238E27FC236}">
                <a16:creationId xmlns:a16="http://schemas.microsoft.com/office/drawing/2014/main" id="{4614AE2B-C4A1-454A-B7EE-4B2F6027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268" y="4371023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4-34-任务管理">
            <a:extLst xmlns:a="http://schemas.openxmlformats.org/drawingml/2006/main">
              <a:ext uri="{FF2B5EF4-FFF2-40B4-BE49-F238E27FC236}">
                <a16:creationId xmlns:a16="http://schemas.microsoft.com/office/drawing/2014/main" id="{39B9FBFD-13EB-491B-B6CD-6009CE03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72000"/>
            <a:ext cx="179070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任务管理</a:t>
            </a:r>
          </a:p>
        </p:txBody>
      </p:sp>
      <p:sp>
        <p:nvSpPr>
          <p:cNvPr id="36" name="p4-35-查看与安排任务">
            <a:extLst xmlns:a="http://schemas.openxmlformats.org/drawingml/2006/main">
              <a:ext uri="{FF2B5EF4-FFF2-40B4-BE49-F238E27FC236}">
                <a16:creationId xmlns:a16="http://schemas.microsoft.com/office/drawing/2014/main" id="{8FC13568-6622-407D-896F-FA776594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43475"/>
            <a:ext cx="1790700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查看与安排任务</a:t>
            </a:r>
          </a:p>
        </p:txBody>
      </p:sp>
      <p:sp>
        <p:nvSpPr>
          <p:cNvPr id="37" name="p4-36">
            <a:extLst xmlns:a="http://schemas.openxmlformats.org/drawingml/2006/main">
              <a:ext uri="{FF2B5EF4-FFF2-40B4-BE49-F238E27FC236}">
                <a16:creationId xmlns:a16="http://schemas.microsoft.com/office/drawing/2014/main" id="{34CD3F02-0FC2-4E4A-80A0-04764295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2430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4-37">
            <a:extLst xmlns:a="http://schemas.openxmlformats.org/drawingml/2006/main">
              <a:ext uri="{FF2B5EF4-FFF2-40B4-BE49-F238E27FC236}">
                <a16:creationId xmlns:a16="http://schemas.microsoft.com/office/drawing/2014/main" id="{F58A2954-3D0F-40AD-9D14-63F37D6E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2430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4-38">
            <a:extLst xmlns:a="http://schemas.openxmlformats.org/drawingml/2006/main">
              <a:ext uri="{FF2B5EF4-FFF2-40B4-BE49-F238E27FC236}">
                <a16:creationId xmlns:a16="http://schemas.microsoft.com/office/drawing/2014/main" id="{E93B43D2-366D-46CB-961D-6FCFB0C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19550"/>
            <a:ext cx="21336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4-39">
            <a:extLst xmlns:a="http://schemas.openxmlformats.org/drawingml/2006/main">
              <a:ext uri="{FF2B5EF4-FFF2-40B4-BE49-F238E27FC236}">
                <a16:creationId xmlns:a16="http://schemas.microsoft.com/office/drawing/2014/main" id="{C67E9995-F2B0-4C16-8EAE-20A03043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91000"/>
            <a:ext cx="218599" cy="257175"/>
          </a:xfrm>
          <a:prstGeom xmlns:a="http://schemas.openxmlformats.org/drawingml/2006/main" prst="roundRect">
            <a:avLst>
              <a:gd name="adj" fmla="val 2178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1" name="p4-40">
            <a:extLst xmlns:a="http://schemas.openxmlformats.org/drawingml/2006/main">
              <a:ext uri="{FF2B5EF4-FFF2-40B4-BE49-F238E27FC236}">
                <a16:creationId xmlns:a16="http://schemas.microsoft.com/office/drawing/2014/main" id="{8931F0AA-D0F4-4566-A069-453AB149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520" y="4247579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4-41">
            <a:extLst xmlns:a="http://schemas.openxmlformats.org/drawingml/2006/main">
              <a:ext uri="{FF2B5EF4-FFF2-40B4-BE49-F238E27FC236}">
                <a16:creationId xmlns:a16="http://schemas.microsoft.com/office/drawing/2014/main" id="{24D3714A-F625-4526-BDE8-A149336B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520" y="4306729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4-42">
            <a:extLst xmlns:a="http://schemas.openxmlformats.org/drawingml/2006/main">
              <a:ext uri="{FF2B5EF4-FFF2-40B4-BE49-F238E27FC236}">
                <a16:creationId xmlns:a16="http://schemas.microsoft.com/office/drawing/2014/main" id="{45F736A4-A359-4237-B343-53574C10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520" y="4365879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4-43-学习记录">
            <a:extLst xmlns:a="http://schemas.openxmlformats.org/drawingml/2006/main">
              <a:ext uri="{FF2B5EF4-FFF2-40B4-BE49-F238E27FC236}">
                <a16:creationId xmlns:a16="http://schemas.microsoft.com/office/drawing/2014/main" id="{54B3FBF0-A20B-465E-B806-67C8EF51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72000"/>
            <a:ext cx="179070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学习记录</a:t>
            </a:r>
          </a:p>
        </p:txBody>
      </p:sp>
      <p:sp>
        <p:nvSpPr>
          <p:cNvPr id="45" name="p4-44-沉淀自己的过程">
            <a:extLst xmlns:a="http://schemas.openxmlformats.org/drawingml/2006/main">
              <a:ext uri="{FF2B5EF4-FFF2-40B4-BE49-F238E27FC236}">
                <a16:creationId xmlns:a16="http://schemas.microsoft.com/office/drawing/2014/main" id="{A0F2FA26-9235-405B-AC72-563F10DE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43475"/>
            <a:ext cx="1790700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沉淀自己的过程</a:t>
            </a:r>
          </a:p>
        </p:txBody>
      </p:sp>
      <p:sp>
        <p:nvSpPr>
          <p:cNvPr id="46" name="p4-45">
            <a:extLst xmlns:a="http://schemas.openxmlformats.org/drawingml/2006/main">
              <a:ext uri="{FF2B5EF4-FFF2-40B4-BE49-F238E27FC236}">
                <a16:creationId xmlns:a16="http://schemas.microsoft.com/office/drawing/2014/main" id="{715DC6C2-007C-440B-9BD1-3FA948BE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91175"/>
            <a:ext cx="45720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4-46">
            <a:extLst xmlns:a="http://schemas.openxmlformats.org/drawingml/2006/main">
              <a:ext uri="{FF2B5EF4-FFF2-40B4-BE49-F238E27FC236}">
                <a16:creationId xmlns:a16="http://schemas.microsoft.com/office/drawing/2014/main" id="{5FA1F38D-C3D1-4194-BF38-7DE1E402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810250"/>
            <a:ext cx="323850" cy="252603"/>
          </a:xfrm>
          <a:prstGeom xmlns:a="http://schemas.openxmlformats.org/drawingml/2006/main" prst="roundRect">
            <a:avLst>
              <a:gd name="adj" fmla="val 3016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A84B22"/>
            </a:solidFill>
            <a:prstDash val="solid"/>
          </a:ln>
        </p:spPr>
      </p:sp>
      <p:sp>
        <p:nvSpPr>
          <p:cNvPr id="48" name="p4-47">
            <a:extLst xmlns:a="http://schemas.openxmlformats.org/drawingml/2006/main">
              <a:ext uri="{FF2B5EF4-FFF2-40B4-BE49-F238E27FC236}">
                <a16:creationId xmlns:a16="http://schemas.microsoft.com/office/drawing/2014/main" id="{754732FF-4852-4468-BA85-E2311138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978" y="6062853"/>
            <a:ext cx="55055" cy="582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4-48-选中积木 → 对话 → 查看方案 → 确">
            <a:extLst xmlns:a="http://schemas.openxmlformats.org/drawingml/2006/main">
              <a:ext uri="{FF2B5EF4-FFF2-40B4-BE49-F238E27FC236}">
                <a16:creationId xmlns:a16="http://schemas.microsoft.com/office/drawing/2014/main" id="{E7AA9931-9EF4-45DB-954A-E2B054F7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791200"/>
            <a:ext cx="376237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选中积木 → 对话 → 查看方案 → 确认</a:t>
            </a:r>
          </a:p>
        </p:txBody>
      </p:sp>
      <p:sp>
        <p:nvSpPr>
          <p:cNvPr id="50" name="p4-49-局部修改机制；自由增删等能力规划中">
            <a:extLst xmlns:a="http://schemas.openxmlformats.org/drawingml/2006/main">
              <a:ext uri="{FF2B5EF4-FFF2-40B4-BE49-F238E27FC236}">
                <a16:creationId xmlns:a16="http://schemas.microsoft.com/office/drawing/2014/main" id="{D8A00F96-106D-4894-A741-2A1045C9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81725"/>
            <a:ext cx="3762375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局部修改机制；自由增删等能力规划中</a:t>
            </a:r>
          </a:p>
        </p:txBody>
      </p:sp>
      <p:sp>
        <p:nvSpPr>
          <p:cNvPr id="51" name="p4-50-→">
            <a:extLst xmlns:a="http://schemas.openxmlformats.org/drawingml/2006/main">
              <a:ext uri="{FF2B5EF4-FFF2-40B4-BE49-F238E27FC236}">
                <a16:creationId xmlns:a16="http://schemas.microsoft.com/office/drawing/2014/main" id="{8E7F86F0-F733-4158-B4DA-E695C9B6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629150"/>
            <a:ext cx="59055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52" name="p4-51">
            <a:extLst xmlns:a="http://schemas.openxmlformats.org/drawingml/2006/main">
              <a:ext uri="{FF2B5EF4-FFF2-40B4-BE49-F238E27FC236}">
                <a16:creationId xmlns:a16="http://schemas.microsoft.com/office/drawing/2014/main" id="{582CC5F4-B8C2-4CDC-97AD-FA232883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019425"/>
            <a:ext cx="4410075" cy="3905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53" name="p4-52">
            <a:extLst xmlns:a="http://schemas.openxmlformats.org/drawingml/2006/main">
              <a:ext uri="{FF2B5EF4-FFF2-40B4-BE49-F238E27FC236}">
                <a16:creationId xmlns:a16="http://schemas.microsoft.com/office/drawing/2014/main" id="{53264C3E-8C07-411A-A152-4BE8A16E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228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4-53-C / 应用预览">
            <a:extLst xmlns:a="http://schemas.openxmlformats.org/drawingml/2006/main">
              <a:ext uri="{FF2B5EF4-FFF2-40B4-BE49-F238E27FC236}">
                <a16:creationId xmlns:a16="http://schemas.microsoft.com/office/drawing/2014/main" id="{529EB188-85C1-4679-949B-3DF7C91C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276600"/>
            <a:ext cx="17145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C / 应用预览</a:t>
            </a:r>
          </a:p>
        </p:txBody>
      </p:sp>
      <p:sp>
        <p:nvSpPr>
          <p:cNvPr id="55" name="p4-54-我的学习小助手">
            <a:extLst xmlns:a="http://schemas.openxmlformats.org/drawingml/2006/main">
              <a:ext uri="{FF2B5EF4-FFF2-40B4-BE49-F238E27FC236}">
                <a16:creationId xmlns:a16="http://schemas.microsoft.com/office/drawing/2014/main" id="{CC535A85-AD83-463E-A565-91AE08CC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886200"/>
            <a:ext cx="3810000" cy="39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我的学习小助手</a:t>
            </a:r>
          </a:p>
        </p:txBody>
      </p:sp>
      <p:sp>
        <p:nvSpPr>
          <p:cNvPr id="56" name="p4-55">
            <a:extLst xmlns:a="http://schemas.openxmlformats.org/drawingml/2006/main">
              <a:ext uri="{FF2B5EF4-FFF2-40B4-BE49-F238E27FC236}">
                <a16:creationId xmlns:a16="http://schemas.microsoft.com/office/drawing/2014/main" id="{64E9209F-E71E-4ECC-B656-295AE2A0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429125"/>
            <a:ext cx="3857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4-56">
            <a:extLst xmlns:a="http://schemas.openxmlformats.org/drawingml/2006/main">
              <a:ext uri="{FF2B5EF4-FFF2-40B4-BE49-F238E27FC236}">
                <a16:creationId xmlns:a16="http://schemas.microsoft.com/office/drawing/2014/main" id="{32FEBDC1-1AF2-4612-92A1-DEED65BC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81525"/>
            <a:ext cx="180975" cy="18097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58" name="p4-57-阅读一章课程材料">
            <a:extLst xmlns:a="http://schemas.openxmlformats.org/drawingml/2006/main">
              <a:ext uri="{FF2B5EF4-FFF2-40B4-BE49-F238E27FC236}">
                <a16:creationId xmlns:a16="http://schemas.microsoft.com/office/drawing/2014/main" id="{8DFCABDE-4669-4071-89C2-01EECD81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552950"/>
            <a:ext cx="32194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阅读一章课程材料</a:t>
            </a:r>
          </a:p>
        </p:txBody>
      </p:sp>
      <p:sp>
        <p:nvSpPr>
          <p:cNvPr id="59" name="p4-58">
            <a:extLst xmlns:a="http://schemas.openxmlformats.org/drawingml/2006/main">
              <a:ext uri="{FF2B5EF4-FFF2-40B4-BE49-F238E27FC236}">
                <a16:creationId xmlns:a16="http://schemas.microsoft.com/office/drawing/2014/main" id="{CB641DD8-ED99-46F6-82AB-0D5124B4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048250"/>
            <a:ext cx="3857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4-59">
            <a:extLst xmlns:a="http://schemas.openxmlformats.org/drawingml/2006/main">
              <a:ext uri="{FF2B5EF4-FFF2-40B4-BE49-F238E27FC236}">
                <a16:creationId xmlns:a16="http://schemas.microsoft.com/office/drawing/2014/main" id="{C11EA464-F430-4577-B24F-1B11DC6F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200650"/>
            <a:ext cx="180975" cy="18097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61" name="p4-60-整理本周学习笔记">
            <a:extLst xmlns:a="http://schemas.openxmlformats.org/drawingml/2006/main">
              <a:ext uri="{FF2B5EF4-FFF2-40B4-BE49-F238E27FC236}">
                <a16:creationId xmlns:a16="http://schemas.microsoft.com/office/drawing/2014/main" id="{6DF04C6E-78A3-4A1B-BA97-529EFE92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172075"/>
            <a:ext cx="32194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整理本周学习笔记</a:t>
            </a:r>
          </a:p>
        </p:txBody>
      </p:sp>
      <p:sp>
        <p:nvSpPr>
          <p:cNvPr id="62" name="p4-61">
            <a:extLst xmlns:a="http://schemas.openxmlformats.org/drawingml/2006/main">
              <a:ext uri="{FF2B5EF4-FFF2-40B4-BE49-F238E27FC236}">
                <a16:creationId xmlns:a16="http://schemas.microsoft.com/office/drawing/2014/main" id="{78657A49-4322-4836-B1EA-CF363B07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667375"/>
            <a:ext cx="3857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4-62">
            <a:extLst xmlns:a="http://schemas.openxmlformats.org/drawingml/2006/main">
              <a:ext uri="{FF2B5EF4-FFF2-40B4-BE49-F238E27FC236}">
                <a16:creationId xmlns:a16="http://schemas.microsoft.com/office/drawing/2014/main" id="{76252760-1639-4B03-8843-5818F71C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9775"/>
            <a:ext cx="180975" cy="180975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64" name="p4-63-给下一次复习留个提醒">
            <a:extLst xmlns:a="http://schemas.openxmlformats.org/drawingml/2006/main">
              <a:ext uri="{FF2B5EF4-FFF2-40B4-BE49-F238E27FC236}">
                <a16:creationId xmlns:a16="http://schemas.microsoft.com/office/drawing/2014/main" id="{59FD434D-1BF7-4319-A635-A801A053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791200"/>
            <a:ext cx="32194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给下一次复习留个提醒</a:t>
            </a:r>
          </a:p>
        </p:txBody>
      </p:sp>
      <p:sp>
        <p:nvSpPr>
          <p:cNvPr id="65" name="p4-64-← 返回 B 模式继续调整">
            <a:extLst xmlns:a="http://schemas.openxmlformats.org/drawingml/2006/main">
              <a:ext uri="{FF2B5EF4-FFF2-40B4-BE49-F238E27FC236}">
                <a16:creationId xmlns:a16="http://schemas.microsoft.com/office/drawing/2014/main" id="{60DA02CA-D450-4FE3-9239-6C0E0086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96050"/>
            <a:ext cx="38100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← 返回 B 模式继续调整</a:t>
            </a:r>
          </a:p>
        </p:txBody>
      </p:sp>
      <p:sp>
        <p:nvSpPr>
          <p:cNvPr id="66" name="p4-65-同一个项目，在“功能组成”和“使用效果”">
            <a:extLst xmlns:a="http://schemas.openxmlformats.org/drawingml/2006/main">
              <a:ext uri="{FF2B5EF4-FFF2-40B4-BE49-F238E27FC236}">
                <a16:creationId xmlns:a16="http://schemas.microsoft.com/office/drawing/2014/main" id="{8ABD71FE-2F79-469C-9B7E-DED661FF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219950"/>
            <a:ext cx="10287000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同一个项目，在“功能组成”和“使用效果”之间随时往返。</a:t>
            </a:r>
          </a:p>
        </p:txBody>
      </p:sp>
      <p:sp>
        <p:nvSpPr>
          <p:cNvPr id="67" name="p4-66-界面为可编辑概念图；基础 B/C 编辑与">
            <a:extLst xmlns:a="http://schemas.openxmlformats.org/drawingml/2006/main">
              <a:ext uri="{FF2B5EF4-FFF2-40B4-BE49-F238E27FC236}">
                <a16:creationId xmlns:a16="http://schemas.microsoft.com/office/drawing/2014/main" id="{958B9050-C16B-45AD-BD8B-FEE8BB4D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界面为可编辑概念图；基础 B/C 编辑与预览已实现，完整 Mochi 规划与自然语言修改体验尚未生产启用。</a:t>
            </a:r>
          </a:p>
        </p:txBody>
      </p:sp>
    </p:spTree>
    <p:extLst>
      <p:ext uri="{BB962C8B-B14F-4D97-AF65-F5344CB8AC3E}">
        <p14:creationId xmlns:p14="http://schemas.microsoft.com/office/powerpoint/2010/main" val="15639653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p5-0">
            <a:extLst xmlns:a="http://schemas.openxmlformats.org/drawingml/2006/main">
              <a:ext uri="{FF2B5EF4-FFF2-40B4-BE49-F238E27FC236}">
                <a16:creationId xmlns:a16="http://schemas.microsoft.com/office/drawing/2014/main" id="{21AAA92B-9129-4EE1-82CD-517469DF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5-1">
            <a:extLst xmlns:a="http://schemas.openxmlformats.org/drawingml/2006/main">
              <a:ext uri="{FF2B5EF4-FFF2-40B4-BE49-F238E27FC236}">
                <a16:creationId xmlns:a16="http://schemas.microsoft.com/office/drawing/2014/main" id="{06C96BD4-5263-4DAC-9B05-7E29D7A2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5-2">
            <a:extLst xmlns:a="http://schemas.openxmlformats.org/drawingml/2006/main">
              <a:ext uri="{FF2B5EF4-FFF2-40B4-BE49-F238E27FC236}">
                <a16:creationId xmlns:a16="http://schemas.microsoft.com/office/drawing/2014/main" id="{0C2E9E4D-9B0E-42BE-BFBE-A2842425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5-3">
            <a:extLst xmlns:a="http://schemas.openxmlformats.org/drawingml/2006/main">
              <a:ext uri="{FF2B5EF4-FFF2-40B4-BE49-F238E27FC236}">
                <a16:creationId xmlns:a16="http://schemas.microsoft.com/office/drawing/2014/main" id="{AFF02BEB-E7B8-4570-BF60-13DE0093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5-4-BlockCraft AI">
            <a:extLst xmlns:a="http://schemas.openxmlformats.org/drawingml/2006/main">
              <a:ext uri="{FF2B5EF4-FFF2-40B4-BE49-F238E27FC236}">
                <a16:creationId xmlns:a16="http://schemas.microsoft.com/office/drawing/2014/main" id="{6519815A-03F2-42DB-8407-A4DF5A40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5-5-04 / 核心产品闭环">
            <a:extLst xmlns:a="http://schemas.openxmlformats.org/drawingml/2006/main">
              <a:ext uri="{FF2B5EF4-FFF2-40B4-BE49-F238E27FC236}">
                <a16:creationId xmlns:a16="http://schemas.microsoft.com/office/drawing/2014/main" id="{4935BE7F-B885-46CF-AE45-44BDDBB5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04 / 核心产品闭环</a:t>
            </a:r>
          </a:p>
        </p:txBody>
      </p:sp>
      <p:sp>
        <p:nvSpPr>
          <p:cNvPr id="7" name="p5-6-从一句话，到持续可修改的软件">
            <a:extLst xmlns:a="http://schemas.openxmlformats.org/drawingml/2006/main">
              <a:ext uri="{FF2B5EF4-FFF2-40B4-BE49-F238E27FC236}">
                <a16:creationId xmlns:a16="http://schemas.microsoft.com/office/drawing/2014/main" id="{5D12FC77-3B22-4C0F-B719-BAA6FC9C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从一句话，到持续可修改的软件</a:t>
            </a:r>
          </a:p>
        </p:txBody>
      </p:sp>
      <p:sp>
        <p:nvSpPr>
          <p:cNvPr id="8" name="p5-7-目标体验：每一步都围绕普通用户的理解、选">
            <a:extLst xmlns:a="http://schemas.openxmlformats.org/drawingml/2006/main">
              <a:ext uri="{FF2B5EF4-FFF2-40B4-BE49-F238E27FC236}">
                <a16:creationId xmlns:a16="http://schemas.microsoft.com/office/drawing/2014/main" id="{91ABF917-08A1-45F7-B1A2-6B44B6FD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目标体验：每一步都围绕普通用户的理解、选择与确认。</a:t>
            </a:r>
          </a:p>
        </p:txBody>
      </p:sp>
      <p:sp>
        <p:nvSpPr>
          <p:cNvPr id="9" name="p5-8">
            <a:extLst xmlns:a="http://schemas.openxmlformats.org/drawingml/2006/main">
              <a:ext uri="{FF2B5EF4-FFF2-40B4-BE49-F238E27FC236}">
                <a16:creationId xmlns:a16="http://schemas.microsoft.com/office/drawing/2014/main" id="{A8E7D097-D4A5-4F4B-9FB2-9BC9A0C7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5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2F469F0F-BCEE-4A5C-9B15-1DE29F7B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5-10-05 / 15">
            <a:extLst xmlns:a="http://schemas.openxmlformats.org/drawingml/2006/main">
              <a:ext uri="{FF2B5EF4-FFF2-40B4-BE49-F238E27FC236}">
                <a16:creationId xmlns:a16="http://schemas.microsoft.com/office/drawing/2014/main" id="{CA895098-2451-488F-A242-DDF11986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05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1D389-7705-4752-868F-CB41AF603D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f26fd9cc84636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5-12">
            <a:extLst xmlns:a="http://schemas.openxmlformats.org/drawingml/2006/main">
              <a:ext uri="{FF2B5EF4-FFF2-40B4-BE49-F238E27FC236}">
                <a16:creationId xmlns:a16="http://schemas.microsoft.com/office/drawing/2014/main" id="{27DECCE9-AC25-44FA-B773-67DC169E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3243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4" name="p5-13-01">
            <a:extLst xmlns:a="http://schemas.openxmlformats.org/drawingml/2006/main">
              <a:ext uri="{FF2B5EF4-FFF2-40B4-BE49-F238E27FC236}">
                <a16:creationId xmlns:a16="http://schemas.microsoft.com/office/drawing/2014/main" id="{239A7130-3110-4B0E-B01C-3501BF33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00400"/>
            <a:ext cx="714375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sp>
        <p:nvSpPr>
          <p:cNvPr id="15" name="p5-14">
            <a:extLst xmlns:a="http://schemas.openxmlformats.org/drawingml/2006/main">
              <a:ext uri="{FF2B5EF4-FFF2-40B4-BE49-F238E27FC236}">
                <a16:creationId xmlns:a16="http://schemas.microsoft.com/office/drawing/2014/main" id="{53541958-8EA2-4A70-B32D-49D190C7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48025"/>
            <a:ext cx="342900" cy="267462"/>
          </a:xfrm>
          <a:prstGeom xmlns:a="http://schemas.openxmlformats.org/drawingml/2006/main" prst="roundRect">
            <a:avLst>
              <a:gd name="adj" fmla="val 2849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16" name="p5-15">
            <a:extLst xmlns:a="http://schemas.openxmlformats.org/drawingml/2006/main">
              <a:ext uri="{FF2B5EF4-FFF2-40B4-BE49-F238E27FC236}">
                <a16:creationId xmlns:a16="http://schemas.microsoft.com/office/drawing/2014/main" id="{977EC25E-5935-4776-AC2A-70E74140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885" y="3515487"/>
            <a:ext cx="58293" cy="617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5-16-一句话提出想法">
            <a:extLst xmlns:a="http://schemas.openxmlformats.org/drawingml/2006/main">
              <a:ext uri="{FF2B5EF4-FFF2-40B4-BE49-F238E27FC236}">
                <a16:creationId xmlns:a16="http://schemas.microsoft.com/office/drawing/2014/main" id="{AACFC50E-2215-4D4F-8C27-73935696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33800"/>
            <a:ext cx="3886200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一句话提出想法</a:t>
            </a:r>
          </a:p>
        </p:txBody>
      </p:sp>
      <p:sp>
        <p:nvSpPr>
          <p:cNvPr id="18" name="p5-17-直接向 Mochi 说出需求">
            <a:extLst xmlns:a="http://schemas.openxmlformats.org/drawingml/2006/main">
              <a:ext uri="{FF2B5EF4-FFF2-40B4-BE49-F238E27FC236}">
                <a16:creationId xmlns:a16="http://schemas.microsoft.com/office/drawing/2014/main" id="{5AD317DF-1A79-495C-BE49-C549FA1A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191000"/>
            <a:ext cx="38862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直接向 Mochi 说出需求</a:t>
            </a:r>
          </a:p>
        </p:txBody>
      </p:sp>
      <p:sp>
        <p:nvSpPr>
          <p:cNvPr id="19" name="p5-18-目标体验 · 规划中">
            <a:extLst xmlns:a="http://schemas.openxmlformats.org/drawingml/2006/main">
              <a:ext uri="{FF2B5EF4-FFF2-40B4-BE49-F238E27FC236}">
                <a16:creationId xmlns:a16="http://schemas.microsoft.com/office/drawing/2014/main" id="{8DCF9CAC-F233-4587-83C5-671460FE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76775"/>
            <a:ext cx="38862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目标体验 · 规划中</a:t>
            </a:r>
          </a:p>
        </p:txBody>
      </p:sp>
      <p:sp>
        <p:nvSpPr>
          <p:cNvPr id="20" name="p5-19">
            <a:extLst xmlns:a="http://schemas.openxmlformats.org/drawingml/2006/main">
              <a:ext uri="{FF2B5EF4-FFF2-40B4-BE49-F238E27FC236}">
                <a16:creationId xmlns:a16="http://schemas.microsoft.com/office/drawing/2014/main" id="{72D82E5A-4E13-44E1-AED7-0C9F76A5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028950"/>
            <a:ext cx="43243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5-20-02">
            <a:extLst xmlns:a="http://schemas.openxmlformats.org/drawingml/2006/main">
              <a:ext uri="{FF2B5EF4-FFF2-40B4-BE49-F238E27FC236}">
                <a16:creationId xmlns:a16="http://schemas.microsoft.com/office/drawing/2014/main" id="{A27B4D18-60A3-40D8-8E99-1D15032D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714375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02</a:t>
            </a:r>
          </a:p>
        </p:txBody>
      </p:sp>
      <p:sp>
        <p:nvSpPr>
          <p:cNvPr id="22" name="p5-21">
            <a:extLst xmlns:a="http://schemas.openxmlformats.org/drawingml/2006/main">
              <a:ext uri="{FF2B5EF4-FFF2-40B4-BE49-F238E27FC236}">
                <a16:creationId xmlns:a16="http://schemas.microsoft.com/office/drawing/2014/main" id="{59C252C0-762D-47A8-8ADE-8FC80B1B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259" y="3248025"/>
            <a:ext cx="342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5-22">
            <a:extLst xmlns:a="http://schemas.openxmlformats.org/drawingml/2006/main">
              <a:ext uri="{FF2B5EF4-FFF2-40B4-BE49-F238E27FC236}">
                <a16:creationId xmlns:a16="http://schemas.microsoft.com/office/drawing/2014/main" id="{B04FD245-86A3-4DEE-87E0-0A43640A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05759"/>
            <a:ext cx="342900" cy="34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5-23-Mochi 规划功能积木">
            <a:extLst xmlns:a="http://schemas.openxmlformats.org/drawingml/2006/main">
              <a:ext uri="{FF2B5EF4-FFF2-40B4-BE49-F238E27FC236}">
                <a16:creationId xmlns:a16="http://schemas.microsoft.com/office/drawing/2014/main" id="{6388E904-B154-4771-9BCA-E1A3210A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33800"/>
            <a:ext cx="3886200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Mochi 规划功能积木</a:t>
            </a:r>
          </a:p>
        </p:txBody>
      </p:sp>
      <p:sp>
        <p:nvSpPr>
          <p:cNvPr id="25" name="p5-24-推荐模块，并解释组合理由">
            <a:extLst xmlns:a="http://schemas.openxmlformats.org/drawingml/2006/main">
              <a:ext uri="{FF2B5EF4-FFF2-40B4-BE49-F238E27FC236}">
                <a16:creationId xmlns:a16="http://schemas.microsoft.com/office/drawing/2014/main" id="{BB18E739-9BD5-4A6B-8130-93BF3668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91000"/>
            <a:ext cx="38862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推荐模块，并解释组合理由</a:t>
            </a:r>
          </a:p>
        </p:txBody>
      </p:sp>
      <p:sp>
        <p:nvSpPr>
          <p:cNvPr id="26" name="p5-25-核心差异点 · 规划中">
            <a:extLst xmlns:a="http://schemas.openxmlformats.org/drawingml/2006/main">
              <a:ext uri="{FF2B5EF4-FFF2-40B4-BE49-F238E27FC236}">
                <a16:creationId xmlns:a16="http://schemas.microsoft.com/office/drawing/2014/main" id="{B06D06BC-E7C0-4295-B546-3B2444BD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76775"/>
            <a:ext cx="38862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核心差异点 · 规划中</a:t>
            </a:r>
          </a:p>
        </p:txBody>
      </p:sp>
      <p:sp>
        <p:nvSpPr>
          <p:cNvPr id="27" name="p5-26">
            <a:extLst xmlns:a="http://schemas.openxmlformats.org/drawingml/2006/main">
              <a:ext uri="{FF2B5EF4-FFF2-40B4-BE49-F238E27FC236}">
                <a16:creationId xmlns:a16="http://schemas.microsoft.com/office/drawing/2014/main" id="{85978C3B-F3AD-4198-824D-11C8F9E5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28950"/>
            <a:ext cx="43243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8" name="p5-27-03">
            <a:extLst xmlns:a="http://schemas.openxmlformats.org/drawingml/2006/main">
              <a:ext uri="{FF2B5EF4-FFF2-40B4-BE49-F238E27FC236}">
                <a16:creationId xmlns:a16="http://schemas.microsoft.com/office/drawing/2014/main" id="{7E331AA1-B5DB-4D4B-BE89-B82D91E5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200400"/>
            <a:ext cx="714375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03</a:t>
            </a:r>
          </a:p>
        </p:txBody>
      </p:sp>
      <p:sp>
        <p:nvSpPr>
          <p:cNvPr id="29" name="p5-28">
            <a:extLst xmlns:a="http://schemas.openxmlformats.org/drawingml/2006/main">
              <a:ext uri="{FF2B5EF4-FFF2-40B4-BE49-F238E27FC236}">
                <a16:creationId xmlns:a16="http://schemas.microsoft.com/office/drawing/2014/main" id="{127B15DB-C887-4F59-9B43-1A51193E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248025"/>
            <a:ext cx="137160" cy="137160"/>
          </a:xfrm>
          <a:prstGeom xmlns:a="http://schemas.openxmlformats.org/drawingml/2006/main" prst="roundRect">
            <a:avLst>
              <a:gd name="adj" fmla="val 27778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0" name="p5-29">
            <a:extLst xmlns:a="http://schemas.openxmlformats.org/drawingml/2006/main">
              <a:ext uri="{FF2B5EF4-FFF2-40B4-BE49-F238E27FC236}">
                <a16:creationId xmlns:a16="http://schemas.microsoft.com/office/drawing/2014/main" id="{3FA3B716-3378-43A5-A745-8591927A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3195" y="3248025"/>
            <a:ext cx="137160" cy="137160"/>
          </a:xfrm>
          <a:prstGeom xmlns:a="http://schemas.openxmlformats.org/drawingml/2006/main" prst="roundRect">
            <a:avLst>
              <a:gd name="adj" fmla="val 27778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1" name="p5-30">
            <a:extLst xmlns:a="http://schemas.openxmlformats.org/drawingml/2006/main">
              <a:ext uri="{FF2B5EF4-FFF2-40B4-BE49-F238E27FC236}">
                <a16:creationId xmlns:a16="http://schemas.microsoft.com/office/drawing/2014/main" id="{F0D01EA7-3FAB-4890-9459-9EE3F3B6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436620"/>
            <a:ext cx="137160" cy="137160"/>
          </a:xfrm>
          <a:prstGeom xmlns:a="http://schemas.openxmlformats.org/drawingml/2006/main" prst="roundRect">
            <a:avLst>
              <a:gd name="adj" fmla="val 27778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2" name="p5-31-在 B 模式搭建">
            <a:extLst xmlns:a="http://schemas.openxmlformats.org/drawingml/2006/main">
              <a:ext uri="{FF2B5EF4-FFF2-40B4-BE49-F238E27FC236}">
                <a16:creationId xmlns:a16="http://schemas.microsoft.com/office/drawing/2014/main" id="{6CF9B762-5CD2-4EE0-B7D7-9FC7C755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733800"/>
            <a:ext cx="3886200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在 B 模式搭建</a:t>
            </a:r>
          </a:p>
        </p:txBody>
      </p:sp>
      <p:sp>
        <p:nvSpPr>
          <p:cNvPr id="33" name="p5-32-拖动、组合、配置功能">
            <a:extLst xmlns:a="http://schemas.openxmlformats.org/drawingml/2006/main">
              <a:ext uri="{FF2B5EF4-FFF2-40B4-BE49-F238E27FC236}">
                <a16:creationId xmlns:a16="http://schemas.microsoft.com/office/drawing/2014/main" id="{E7BA92EF-CA74-4512-B73A-3F0A4E77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191000"/>
            <a:ext cx="38862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拖动、组合、配置功能</a:t>
            </a:r>
          </a:p>
        </p:txBody>
      </p:sp>
      <p:sp>
        <p:nvSpPr>
          <p:cNvPr id="34" name="p5-33-基础已实现">
            <a:extLst xmlns:a="http://schemas.openxmlformats.org/drawingml/2006/main">
              <a:ext uri="{FF2B5EF4-FFF2-40B4-BE49-F238E27FC236}">
                <a16:creationId xmlns:a16="http://schemas.microsoft.com/office/drawing/2014/main" id="{1F86ABE9-DE78-4FA0-A056-43A7AC4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676775"/>
            <a:ext cx="38862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基础已实现</a:t>
            </a:r>
          </a:p>
        </p:txBody>
      </p:sp>
      <p:sp>
        <p:nvSpPr>
          <p:cNvPr id="35" name="p5-34">
            <a:extLst xmlns:a="http://schemas.openxmlformats.org/drawingml/2006/main">
              <a:ext uri="{FF2B5EF4-FFF2-40B4-BE49-F238E27FC236}">
                <a16:creationId xmlns:a16="http://schemas.microsoft.com/office/drawing/2014/main" id="{228855BC-9D4A-499F-83DB-E12CD0F1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476875"/>
            <a:ext cx="43243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6" name="p5-35-04">
            <a:extLst xmlns:a="http://schemas.openxmlformats.org/drawingml/2006/main">
              <a:ext uri="{FF2B5EF4-FFF2-40B4-BE49-F238E27FC236}">
                <a16:creationId xmlns:a16="http://schemas.microsoft.com/office/drawing/2014/main" id="{A3CEE1EA-727D-425A-B028-E8607BC2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5648325"/>
            <a:ext cx="714375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04</a:t>
            </a:r>
          </a:p>
        </p:txBody>
      </p:sp>
      <p:sp>
        <p:nvSpPr>
          <p:cNvPr id="37" name="p5-36">
            <a:extLst xmlns:a="http://schemas.openxmlformats.org/drawingml/2006/main">
              <a:ext uri="{FF2B5EF4-FFF2-40B4-BE49-F238E27FC236}">
                <a16:creationId xmlns:a16="http://schemas.microsoft.com/office/drawing/2014/main" id="{EFA16008-CE7D-4675-B9AA-A92003B7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695950"/>
            <a:ext cx="342900" cy="267462"/>
          </a:xfrm>
          <a:prstGeom xmlns:a="http://schemas.openxmlformats.org/drawingml/2006/main" prst="roundRect">
            <a:avLst>
              <a:gd name="adj" fmla="val 2849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8" name="p5-37">
            <a:extLst xmlns:a="http://schemas.openxmlformats.org/drawingml/2006/main">
              <a:ext uri="{FF2B5EF4-FFF2-40B4-BE49-F238E27FC236}">
                <a16:creationId xmlns:a16="http://schemas.microsoft.com/office/drawing/2014/main" id="{9E62BD4C-F5E8-4936-B3ED-2C0B7189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035" y="5963412"/>
            <a:ext cx="58293" cy="617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5-38-对话持续修改">
            <a:extLst xmlns:a="http://schemas.openxmlformats.org/drawingml/2006/main">
              <a:ext uri="{FF2B5EF4-FFF2-40B4-BE49-F238E27FC236}">
                <a16:creationId xmlns:a16="http://schemas.microsoft.com/office/drawing/2014/main" id="{BB12F793-1217-45F2-8CEB-6C4B3E6A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6181725"/>
            <a:ext cx="3886200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对话持续修改</a:t>
            </a:r>
          </a:p>
        </p:txBody>
      </p:sp>
      <p:sp>
        <p:nvSpPr>
          <p:cNvPr id="40" name="p5-39-选中模块，预览方案并确认">
            <a:extLst xmlns:a="http://schemas.openxmlformats.org/drawingml/2006/main">
              <a:ext uri="{FF2B5EF4-FFF2-40B4-BE49-F238E27FC236}">
                <a16:creationId xmlns:a16="http://schemas.microsoft.com/office/drawing/2014/main" id="{DF02902C-1CD2-4EA7-80D6-B59B4DEA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6638925"/>
            <a:ext cx="38862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选中模块，预览方案并确认</a:t>
            </a:r>
          </a:p>
        </p:txBody>
      </p:sp>
      <p:sp>
        <p:nvSpPr>
          <p:cNvPr id="41" name="p5-40-受控链路已离线验证">
            <a:extLst xmlns:a="http://schemas.openxmlformats.org/drawingml/2006/main">
              <a:ext uri="{FF2B5EF4-FFF2-40B4-BE49-F238E27FC236}">
                <a16:creationId xmlns:a16="http://schemas.microsoft.com/office/drawing/2014/main" id="{FA80BFFF-FDDE-495C-92F3-0EDCE154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7124700"/>
            <a:ext cx="38862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受控链路已离线验证</a:t>
            </a:r>
          </a:p>
        </p:txBody>
      </p:sp>
      <p:sp>
        <p:nvSpPr>
          <p:cNvPr id="42" name="p5-41">
            <a:extLst xmlns:a="http://schemas.openxmlformats.org/drawingml/2006/main">
              <a:ext uri="{FF2B5EF4-FFF2-40B4-BE49-F238E27FC236}">
                <a16:creationId xmlns:a16="http://schemas.microsoft.com/office/drawing/2014/main" id="{0CB9CA1B-16E9-45D8-B5DA-B658D62B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476875"/>
            <a:ext cx="43243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43" name="p5-42-05">
            <a:extLst xmlns:a="http://schemas.openxmlformats.org/drawingml/2006/main">
              <a:ext uri="{FF2B5EF4-FFF2-40B4-BE49-F238E27FC236}">
                <a16:creationId xmlns:a16="http://schemas.microsoft.com/office/drawing/2014/main" id="{C9AAC84B-8CB2-401E-ADC4-6120B706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48325"/>
            <a:ext cx="714375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05</a:t>
            </a:r>
          </a:p>
        </p:txBody>
      </p:sp>
      <p:sp>
        <p:nvSpPr>
          <p:cNvPr id="44" name="p5-43">
            <a:extLst xmlns:a="http://schemas.openxmlformats.org/drawingml/2006/main">
              <a:ext uri="{FF2B5EF4-FFF2-40B4-BE49-F238E27FC236}">
                <a16:creationId xmlns:a16="http://schemas.microsoft.com/office/drawing/2014/main" id="{B2B899D9-FA42-41EF-8488-CCEC7FB2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695950"/>
            <a:ext cx="68580" cy="68580"/>
          </a:xfrm>
          <a:prstGeom xmlns:a="http://schemas.openxmlformats.org/drawingml/2006/main" prst="roundRect">
            <a:avLst>
              <a:gd name="adj" fmla="val 4166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5" name="p5-44">
            <a:extLst xmlns:a="http://schemas.openxmlformats.org/drawingml/2006/main">
              <a:ext uri="{FF2B5EF4-FFF2-40B4-BE49-F238E27FC236}">
                <a16:creationId xmlns:a16="http://schemas.microsoft.com/office/drawing/2014/main" id="{3DB5C7F4-15DB-4E9F-A6BB-0C5D5D24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682" y="5723382"/>
            <a:ext cx="19888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5-45">
            <a:extLst xmlns:a="http://schemas.openxmlformats.org/drawingml/2006/main">
              <a:ext uri="{FF2B5EF4-FFF2-40B4-BE49-F238E27FC236}">
                <a16:creationId xmlns:a16="http://schemas.microsoft.com/office/drawing/2014/main" id="{F3EFB246-1A02-4BCB-884B-7F8F81C2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802249"/>
            <a:ext cx="68580" cy="68580"/>
          </a:xfrm>
          <a:prstGeom xmlns:a="http://schemas.openxmlformats.org/drawingml/2006/main" prst="roundRect">
            <a:avLst>
              <a:gd name="adj" fmla="val 4166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7" name="p5-46">
            <a:extLst xmlns:a="http://schemas.openxmlformats.org/drawingml/2006/main">
              <a:ext uri="{FF2B5EF4-FFF2-40B4-BE49-F238E27FC236}">
                <a16:creationId xmlns:a16="http://schemas.microsoft.com/office/drawing/2014/main" id="{409F6C98-11F7-4819-92BC-8EC81C6E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682" y="5829681"/>
            <a:ext cx="19888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5-47">
            <a:extLst xmlns:a="http://schemas.openxmlformats.org/drawingml/2006/main">
              <a:ext uri="{FF2B5EF4-FFF2-40B4-BE49-F238E27FC236}">
                <a16:creationId xmlns:a16="http://schemas.microsoft.com/office/drawing/2014/main" id="{BE0302E3-573F-438E-9060-5BA7CDC3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908548"/>
            <a:ext cx="68580" cy="68580"/>
          </a:xfrm>
          <a:prstGeom xmlns:a="http://schemas.openxmlformats.org/drawingml/2006/main" prst="roundRect">
            <a:avLst>
              <a:gd name="adj" fmla="val 4166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9" name="p5-48">
            <a:extLst xmlns:a="http://schemas.openxmlformats.org/drawingml/2006/main">
              <a:ext uri="{FF2B5EF4-FFF2-40B4-BE49-F238E27FC236}">
                <a16:creationId xmlns:a16="http://schemas.microsoft.com/office/drawing/2014/main" id="{A2FFDC32-7B1C-4E1B-883B-1F6CED79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6682" y="5935980"/>
            <a:ext cx="19888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5-49-进入 C 模式预览">
            <a:extLst xmlns:a="http://schemas.openxmlformats.org/drawingml/2006/main">
              <a:ext uri="{FF2B5EF4-FFF2-40B4-BE49-F238E27FC236}">
                <a16:creationId xmlns:a16="http://schemas.microsoft.com/office/drawing/2014/main" id="{B8B31A01-BF81-4129-8CC0-6BD2CA92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181725"/>
            <a:ext cx="3886200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进入 C 模式预览</a:t>
            </a:r>
          </a:p>
        </p:txBody>
      </p:sp>
      <p:sp>
        <p:nvSpPr>
          <p:cNvPr id="51" name="p5-50-查看效果，返回 B 继续调整">
            <a:extLst xmlns:a="http://schemas.openxmlformats.org/drawingml/2006/main">
              <a:ext uri="{FF2B5EF4-FFF2-40B4-BE49-F238E27FC236}">
                <a16:creationId xmlns:a16="http://schemas.microsoft.com/office/drawing/2014/main" id="{E1768385-7E7C-4083-B282-19072E7A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638925"/>
            <a:ext cx="38862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查看效果，返回 B 继续调整</a:t>
            </a:r>
          </a:p>
        </p:txBody>
      </p:sp>
      <p:sp>
        <p:nvSpPr>
          <p:cNvPr id="52" name="p5-51-基础已实现">
            <a:extLst xmlns:a="http://schemas.openxmlformats.org/drawingml/2006/main">
              <a:ext uri="{FF2B5EF4-FFF2-40B4-BE49-F238E27FC236}">
                <a16:creationId xmlns:a16="http://schemas.microsoft.com/office/drawing/2014/main" id="{C0AF8555-B2E2-4BE4-811A-498FF22C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124700"/>
            <a:ext cx="38862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基础已实现</a:t>
            </a:r>
          </a:p>
        </p:txBody>
      </p:sp>
      <p:sp>
        <p:nvSpPr>
          <p:cNvPr id="53" name="p5-52">
            <a:extLst xmlns:a="http://schemas.openxmlformats.org/drawingml/2006/main">
              <a:ext uri="{FF2B5EF4-FFF2-40B4-BE49-F238E27FC236}">
                <a16:creationId xmlns:a16="http://schemas.microsoft.com/office/drawing/2014/main" id="{29D66DF3-008A-41CB-83C9-890C33F9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43243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5-53-06">
            <a:extLst xmlns:a="http://schemas.openxmlformats.org/drawingml/2006/main">
              <a:ext uri="{FF2B5EF4-FFF2-40B4-BE49-F238E27FC236}">
                <a16:creationId xmlns:a16="http://schemas.microsoft.com/office/drawing/2014/main" id="{BEF4F07D-8E47-4D9D-83F0-784E235A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48325"/>
            <a:ext cx="714375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06</a:t>
            </a:r>
          </a:p>
        </p:txBody>
      </p:sp>
      <p:sp>
        <p:nvSpPr>
          <p:cNvPr id="55" name="p5-54">
            <a:extLst xmlns:a="http://schemas.openxmlformats.org/drawingml/2006/main">
              <a:ext uri="{FF2B5EF4-FFF2-40B4-BE49-F238E27FC236}">
                <a16:creationId xmlns:a16="http://schemas.microsoft.com/office/drawing/2014/main" id="{98310D2E-0668-461C-AD31-FD495790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95950"/>
            <a:ext cx="291465" cy="342900"/>
          </a:xfrm>
          <a:prstGeom xmlns:a="http://schemas.openxmlformats.org/drawingml/2006/main" prst="roundRect">
            <a:avLst>
              <a:gd name="adj" fmla="val 1634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56" name="p5-55">
            <a:extLst xmlns:a="http://schemas.openxmlformats.org/drawingml/2006/main">
              <a:ext uri="{FF2B5EF4-FFF2-40B4-BE49-F238E27FC236}">
                <a16:creationId xmlns:a16="http://schemas.microsoft.com/office/drawing/2014/main" id="{75311BBB-6724-4335-AA52-A7A7A717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743" y="5771388"/>
            <a:ext cx="178308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5-56">
            <a:extLst xmlns:a="http://schemas.openxmlformats.org/drawingml/2006/main">
              <a:ext uri="{FF2B5EF4-FFF2-40B4-BE49-F238E27FC236}">
                <a16:creationId xmlns:a16="http://schemas.microsoft.com/office/drawing/2014/main" id="{1E8E2186-EAB1-4047-8077-60F410C1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743" y="5850255"/>
            <a:ext cx="178308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5-57">
            <a:extLst xmlns:a="http://schemas.openxmlformats.org/drawingml/2006/main">
              <a:ext uri="{FF2B5EF4-FFF2-40B4-BE49-F238E27FC236}">
                <a16:creationId xmlns:a16="http://schemas.microsoft.com/office/drawing/2014/main" id="{057D13ED-08C7-4082-9EEE-E4F7093A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743" y="5929122"/>
            <a:ext cx="178308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5-58-导出软件源码">
            <a:extLst xmlns:a="http://schemas.openxmlformats.org/drawingml/2006/main">
              <a:ext uri="{FF2B5EF4-FFF2-40B4-BE49-F238E27FC236}">
                <a16:creationId xmlns:a16="http://schemas.microsoft.com/office/drawing/2014/main" id="{0C6CEFCD-01CC-4176-80E2-B2A60B93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181725"/>
            <a:ext cx="3886200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导出软件源码</a:t>
            </a:r>
          </a:p>
        </p:txBody>
      </p:sp>
      <p:sp>
        <p:nvSpPr>
          <p:cNvPr id="60" name="p5-59-导出受支持的 React 项目">
            <a:extLst xmlns:a="http://schemas.openxmlformats.org/drawingml/2006/main">
              <a:ext uri="{FF2B5EF4-FFF2-40B4-BE49-F238E27FC236}">
                <a16:creationId xmlns:a16="http://schemas.microsoft.com/office/drawing/2014/main" id="{4E453054-66C1-4836-98D8-DBC00D3D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638925"/>
            <a:ext cx="38862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导出受支持的 React 项目</a:t>
            </a:r>
          </a:p>
        </p:txBody>
      </p:sp>
      <p:sp>
        <p:nvSpPr>
          <p:cNvPr id="61" name="p5-60-限定范围已验证">
            <a:extLst xmlns:a="http://schemas.openxmlformats.org/drawingml/2006/main">
              <a:ext uri="{FF2B5EF4-FFF2-40B4-BE49-F238E27FC236}">
                <a16:creationId xmlns:a16="http://schemas.microsoft.com/office/drawing/2014/main" id="{7CE82F14-1F4C-4021-B79E-F6FE8D8A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124700"/>
            <a:ext cx="38862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限定范围已验证</a:t>
            </a:r>
          </a:p>
        </p:txBody>
      </p:sp>
      <p:sp>
        <p:nvSpPr>
          <p:cNvPr id="62" name="p5-61-→">
            <a:extLst xmlns:a="http://schemas.openxmlformats.org/drawingml/2006/main">
              <a:ext uri="{FF2B5EF4-FFF2-40B4-BE49-F238E27FC236}">
                <a16:creationId xmlns:a16="http://schemas.microsoft.com/office/drawing/2014/main" id="{462DEAE3-2748-45F2-9222-F7D70D0C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52850"/>
            <a:ext cx="4191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63" name="p5-62-→">
            <a:extLst xmlns:a="http://schemas.openxmlformats.org/drawingml/2006/main">
              <a:ext uri="{FF2B5EF4-FFF2-40B4-BE49-F238E27FC236}">
                <a16:creationId xmlns:a16="http://schemas.microsoft.com/office/drawing/2014/main" id="{6D2BCE3B-BB8D-4EA1-8EDE-FF6B6967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752850"/>
            <a:ext cx="4191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64" name="p5-63-↓">
            <a:extLst xmlns:a="http://schemas.openxmlformats.org/drawingml/2006/main">
              <a:ext uri="{FF2B5EF4-FFF2-40B4-BE49-F238E27FC236}">
                <a16:creationId xmlns:a16="http://schemas.microsoft.com/office/drawing/2014/main" id="{80F1BF06-B54D-44DD-A20E-5AAF7896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5048250"/>
            <a:ext cx="571500" cy="486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270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↓</a:t>
            </a:r>
          </a:p>
        </p:txBody>
      </p:sp>
      <p:sp>
        <p:nvSpPr>
          <p:cNvPr id="65" name="p5-64-←">
            <a:extLst xmlns:a="http://schemas.openxmlformats.org/drawingml/2006/main">
              <a:ext uri="{FF2B5EF4-FFF2-40B4-BE49-F238E27FC236}">
                <a16:creationId xmlns:a16="http://schemas.microsoft.com/office/drawing/2014/main" id="{E44555ED-D59E-4B31-B090-1C02E879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191250"/>
            <a:ext cx="4191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←</a:t>
            </a:r>
          </a:p>
        </p:txBody>
      </p:sp>
      <p:sp>
        <p:nvSpPr>
          <p:cNvPr id="66" name="p5-65-←">
            <a:extLst xmlns:a="http://schemas.openxmlformats.org/drawingml/2006/main">
              <a:ext uri="{FF2B5EF4-FFF2-40B4-BE49-F238E27FC236}">
                <a16:creationId xmlns:a16="http://schemas.microsoft.com/office/drawing/2014/main" id="{67A81964-B8F6-4AD0-9AA6-01E89C14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191250"/>
            <a:ext cx="4191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←</a:t>
            </a:r>
          </a:p>
        </p:txBody>
      </p:sp>
      <p:sp>
        <p:nvSpPr>
          <p:cNvPr id="67" name="p5-66-以上是产品目标闭环；正式 PlanPro">
            <a:extLst xmlns:a="http://schemas.openxmlformats.org/drawingml/2006/main">
              <a:ext uri="{FF2B5EF4-FFF2-40B4-BE49-F238E27FC236}">
                <a16:creationId xmlns:a16="http://schemas.microsoft.com/office/drawing/2014/main" id="{7EABD67E-E8BA-4798-AA1A-5B6F4E76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本地真实 DeepSeek → AppSpec v2 → B/C 番茄钟已验证1次；公网接入待验。正式 PlanProvider 未启用，源码修改规划中。</a:t>
            </a:r>
          </a:p>
        </p:txBody>
      </p:sp>
    </p:spTree>
    <p:extLst>
      <p:ext uri="{BB962C8B-B14F-4D97-AF65-F5344CB8AC3E}">
        <p14:creationId xmlns:p14="http://schemas.microsoft.com/office/powerpoint/2010/main" val="1467840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p6-0">
            <a:extLst xmlns:a="http://schemas.openxmlformats.org/drawingml/2006/main">
              <a:ext uri="{FF2B5EF4-FFF2-40B4-BE49-F238E27FC236}">
                <a16:creationId xmlns:a16="http://schemas.microsoft.com/office/drawing/2014/main" id="{BAAAAE88-DB98-4A5E-B2D2-F5B8E543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6-1">
            <a:extLst xmlns:a="http://schemas.openxmlformats.org/drawingml/2006/main">
              <a:ext uri="{FF2B5EF4-FFF2-40B4-BE49-F238E27FC236}">
                <a16:creationId xmlns:a16="http://schemas.microsoft.com/office/drawing/2014/main" id="{FFDC3F26-C78F-49E3-BA67-C576528D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6-2">
            <a:extLst xmlns:a="http://schemas.openxmlformats.org/drawingml/2006/main">
              <a:ext uri="{FF2B5EF4-FFF2-40B4-BE49-F238E27FC236}">
                <a16:creationId xmlns:a16="http://schemas.microsoft.com/office/drawing/2014/main" id="{2C2C630C-48BA-41BF-8A4D-F0BCCBC4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6-3">
            <a:extLst xmlns:a="http://schemas.openxmlformats.org/drawingml/2006/main">
              <a:ext uri="{FF2B5EF4-FFF2-40B4-BE49-F238E27FC236}">
                <a16:creationId xmlns:a16="http://schemas.microsoft.com/office/drawing/2014/main" id="{8111BF92-78BD-497E-AA78-B18B245E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6-4-BlockCraft AI">
            <a:extLst xmlns:a="http://schemas.openxmlformats.org/drawingml/2006/main">
              <a:ext uri="{FF2B5EF4-FFF2-40B4-BE49-F238E27FC236}">
                <a16:creationId xmlns:a16="http://schemas.microsoft.com/office/drawing/2014/main" id="{054D17D8-E45F-49A4-B828-C1E273BF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6-5-05 / 核心创新">
            <a:extLst xmlns:a="http://schemas.openxmlformats.org/drawingml/2006/main">
              <a:ext uri="{FF2B5EF4-FFF2-40B4-BE49-F238E27FC236}">
                <a16:creationId xmlns:a16="http://schemas.microsoft.com/office/drawing/2014/main" id="{AB652158-0D1E-44F9-8979-D1FAEB6A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05 / 核心创新</a:t>
            </a:r>
          </a:p>
        </p:txBody>
      </p:sp>
      <p:sp>
        <p:nvSpPr>
          <p:cNvPr id="7" name="p6-6-AI 不只给答案，还帮助用户组织功能">
            <a:extLst xmlns:a="http://schemas.openxmlformats.org/drawingml/2006/main">
              <a:ext uri="{FF2B5EF4-FFF2-40B4-BE49-F238E27FC236}">
                <a16:creationId xmlns:a16="http://schemas.microsoft.com/office/drawing/2014/main" id="{BEA26126-B141-49DF-899B-16174D2E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AI 不只给答案，还帮助用户组织功能</a:t>
            </a:r>
          </a:p>
        </p:txBody>
      </p:sp>
      <p:sp>
        <p:nvSpPr>
          <p:cNvPr id="8" name="p6-7-把“我要什么”翻译成可以理解、组合和持续">
            <a:extLst xmlns:a="http://schemas.openxmlformats.org/drawingml/2006/main">
              <a:ext uri="{FF2B5EF4-FFF2-40B4-BE49-F238E27FC236}">
                <a16:creationId xmlns:a16="http://schemas.microsoft.com/office/drawing/2014/main" id="{F711CBF9-B643-449A-94AE-0491C1D5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把“我要什么”翻译成可以理解、组合和持续修改的功能积木。</a:t>
            </a:r>
          </a:p>
        </p:txBody>
      </p:sp>
      <p:sp>
        <p:nvSpPr>
          <p:cNvPr id="9" name="p6-8">
            <a:extLst xmlns:a="http://schemas.openxmlformats.org/drawingml/2006/main">
              <a:ext uri="{FF2B5EF4-FFF2-40B4-BE49-F238E27FC236}">
                <a16:creationId xmlns:a16="http://schemas.microsoft.com/office/drawing/2014/main" id="{A9F4839F-97AB-4C53-A0A2-4C2D7E94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6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B123B90A-BB74-4C09-B155-4491E07F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6-10-06 / 15">
            <a:extLst xmlns:a="http://schemas.openxmlformats.org/drawingml/2006/main">
              <a:ext uri="{FF2B5EF4-FFF2-40B4-BE49-F238E27FC236}">
                <a16:creationId xmlns:a16="http://schemas.microsoft.com/office/drawing/2014/main" id="{2FB82403-45F3-417B-AB0F-6E0CD1CE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06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9F3B1-A9BB-44C7-9E81-CEF3FCF819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edf2c4ce1485c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6-12">
            <a:extLst xmlns:a="http://schemas.openxmlformats.org/drawingml/2006/main">
              <a:ext uri="{FF2B5EF4-FFF2-40B4-BE49-F238E27FC236}">
                <a16:creationId xmlns:a16="http://schemas.microsoft.com/office/drawing/2014/main" id="{516437B6-808E-4598-AFE5-1181FEAE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057275"/>
            <a:ext cx="3943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6-13-机制概念 · 非真实 AI 生成结果">
            <a:extLst xmlns:a="http://schemas.openxmlformats.org/drawingml/2006/main">
              <a:ext uri="{FF2B5EF4-FFF2-40B4-BE49-F238E27FC236}">
                <a16:creationId xmlns:a16="http://schemas.microsoft.com/office/drawing/2014/main" id="{137E96E3-FCD4-4933-9710-2CFFC027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04900"/>
            <a:ext cx="37147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机制概念 · 非真实 AI 生成结果</a:t>
            </a:r>
          </a:p>
        </p:txBody>
      </p:sp>
      <p:sp>
        <p:nvSpPr>
          <p:cNvPr id="15" name="p6-14">
            <a:extLst xmlns:a="http://schemas.openxmlformats.org/drawingml/2006/main">
              <a:ext uri="{FF2B5EF4-FFF2-40B4-BE49-F238E27FC236}">
                <a16:creationId xmlns:a16="http://schemas.microsoft.com/office/drawing/2014/main" id="{08F5ACFF-7B4E-48BD-B6BD-19B66C61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4675"/>
            <a:ext cx="3448050" cy="317182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6" name="p6-15-用户的想法">
            <a:extLst xmlns:a="http://schemas.openxmlformats.org/drawingml/2006/main">
              <a:ext uri="{FF2B5EF4-FFF2-40B4-BE49-F238E27FC236}">
                <a16:creationId xmlns:a16="http://schemas.microsoft.com/office/drawing/2014/main" id="{F4E09400-C65A-4EEF-92ED-89398089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85750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用户的想法</a:t>
            </a:r>
          </a:p>
        </p:txBody>
      </p:sp>
      <p:sp>
        <p:nvSpPr>
          <p:cNvPr id="17" name="p6-16-“我想记录学习计划，">
            <a:extLst xmlns:a="http://schemas.openxmlformats.org/drawingml/2006/main">
              <a:ext uri="{FF2B5EF4-FFF2-40B4-BE49-F238E27FC236}">
                <a16:creationId xmlns:a16="http://schemas.microsoft.com/office/drawing/2014/main" id="{00B51264-F9EE-4278-8E0E-E9AC4677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29075"/>
            <a:ext cx="297180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“我想记录学习计划，</a:t>
            </a:r>
          </a:p>
        </p:txBody>
      </p:sp>
      <p:sp>
        <p:nvSpPr>
          <p:cNvPr id="18" name="p6-17-并按周看看进度。”">
            <a:extLst xmlns:a="http://schemas.openxmlformats.org/drawingml/2006/main">
              <a:ext uri="{FF2B5EF4-FFF2-40B4-BE49-F238E27FC236}">
                <a16:creationId xmlns:a16="http://schemas.microsoft.com/office/drawing/2014/main" id="{94B88C5B-C7A3-4BBE-8EE4-4F0DA2B8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1411"/>
            <a:ext cx="297180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并按周看看进度。”</a:t>
            </a:r>
          </a:p>
        </p:txBody>
      </p:sp>
      <p:sp>
        <p:nvSpPr>
          <p:cNvPr id="19" name="p6-18-无需预先说出：">
            <a:extLst xmlns:a="http://schemas.openxmlformats.org/drawingml/2006/main">
              <a:ext uri="{FF2B5EF4-FFF2-40B4-BE49-F238E27FC236}">
                <a16:creationId xmlns:a16="http://schemas.microsoft.com/office/drawing/2014/main" id="{C4529EC0-103E-4EA8-A312-D1E87CC0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86375"/>
            <a:ext cx="291465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无需预先说出：</a:t>
            </a:r>
          </a:p>
        </p:txBody>
      </p:sp>
      <p:sp>
        <p:nvSpPr>
          <p:cNvPr id="20" name="p6-19-数据模型、组件树或 API">
            <a:extLst xmlns:a="http://schemas.openxmlformats.org/drawingml/2006/main">
              <a:ext uri="{FF2B5EF4-FFF2-40B4-BE49-F238E27FC236}">
                <a16:creationId xmlns:a16="http://schemas.microsoft.com/office/drawing/2014/main" id="{9AD10BFC-E2A9-40BD-8BF1-91C136E9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5554"/>
            <a:ext cx="291465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数据模型、组件树或 API</a:t>
            </a:r>
          </a:p>
        </p:txBody>
      </p:sp>
      <p:sp>
        <p:nvSpPr>
          <p:cNvPr id="21" name="p6-20-→">
            <a:extLst xmlns:a="http://schemas.openxmlformats.org/drawingml/2006/main">
              <a:ext uri="{FF2B5EF4-FFF2-40B4-BE49-F238E27FC236}">
                <a16:creationId xmlns:a16="http://schemas.microsoft.com/office/drawing/2014/main" id="{81C256FE-4178-4312-AB6E-442F7B34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48175"/>
            <a:ext cx="59055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22" name="p6-21">
            <a:extLst xmlns:a="http://schemas.openxmlformats.org/drawingml/2006/main">
              <a:ext uri="{FF2B5EF4-FFF2-40B4-BE49-F238E27FC236}">
                <a16:creationId xmlns:a16="http://schemas.microsoft.com/office/drawing/2014/main" id="{E0A20267-D3FD-4891-9885-83B28290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62275"/>
            <a:ext cx="4638675" cy="3476625"/>
          </a:xfrm>
          <a:prstGeom xmlns:a="http://schemas.openxmlformats.org/drawingml/2006/main" prst="roundRect">
            <a:avLst>
              <a:gd name="adj" fmla="val 6575"/>
            </a:avLst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F7617-513E-46FD-8D7F-26C8CF49B5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861126fe84d17"/>
          <a:stretch xmlns:a="http://schemas.openxmlformats.org/drawingml/2006/main"/>
        </p:blipFill>
        <p:spPr>
          <a:xfrm xmlns:a="http://schemas.openxmlformats.org/drawingml/2006/main">
            <a:off x="6619875" y="3192534"/>
            <a:ext cx="1209675" cy="1082532"/>
          </a:xfrm>
          <a:prstGeom xmlns:a="http://schemas.openxmlformats.org/drawingml/2006/main" prst="rect">
            <a:avLst/>
          </a:prstGeom>
        </p:spPr>
      </p:pic>
      <p:sp>
        <p:nvSpPr>
          <p:cNvPr id="24" name="p6-23-Mochi 的模块规划">
            <a:extLst xmlns:a="http://schemas.openxmlformats.org/drawingml/2006/main">
              <a:ext uri="{FF2B5EF4-FFF2-40B4-BE49-F238E27FC236}">
                <a16:creationId xmlns:a16="http://schemas.microsoft.com/office/drawing/2014/main" id="{E3AA13F7-B299-491F-8C66-11015797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486275"/>
            <a:ext cx="401955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Mochi 的模块规划</a:t>
            </a:r>
          </a:p>
        </p:txBody>
      </p:sp>
      <p:sp>
        <p:nvSpPr>
          <p:cNvPr id="25" name="p6-24-01">
            <a:extLst xmlns:a="http://schemas.openxmlformats.org/drawingml/2006/main">
              <a:ext uri="{FF2B5EF4-FFF2-40B4-BE49-F238E27FC236}">
                <a16:creationId xmlns:a16="http://schemas.microsoft.com/office/drawing/2014/main" id="{03EF4B3C-5709-4345-B0B1-B957A7B8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095875"/>
            <a:ext cx="38100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sp>
        <p:nvSpPr>
          <p:cNvPr id="26" name="p6-25-理解目标与使用方式">
            <a:extLst xmlns:a="http://schemas.openxmlformats.org/drawingml/2006/main">
              <a:ext uri="{FF2B5EF4-FFF2-40B4-BE49-F238E27FC236}">
                <a16:creationId xmlns:a16="http://schemas.microsoft.com/office/drawing/2014/main" id="{A8D275F0-00F9-491F-B687-CE6C3377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48250"/>
            <a:ext cx="33813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理解目标与使用方式</a:t>
            </a:r>
          </a:p>
        </p:txBody>
      </p:sp>
      <p:sp>
        <p:nvSpPr>
          <p:cNvPr id="27" name="p6-26-02">
            <a:extLst xmlns:a="http://schemas.openxmlformats.org/drawingml/2006/main">
              <a:ext uri="{FF2B5EF4-FFF2-40B4-BE49-F238E27FC236}">
                <a16:creationId xmlns:a16="http://schemas.microsoft.com/office/drawing/2014/main" id="{BAB226F0-9267-4313-9A80-F3688904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495925"/>
            <a:ext cx="38100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02</a:t>
            </a:r>
          </a:p>
        </p:txBody>
      </p:sp>
      <p:sp>
        <p:nvSpPr>
          <p:cNvPr id="28" name="p6-27-推荐模块及其关系">
            <a:extLst xmlns:a="http://schemas.openxmlformats.org/drawingml/2006/main">
              <a:ext uri="{FF2B5EF4-FFF2-40B4-BE49-F238E27FC236}">
                <a16:creationId xmlns:a16="http://schemas.microsoft.com/office/drawing/2014/main" id="{10FEAF96-E41D-4C27-8583-567BC316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448300"/>
            <a:ext cx="33813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推荐模块及其关系</a:t>
            </a:r>
          </a:p>
        </p:txBody>
      </p:sp>
      <p:sp>
        <p:nvSpPr>
          <p:cNvPr id="29" name="p6-28-03">
            <a:extLst xmlns:a="http://schemas.openxmlformats.org/drawingml/2006/main">
              <a:ext uri="{FF2B5EF4-FFF2-40B4-BE49-F238E27FC236}">
                <a16:creationId xmlns:a16="http://schemas.microsoft.com/office/drawing/2014/main" id="{42AEE4ED-6633-44D2-96A1-3B853E7D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895975"/>
            <a:ext cx="38100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03</a:t>
            </a:r>
          </a:p>
        </p:txBody>
      </p:sp>
      <p:sp>
        <p:nvSpPr>
          <p:cNvPr id="30" name="p6-29-解释用途，交给用户确认">
            <a:extLst xmlns:a="http://schemas.openxmlformats.org/drawingml/2006/main">
              <a:ext uri="{FF2B5EF4-FFF2-40B4-BE49-F238E27FC236}">
                <a16:creationId xmlns:a16="http://schemas.microsoft.com/office/drawing/2014/main" id="{AB567C96-58ED-481D-A39E-7E4C4264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848350"/>
            <a:ext cx="33813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解释用途，交给用户确认</a:t>
            </a:r>
          </a:p>
        </p:txBody>
      </p:sp>
      <p:sp>
        <p:nvSpPr>
          <p:cNvPr id="31" name="p6-30-→">
            <a:extLst xmlns:a="http://schemas.openxmlformats.org/drawingml/2006/main">
              <a:ext uri="{FF2B5EF4-FFF2-40B4-BE49-F238E27FC236}">
                <a16:creationId xmlns:a16="http://schemas.microsoft.com/office/drawing/2014/main" id="{DD875F65-432A-4700-995E-285064BF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448175"/>
            <a:ext cx="59055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32" name="p6-31">
            <a:extLst xmlns:a="http://schemas.openxmlformats.org/drawingml/2006/main">
              <a:ext uri="{FF2B5EF4-FFF2-40B4-BE49-F238E27FC236}">
                <a16:creationId xmlns:a16="http://schemas.microsoft.com/office/drawing/2014/main" id="{0D330FFD-69AC-4DB5-AD7F-67BB2B0E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95275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6-32">
            <a:extLst xmlns:a="http://schemas.openxmlformats.org/drawingml/2006/main">
              <a:ext uri="{FF2B5EF4-FFF2-40B4-BE49-F238E27FC236}">
                <a16:creationId xmlns:a16="http://schemas.microsoft.com/office/drawing/2014/main" id="{C72329C7-1A7B-46A8-9447-EA773F5F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295275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6-33">
            <a:extLst xmlns:a="http://schemas.openxmlformats.org/drawingml/2006/main">
              <a:ext uri="{FF2B5EF4-FFF2-40B4-BE49-F238E27FC236}">
                <a16:creationId xmlns:a16="http://schemas.microsoft.com/office/drawing/2014/main" id="{82EBF65B-1C02-46C0-B541-6345B7C6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48000"/>
            <a:ext cx="41148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6-34">
            <a:extLst xmlns:a="http://schemas.openxmlformats.org/drawingml/2006/main">
              <a:ext uri="{FF2B5EF4-FFF2-40B4-BE49-F238E27FC236}">
                <a16:creationId xmlns:a16="http://schemas.microsoft.com/office/drawing/2014/main" id="{56DF0FE0-546B-4D6C-A668-6271D293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19450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6" name="p6-35">
            <a:extLst xmlns:a="http://schemas.openxmlformats.org/drawingml/2006/main">
              <a:ext uri="{FF2B5EF4-FFF2-40B4-BE49-F238E27FC236}">
                <a16:creationId xmlns:a16="http://schemas.microsoft.com/office/drawing/2014/main" id="{727F80E0-BD6D-42A0-95C1-F9AA9479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768" y="3240024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6-36">
            <a:extLst xmlns:a="http://schemas.openxmlformats.org/drawingml/2006/main">
              <a:ext uri="{FF2B5EF4-FFF2-40B4-BE49-F238E27FC236}">
                <a16:creationId xmlns:a16="http://schemas.microsoft.com/office/drawing/2014/main" id="{800CD008-4FF8-483E-B060-8E344987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99174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8" name="p6-37">
            <a:extLst xmlns:a="http://schemas.openxmlformats.org/drawingml/2006/main">
              <a:ext uri="{FF2B5EF4-FFF2-40B4-BE49-F238E27FC236}">
                <a16:creationId xmlns:a16="http://schemas.microsoft.com/office/drawing/2014/main" id="{5185BAB9-F101-463D-AC1D-C3845E83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768" y="3319748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6-38">
            <a:extLst xmlns:a="http://schemas.openxmlformats.org/drawingml/2006/main">
              <a:ext uri="{FF2B5EF4-FFF2-40B4-BE49-F238E27FC236}">
                <a16:creationId xmlns:a16="http://schemas.microsoft.com/office/drawing/2014/main" id="{29648726-82DE-448F-A128-306CE528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78899"/>
            <a:ext cx="51435" cy="5143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0" name="p6-39">
            <a:extLst xmlns:a="http://schemas.openxmlformats.org/drawingml/2006/main">
              <a:ext uri="{FF2B5EF4-FFF2-40B4-BE49-F238E27FC236}">
                <a16:creationId xmlns:a16="http://schemas.microsoft.com/office/drawing/2014/main" id="{CB28EAE9-1876-4C8B-B9E6-C35206A4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768" y="3399473"/>
            <a:ext cx="14916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6-40-学习计划">
            <a:extLst xmlns:a="http://schemas.openxmlformats.org/drawingml/2006/main">
              <a:ext uri="{FF2B5EF4-FFF2-40B4-BE49-F238E27FC236}">
                <a16:creationId xmlns:a16="http://schemas.microsoft.com/office/drawing/2014/main" id="{E55C23E1-7A9A-47BD-AAD1-EF070044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600450"/>
            <a:ext cx="377190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学习计划</a:t>
            </a:r>
          </a:p>
        </p:txBody>
      </p:sp>
      <p:sp>
        <p:nvSpPr>
          <p:cNvPr id="42" name="p6-41-安排事项与时间">
            <a:extLst xmlns:a="http://schemas.openxmlformats.org/drawingml/2006/main">
              <a:ext uri="{FF2B5EF4-FFF2-40B4-BE49-F238E27FC236}">
                <a16:creationId xmlns:a16="http://schemas.microsoft.com/office/drawing/2014/main" id="{6D00A9C6-F9AA-4D13-9CCA-8F78CAE9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600450"/>
            <a:ext cx="19431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安排事项与时间</a:t>
            </a:r>
          </a:p>
        </p:txBody>
      </p:sp>
      <p:sp>
        <p:nvSpPr>
          <p:cNvPr id="43" name="p6-42">
            <a:extLst xmlns:a="http://schemas.openxmlformats.org/drawingml/2006/main">
              <a:ext uri="{FF2B5EF4-FFF2-40B4-BE49-F238E27FC236}">
                <a16:creationId xmlns:a16="http://schemas.microsoft.com/office/drawing/2014/main" id="{27A6F55B-2D8D-4086-819F-C17D0C46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124325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6-43">
            <a:extLst xmlns:a="http://schemas.openxmlformats.org/drawingml/2006/main">
              <a:ext uri="{FF2B5EF4-FFF2-40B4-BE49-F238E27FC236}">
                <a16:creationId xmlns:a16="http://schemas.microsoft.com/office/drawing/2014/main" id="{F7A85795-EA9A-46E8-8762-28F0030C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4124325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6-44">
            <a:extLst xmlns:a="http://schemas.openxmlformats.org/drawingml/2006/main">
              <a:ext uri="{FF2B5EF4-FFF2-40B4-BE49-F238E27FC236}">
                <a16:creationId xmlns:a16="http://schemas.microsoft.com/office/drawing/2014/main" id="{E312AB13-DE01-4E02-B785-1C1BEB5C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219575"/>
            <a:ext cx="41148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6-45">
            <a:extLst xmlns:a="http://schemas.openxmlformats.org/drawingml/2006/main">
              <a:ext uri="{FF2B5EF4-FFF2-40B4-BE49-F238E27FC236}">
                <a16:creationId xmlns:a16="http://schemas.microsoft.com/office/drawing/2014/main" id="{CF169E27-B692-46A7-A848-A4B9FF0F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391025"/>
            <a:ext cx="218599" cy="257175"/>
          </a:xfrm>
          <a:prstGeom xmlns:a="http://schemas.openxmlformats.org/drawingml/2006/main" prst="roundRect">
            <a:avLst>
              <a:gd name="adj" fmla="val 2178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7" name="p6-46">
            <a:extLst xmlns:a="http://schemas.openxmlformats.org/drawingml/2006/main">
              <a:ext uri="{FF2B5EF4-FFF2-40B4-BE49-F238E27FC236}">
                <a16:creationId xmlns:a16="http://schemas.microsoft.com/office/drawing/2014/main" id="{294D9FC3-4DE9-4336-B1CC-0CF70245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620" y="4447604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6-47">
            <a:extLst xmlns:a="http://schemas.openxmlformats.org/drawingml/2006/main">
              <a:ext uri="{FF2B5EF4-FFF2-40B4-BE49-F238E27FC236}">
                <a16:creationId xmlns:a16="http://schemas.microsoft.com/office/drawing/2014/main" id="{03B8B00E-558A-4230-9119-5041E91C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620" y="4506754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6-48">
            <a:extLst xmlns:a="http://schemas.openxmlformats.org/drawingml/2006/main">
              <a:ext uri="{FF2B5EF4-FFF2-40B4-BE49-F238E27FC236}">
                <a16:creationId xmlns:a16="http://schemas.microsoft.com/office/drawing/2014/main" id="{7AED435C-D47E-4157-BD78-C9180AC6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620" y="4565904"/>
            <a:ext cx="1337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6-49-学习记录">
            <a:extLst xmlns:a="http://schemas.openxmlformats.org/drawingml/2006/main">
              <a:ext uri="{FF2B5EF4-FFF2-40B4-BE49-F238E27FC236}">
                <a16:creationId xmlns:a16="http://schemas.microsoft.com/office/drawing/2014/main" id="{BF9C30B1-1F72-4C1F-9D31-0D8A2513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772025"/>
            <a:ext cx="377190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学习记录</a:t>
            </a:r>
          </a:p>
        </p:txBody>
      </p:sp>
      <p:sp>
        <p:nvSpPr>
          <p:cNvPr id="51" name="p6-50-留下每次学习内容">
            <a:extLst xmlns:a="http://schemas.openxmlformats.org/drawingml/2006/main">
              <a:ext uri="{FF2B5EF4-FFF2-40B4-BE49-F238E27FC236}">
                <a16:creationId xmlns:a16="http://schemas.microsoft.com/office/drawing/2014/main" id="{F10CDCCF-14DB-43A4-9583-86FD5A08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772025"/>
            <a:ext cx="19431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留下每次学习内容</a:t>
            </a:r>
          </a:p>
        </p:txBody>
      </p:sp>
      <p:sp>
        <p:nvSpPr>
          <p:cNvPr id="52" name="p6-51">
            <a:extLst xmlns:a="http://schemas.openxmlformats.org/drawingml/2006/main">
              <a:ext uri="{FF2B5EF4-FFF2-40B4-BE49-F238E27FC236}">
                <a16:creationId xmlns:a16="http://schemas.microsoft.com/office/drawing/2014/main" id="{4196A09F-EA3C-4DAA-8E15-F6204DE3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29590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6-52">
            <a:extLst xmlns:a="http://schemas.openxmlformats.org/drawingml/2006/main">
              <a:ext uri="{FF2B5EF4-FFF2-40B4-BE49-F238E27FC236}">
                <a16:creationId xmlns:a16="http://schemas.microsoft.com/office/drawing/2014/main" id="{CDC6F351-8A8E-4AA2-97FF-51472B57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529590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6-53">
            <a:extLst xmlns:a="http://schemas.openxmlformats.org/drawingml/2006/main">
              <a:ext uri="{FF2B5EF4-FFF2-40B4-BE49-F238E27FC236}">
                <a16:creationId xmlns:a16="http://schemas.microsoft.com/office/drawing/2014/main" id="{BB408322-CBCF-41C6-B44E-91421BD6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91150"/>
            <a:ext cx="41148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6-54">
            <a:extLst xmlns:a="http://schemas.openxmlformats.org/drawingml/2006/main">
              <a:ext uri="{FF2B5EF4-FFF2-40B4-BE49-F238E27FC236}">
                <a16:creationId xmlns:a16="http://schemas.microsoft.com/office/drawing/2014/main" id="{4A6F0AD9-E09E-4061-9B0F-F0A3AA74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716905"/>
            <a:ext cx="51435" cy="1028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6-55">
            <a:extLst xmlns:a="http://schemas.openxmlformats.org/drawingml/2006/main">
              <a:ext uri="{FF2B5EF4-FFF2-40B4-BE49-F238E27FC236}">
                <a16:creationId xmlns:a16="http://schemas.microsoft.com/office/drawing/2014/main" id="{E422C281-7A71-41C2-BD63-2E4D7443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2196" y="5644896"/>
            <a:ext cx="51435" cy="17487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6-56">
            <a:extLst xmlns:a="http://schemas.openxmlformats.org/drawingml/2006/main">
              <a:ext uri="{FF2B5EF4-FFF2-40B4-BE49-F238E27FC236}">
                <a16:creationId xmlns:a16="http://schemas.microsoft.com/office/drawing/2014/main" id="{23AD6F01-C26D-470B-A3A1-0C559097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4492" y="5583174"/>
            <a:ext cx="51435" cy="23660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6-57-进度回顾">
            <a:extLst xmlns:a="http://schemas.openxmlformats.org/drawingml/2006/main">
              <a:ext uri="{FF2B5EF4-FFF2-40B4-BE49-F238E27FC236}">
                <a16:creationId xmlns:a16="http://schemas.microsoft.com/office/drawing/2014/main" id="{C25E065D-206C-4B46-B56A-281EC10C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943600"/>
            <a:ext cx="377190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进度回顾</a:t>
            </a:r>
          </a:p>
        </p:txBody>
      </p:sp>
      <p:sp>
        <p:nvSpPr>
          <p:cNvPr id="59" name="p6-58-查看阶段性反馈">
            <a:extLst xmlns:a="http://schemas.openxmlformats.org/drawingml/2006/main">
              <a:ext uri="{FF2B5EF4-FFF2-40B4-BE49-F238E27FC236}">
                <a16:creationId xmlns:a16="http://schemas.microsoft.com/office/drawing/2014/main" id="{5144734E-3597-4F59-986A-C25F5EEE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5943600"/>
            <a:ext cx="19431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查看阶段性反馈</a:t>
            </a:r>
          </a:p>
        </p:txBody>
      </p:sp>
      <p:sp>
        <p:nvSpPr>
          <p:cNvPr id="60" name="p6-59">
            <a:extLst xmlns:a="http://schemas.openxmlformats.org/drawingml/2006/main">
              <a:ext uri="{FF2B5EF4-FFF2-40B4-BE49-F238E27FC236}">
                <a16:creationId xmlns:a16="http://schemas.microsoft.com/office/drawing/2014/main" id="{573B74FA-ED4E-4ACE-B11B-7E3285AD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96100"/>
            <a:ext cx="443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6-60-可理解">
            <a:extLst xmlns:a="http://schemas.openxmlformats.org/drawingml/2006/main">
              <a:ext uri="{FF2B5EF4-FFF2-40B4-BE49-F238E27FC236}">
                <a16:creationId xmlns:a16="http://schemas.microsoft.com/office/drawing/2014/main" id="{F871A43D-D337-4A91-9DD8-D4F12CFE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77075"/>
            <a:ext cx="123825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可理解</a:t>
            </a:r>
          </a:p>
        </p:txBody>
      </p:sp>
      <p:sp>
        <p:nvSpPr>
          <p:cNvPr id="62" name="p6-61-把抽象需求变成具体模块">
            <a:extLst xmlns:a="http://schemas.openxmlformats.org/drawingml/2006/main">
              <a:ext uri="{FF2B5EF4-FFF2-40B4-BE49-F238E27FC236}">
                <a16:creationId xmlns:a16="http://schemas.microsoft.com/office/drawing/2014/main" id="{5524FEDE-749A-4128-AAA4-A1C7FFCB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7096125"/>
            <a:ext cx="3095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把抽象需求变成具体模块</a:t>
            </a:r>
          </a:p>
        </p:txBody>
      </p:sp>
      <p:sp>
        <p:nvSpPr>
          <p:cNvPr id="63" name="p6-62">
            <a:extLst xmlns:a="http://schemas.openxmlformats.org/drawingml/2006/main">
              <a:ext uri="{FF2B5EF4-FFF2-40B4-BE49-F238E27FC236}">
                <a16:creationId xmlns:a16="http://schemas.microsoft.com/office/drawing/2014/main" id="{A8776323-89D6-403D-9A34-93002FC9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6896100"/>
            <a:ext cx="443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6-63-可控制">
            <a:extLst xmlns:a="http://schemas.openxmlformats.org/drawingml/2006/main">
              <a:ext uri="{FF2B5EF4-FFF2-40B4-BE49-F238E27FC236}">
                <a16:creationId xmlns:a16="http://schemas.microsoft.com/office/drawing/2014/main" id="{0948F0F1-B49A-417F-A96F-2F15AF7B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7077075"/>
            <a:ext cx="123825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可控制</a:t>
            </a:r>
          </a:p>
        </p:txBody>
      </p:sp>
      <p:sp>
        <p:nvSpPr>
          <p:cNvPr id="65" name="p6-64-以选中的积木限定修改范围">
            <a:extLst xmlns:a="http://schemas.openxmlformats.org/drawingml/2006/main">
              <a:ext uri="{FF2B5EF4-FFF2-40B4-BE49-F238E27FC236}">
                <a16:creationId xmlns:a16="http://schemas.microsoft.com/office/drawing/2014/main" id="{9DB09D3D-F4FF-4201-8613-CA6955F2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096125"/>
            <a:ext cx="3095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以选中的积木限定修改范围</a:t>
            </a:r>
          </a:p>
        </p:txBody>
      </p:sp>
      <p:sp>
        <p:nvSpPr>
          <p:cNvPr id="66" name="p6-65">
            <a:extLst xmlns:a="http://schemas.openxmlformats.org/drawingml/2006/main">
              <a:ext uri="{FF2B5EF4-FFF2-40B4-BE49-F238E27FC236}">
                <a16:creationId xmlns:a16="http://schemas.microsoft.com/office/drawing/2014/main" id="{74D42151-2627-4A48-B362-00493C03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896100"/>
            <a:ext cx="443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6-66-可演进">
            <a:extLst xmlns:a="http://schemas.openxmlformats.org/drawingml/2006/main">
              <a:ext uri="{FF2B5EF4-FFF2-40B4-BE49-F238E27FC236}">
                <a16:creationId xmlns:a16="http://schemas.microsoft.com/office/drawing/2014/main" id="{75858249-1B5E-4E4B-8899-4FFC3A84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077075"/>
            <a:ext cx="123825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可演进</a:t>
            </a:r>
          </a:p>
        </p:txBody>
      </p:sp>
      <p:sp>
        <p:nvSpPr>
          <p:cNvPr id="68" name="p6-67-保留项目，再逐步加入能力">
            <a:extLst xmlns:a="http://schemas.openxmlformats.org/drawingml/2006/main">
              <a:ext uri="{FF2B5EF4-FFF2-40B4-BE49-F238E27FC236}">
                <a16:creationId xmlns:a16="http://schemas.microsoft.com/office/drawing/2014/main" id="{DBFDE1A9-C8BD-4A22-B9A9-FEEB16B6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7096125"/>
            <a:ext cx="309562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保留项目，再逐步加入能力</a:t>
            </a:r>
          </a:p>
        </p:txBody>
      </p:sp>
      <p:sp>
        <p:nvSpPr>
          <p:cNvPr id="69" name="p6-68-差异化主张需通过零基础用户测试验证；当前">
            <a:extLst xmlns:a="http://schemas.openxmlformats.org/drawingml/2006/main">
              <a:ext uri="{FF2B5EF4-FFF2-40B4-BE49-F238E27FC236}">
                <a16:creationId xmlns:a16="http://schemas.microsoft.com/office/drawing/2014/main" id="{62A34308-9BD4-4E2E-93CD-4BD0810D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差异化主张需通过零基础用户测试验证；当前模块规划展示为概念，不代表生产 Provider 已返回这些结果。</a:t>
            </a:r>
          </a:p>
        </p:txBody>
      </p:sp>
    </p:spTree>
    <p:extLst>
      <p:ext uri="{BB962C8B-B14F-4D97-AF65-F5344CB8AC3E}">
        <p14:creationId xmlns:p14="http://schemas.microsoft.com/office/powerpoint/2010/main" val="2651402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p7-0">
            <a:extLst xmlns:a="http://schemas.openxmlformats.org/drawingml/2006/main">
              <a:ext uri="{FF2B5EF4-FFF2-40B4-BE49-F238E27FC236}">
                <a16:creationId xmlns:a16="http://schemas.microsoft.com/office/drawing/2014/main" id="{285FB983-3E08-4767-AD59-ED4C3BEA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7-1">
            <a:extLst xmlns:a="http://schemas.openxmlformats.org/drawingml/2006/main">
              <a:ext uri="{FF2B5EF4-FFF2-40B4-BE49-F238E27FC236}">
                <a16:creationId xmlns:a16="http://schemas.microsoft.com/office/drawing/2014/main" id="{7981E431-C4F2-4B9D-AE32-8817758D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7-2">
            <a:extLst xmlns:a="http://schemas.openxmlformats.org/drawingml/2006/main">
              <a:ext uri="{FF2B5EF4-FFF2-40B4-BE49-F238E27FC236}">
                <a16:creationId xmlns:a16="http://schemas.microsoft.com/office/drawing/2014/main" id="{4EEE1918-5B3B-43D5-AFC8-6A060CF4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7-3">
            <a:extLst xmlns:a="http://schemas.openxmlformats.org/drawingml/2006/main">
              <a:ext uri="{FF2B5EF4-FFF2-40B4-BE49-F238E27FC236}">
                <a16:creationId xmlns:a16="http://schemas.microsoft.com/office/drawing/2014/main" id="{3C4AD5A3-6364-4A9A-AC52-3A81AED2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7-4-BlockCraft AI">
            <a:extLst xmlns:a="http://schemas.openxmlformats.org/drawingml/2006/main">
              <a:ext uri="{FF2B5EF4-FFF2-40B4-BE49-F238E27FC236}">
                <a16:creationId xmlns:a16="http://schemas.microsoft.com/office/drawing/2014/main" id="{C7814C3B-41B1-40FE-A1BF-F632AB65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7-5-06 / MOCHI">
            <a:extLst xmlns:a="http://schemas.openxmlformats.org/drawingml/2006/main">
              <a:ext uri="{FF2B5EF4-FFF2-40B4-BE49-F238E27FC236}">
                <a16:creationId xmlns:a16="http://schemas.microsoft.com/office/drawing/2014/main" id="{391C5C00-9777-460D-A6EE-EDD30004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06 / MOCHI</a:t>
            </a:r>
          </a:p>
        </p:txBody>
      </p:sp>
      <p:sp>
        <p:nvSpPr>
          <p:cNvPr id="7" name="p7-6-Mochi，贯穿创造过程的伙伴">
            <a:extLst xmlns:a="http://schemas.openxmlformats.org/drawingml/2006/main">
              <a:ext uri="{FF2B5EF4-FFF2-40B4-BE49-F238E27FC236}">
                <a16:creationId xmlns:a16="http://schemas.microsoft.com/office/drawing/2014/main" id="{CCCC2B8A-ACE7-4DE7-8499-AAAD84A6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Mochi，贯穿创造过程的伙伴</a:t>
            </a:r>
          </a:p>
        </p:txBody>
      </p:sp>
      <p:sp>
        <p:nvSpPr>
          <p:cNvPr id="8" name="p7-7-从“我想做什么”，陪用户走向“这个软件更">
            <a:extLst xmlns:a="http://schemas.openxmlformats.org/drawingml/2006/main">
              <a:ext uri="{FF2B5EF4-FFF2-40B4-BE49-F238E27FC236}">
                <a16:creationId xmlns:a16="http://schemas.microsoft.com/office/drawing/2014/main" id="{E8C6701D-DF46-4F5F-9EB7-882D3858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从“我想做什么”，陪用户走向“这个软件更适合我了”。</a:t>
            </a:r>
          </a:p>
        </p:txBody>
      </p:sp>
      <p:sp>
        <p:nvSpPr>
          <p:cNvPr id="9" name="p7-8">
            <a:extLst xmlns:a="http://schemas.openxmlformats.org/drawingml/2006/main">
              <a:ext uri="{FF2B5EF4-FFF2-40B4-BE49-F238E27FC236}">
                <a16:creationId xmlns:a16="http://schemas.microsoft.com/office/drawing/2014/main" id="{1B4B9009-D3AC-458B-B6DF-0EC71590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7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0D587097-B035-47F2-A669-227F6EFA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7-10-07 / 15">
            <a:extLst xmlns:a="http://schemas.openxmlformats.org/drawingml/2006/main">
              <a:ext uri="{FF2B5EF4-FFF2-40B4-BE49-F238E27FC236}">
                <a16:creationId xmlns:a16="http://schemas.microsoft.com/office/drawing/2014/main" id="{8E9DCB80-472E-4B73-B520-4C847476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07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26CAE-ACB1-4CF9-9364-D0E3E44392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2936c2c354a4d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7-12">
            <a:extLst xmlns:a="http://schemas.openxmlformats.org/drawingml/2006/main">
              <a:ext uri="{FF2B5EF4-FFF2-40B4-BE49-F238E27FC236}">
                <a16:creationId xmlns:a16="http://schemas.microsoft.com/office/drawing/2014/main" id="{30E765D7-AC4C-4CBF-9102-2E364395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4048125" cy="404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60CF4-13C3-4772-B599-640F284313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5f78d0e8b4a66"/>
          <a:stretch xmlns:a="http://schemas.openxmlformats.org/drawingml/2006/main"/>
        </p:blipFill>
        <p:spPr>
          <a:xfrm xmlns:a="http://schemas.openxmlformats.org/drawingml/2006/main">
            <a:off x="1381125" y="3351527"/>
            <a:ext cx="3419475" cy="3060071"/>
          </a:xfrm>
          <a:prstGeom xmlns:a="http://schemas.openxmlformats.org/drawingml/2006/main" prst="rect">
            <a:avLst/>
          </a:prstGeom>
        </p:spPr>
      </p:pic>
      <p:sp>
        <p:nvSpPr>
          <p:cNvPr id="15" name="p7-14-有反馈，也有方向感">
            <a:extLst xmlns:a="http://schemas.openxmlformats.org/drawingml/2006/main">
              <a:ext uri="{FF2B5EF4-FFF2-40B4-BE49-F238E27FC236}">
                <a16:creationId xmlns:a16="http://schemas.microsoft.com/office/drawing/2014/main" id="{C18BB218-4715-4FC4-B763-1A0ACDA3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72275"/>
            <a:ext cx="4286250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有反馈，也有方向感</a:t>
            </a:r>
          </a:p>
        </p:txBody>
      </p:sp>
      <p:sp>
        <p:nvSpPr>
          <p:cNvPr id="16" name="p7-15">
            <a:extLst xmlns:a="http://schemas.openxmlformats.org/drawingml/2006/main">
              <a:ext uri="{FF2B5EF4-FFF2-40B4-BE49-F238E27FC236}">
                <a16:creationId xmlns:a16="http://schemas.microsoft.com/office/drawing/2014/main" id="{89F959E0-4BAE-4FC8-9D49-2423EB26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914650"/>
            <a:ext cx="8848725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7" name="p7-16">
            <a:extLst xmlns:a="http://schemas.openxmlformats.org/drawingml/2006/main">
              <a:ext uri="{FF2B5EF4-FFF2-40B4-BE49-F238E27FC236}">
                <a16:creationId xmlns:a16="http://schemas.microsoft.com/office/drawing/2014/main" id="{3C983B96-E2EB-4284-947C-A56D0BDA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38475"/>
            <a:ext cx="52387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7-17-01">
            <a:extLst xmlns:a="http://schemas.openxmlformats.org/drawingml/2006/main">
              <a:ext uri="{FF2B5EF4-FFF2-40B4-BE49-F238E27FC236}">
                <a16:creationId xmlns:a16="http://schemas.microsoft.com/office/drawing/2014/main" id="{95ED4495-97A8-481C-9B56-BA032BA1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37147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sp>
        <p:nvSpPr>
          <p:cNvPr id="19" name="p7-18-需求理解伙伴">
            <a:extLst xmlns:a="http://schemas.openxmlformats.org/drawingml/2006/main">
              <a:ext uri="{FF2B5EF4-FFF2-40B4-BE49-F238E27FC236}">
                <a16:creationId xmlns:a16="http://schemas.microsoft.com/office/drawing/2014/main" id="{568C63EC-1342-4E22-984E-46C30E4E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48000"/>
            <a:ext cx="44767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需求理解伙伴</a:t>
            </a:r>
          </a:p>
        </p:txBody>
      </p:sp>
      <p:sp>
        <p:nvSpPr>
          <p:cNvPr id="20" name="p7-19-帮助澄清目标与使用情境">
            <a:extLst xmlns:a="http://schemas.openxmlformats.org/drawingml/2006/main">
              <a:ext uri="{FF2B5EF4-FFF2-40B4-BE49-F238E27FC236}">
                <a16:creationId xmlns:a16="http://schemas.microsoft.com/office/drawing/2014/main" id="{E4DF9B97-CEBA-494B-8447-0F267A3C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00425"/>
            <a:ext cx="52387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帮助澄清目标与使用情境</a:t>
            </a:r>
          </a:p>
        </p:txBody>
      </p:sp>
      <p:sp>
        <p:nvSpPr>
          <p:cNvPr id="21" name="p7-20-长期角色 · 规划中">
            <a:extLst xmlns:a="http://schemas.openxmlformats.org/drawingml/2006/main">
              <a:ext uri="{FF2B5EF4-FFF2-40B4-BE49-F238E27FC236}">
                <a16:creationId xmlns:a16="http://schemas.microsoft.com/office/drawing/2014/main" id="{30030395-6E7C-48E9-8EFC-4B06A2B4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3181350"/>
            <a:ext cx="285750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长期角色 · 规划中</a:t>
            </a:r>
          </a:p>
        </p:txBody>
      </p:sp>
      <p:sp>
        <p:nvSpPr>
          <p:cNvPr id="22" name="p7-21">
            <a:extLst xmlns:a="http://schemas.openxmlformats.org/drawingml/2006/main">
              <a:ext uri="{FF2B5EF4-FFF2-40B4-BE49-F238E27FC236}">
                <a16:creationId xmlns:a16="http://schemas.microsoft.com/office/drawing/2014/main" id="{ADE024EC-07DA-4808-A453-B1C18822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829050"/>
            <a:ext cx="8848725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3" name="p7-22">
            <a:extLst xmlns:a="http://schemas.openxmlformats.org/drawingml/2006/main">
              <a:ext uri="{FF2B5EF4-FFF2-40B4-BE49-F238E27FC236}">
                <a16:creationId xmlns:a16="http://schemas.microsoft.com/office/drawing/2014/main" id="{F47CEFF2-5944-45AD-A699-D0A00A37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952875"/>
            <a:ext cx="52387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7-23-02">
            <a:extLst xmlns:a="http://schemas.openxmlformats.org/drawingml/2006/main">
              <a:ext uri="{FF2B5EF4-FFF2-40B4-BE49-F238E27FC236}">
                <a16:creationId xmlns:a16="http://schemas.microsoft.com/office/drawing/2014/main" id="{D9BF797E-4624-44D8-8E94-D523DA8B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57650"/>
            <a:ext cx="37147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02</a:t>
            </a:r>
          </a:p>
        </p:txBody>
      </p:sp>
      <p:sp>
        <p:nvSpPr>
          <p:cNvPr id="25" name="p7-24-功能模块规划助手">
            <a:extLst xmlns:a="http://schemas.openxmlformats.org/drawingml/2006/main">
              <a:ext uri="{FF2B5EF4-FFF2-40B4-BE49-F238E27FC236}">
                <a16:creationId xmlns:a16="http://schemas.microsoft.com/office/drawing/2014/main" id="{98B8FF7C-0FF3-4C83-BF49-6BE27B75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62400"/>
            <a:ext cx="44767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功能模块规划助手</a:t>
            </a:r>
          </a:p>
        </p:txBody>
      </p:sp>
      <p:sp>
        <p:nvSpPr>
          <p:cNvPr id="26" name="p7-25-推荐功能结构，解释模块用途">
            <a:extLst xmlns:a="http://schemas.openxmlformats.org/drawingml/2006/main">
              <a:ext uri="{FF2B5EF4-FFF2-40B4-BE49-F238E27FC236}">
                <a16:creationId xmlns:a16="http://schemas.microsoft.com/office/drawing/2014/main" id="{606A0BE3-A0B0-4731-A1BC-47341111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14825"/>
            <a:ext cx="52387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推荐功能结构，解释模块用途</a:t>
            </a:r>
          </a:p>
        </p:txBody>
      </p:sp>
      <p:sp>
        <p:nvSpPr>
          <p:cNvPr id="27" name="p7-26-核心目标 · 规划中">
            <a:extLst xmlns:a="http://schemas.openxmlformats.org/drawingml/2006/main">
              <a:ext uri="{FF2B5EF4-FFF2-40B4-BE49-F238E27FC236}">
                <a16:creationId xmlns:a16="http://schemas.microsoft.com/office/drawing/2014/main" id="{219E2BD8-64D1-48EA-B692-72006D39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095750"/>
            <a:ext cx="285750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核心目标 · 规划中</a:t>
            </a:r>
          </a:p>
        </p:txBody>
      </p:sp>
      <p:sp>
        <p:nvSpPr>
          <p:cNvPr id="28" name="p7-27">
            <a:extLst xmlns:a="http://schemas.openxmlformats.org/drawingml/2006/main">
              <a:ext uri="{FF2B5EF4-FFF2-40B4-BE49-F238E27FC236}">
                <a16:creationId xmlns:a16="http://schemas.microsoft.com/office/drawing/2014/main" id="{84DE5A78-69C4-42E7-9CF8-12C91F71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743450"/>
            <a:ext cx="8848725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9" name="p7-28">
            <a:extLst xmlns:a="http://schemas.openxmlformats.org/drawingml/2006/main">
              <a:ext uri="{FF2B5EF4-FFF2-40B4-BE49-F238E27FC236}">
                <a16:creationId xmlns:a16="http://schemas.microsoft.com/office/drawing/2014/main" id="{AB6C7E79-017A-4322-B239-B51CD45B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867275"/>
            <a:ext cx="52387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7-29-03">
            <a:extLst xmlns:a="http://schemas.openxmlformats.org/drawingml/2006/main">
              <a:ext uri="{FF2B5EF4-FFF2-40B4-BE49-F238E27FC236}">
                <a16:creationId xmlns:a16="http://schemas.microsoft.com/office/drawing/2014/main" id="{193904F3-B26E-4F2E-9B37-ECCCAFE4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72050"/>
            <a:ext cx="37147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03</a:t>
            </a:r>
          </a:p>
        </p:txBody>
      </p:sp>
      <p:sp>
        <p:nvSpPr>
          <p:cNvPr id="31" name="p7-30-可视化开发引导者">
            <a:extLst xmlns:a="http://schemas.openxmlformats.org/drawingml/2006/main">
              <a:ext uri="{FF2B5EF4-FFF2-40B4-BE49-F238E27FC236}">
                <a16:creationId xmlns:a16="http://schemas.microsoft.com/office/drawing/2014/main" id="{7035E128-9804-43A5-A8C9-CA8103D5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76800"/>
            <a:ext cx="44767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可视化开发引导者</a:t>
            </a:r>
          </a:p>
        </p:txBody>
      </p:sp>
      <p:sp>
        <p:nvSpPr>
          <p:cNvPr id="32" name="p7-31-选中、拖动、保存等状态反馈">
            <a:extLst xmlns:a="http://schemas.openxmlformats.org/drawingml/2006/main">
              <a:ext uri="{FF2B5EF4-FFF2-40B4-BE49-F238E27FC236}">
                <a16:creationId xmlns:a16="http://schemas.microsoft.com/office/drawing/2014/main" id="{99AEB955-71A2-4548-A13C-1B2C0AAF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29225"/>
            <a:ext cx="52387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选中、拖动、保存等状态反馈</a:t>
            </a:r>
          </a:p>
        </p:txBody>
      </p:sp>
      <p:sp>
        <p:nvSpPr>
          <p:cNvPr id="33" name="p7-32-基础反馈已实现">
            <a:extLst xmlns:a="http://schemas.openxmlformats.org/drawingml/2006/main">
              <a:ext uri="{FF2B5EF4-FFF2-40B4-BE49-F238E27FC236}">
                <a16:creationId xmlns:a16="http://schemas.microsoft.com/office/drawing/2014/main" id="{A190493D-807F-4BA2-A680-5C5C05C9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010150"/>
            <a:ext cx="285750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基础反馈已实现</a:t>
            </a:r>
          </a:p>
        </p:txBody>
      </p:sp>
      <p:sp>
        <p:nvSpPr>
          <p:cNvPr id="34" name="p7-33">
            <a:extLst xmlns:a="http://schemas.openxmlformats.org/drawingml/2006/main">
              <a:ext uri="{FF2B5EF4-FFF2-40B4-BE49-F238E27FC236}">
                <a16:creationId xmlns:a16="http://schemas.microsoft.com/office/drawing/2014/main" id="{33E9FEED-F743-47F6-B499-C66552C5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657850"/>
            <a:ext cx="8848725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5" name="p7-34">
            <a:extLst xmlns:a="http://schemas.openxmlformats.org/drawingml/2006/main">
              <a:ext uri="{FF2B5EF4-FFF2-40B4-BE49-F238E27FC236}">
                <a16:creationId xmlns:a16="http://schemas.microsoft.com/office/drawing/2014/main" id="{1AD4DBC5-B20E-4110-8046-3EFC60D9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781675"/>
            <a:ext cx="52387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7-35-04">
            <a:extLst xmlns:a="http://schemas.openxmlformats.org/drawingml/2006/main">
              <a:ext uri="{FF2B5EF4-FFF2-40B4-BE49-F238E27FC236}">
                <a16:creationId xmlns:a16="http://schemas.microsoft.com/office/drawing/2014/main" id="{EFC67158-8380-4599-A1A7-3F618B24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886450"/>
            <a:ext cx="37147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04</a:t>
            </a:r>
          </a:p>
        </p:txBody>
      </p:sp>
      <p:sp>
        <p:nvSpPr>
          <p:cNvPr id="37" name="p7-36-局部修改 AI 助手">
            <a:extLst xmlns:a="http://schemas.openxmlformats.org/drawingml/2006/main">
              <a:ext uri="{FF2B5EF4-FFF2-40B4-BE49-F238E27FC236}">
                <a16:creationId xmlns:a16="http://schemas.microsoft.com/office/drawing/2014/main" id="{13AFE151-26DE-4618-9FB5-16BEF7E1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791200"/>
            <a:ext cx="44767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局部修改 AI 助手</a:t>
            </a:r>
          </a:p>
        </p:txBody>
      </p:sp>
      <p:sp>
        <p:nvSpPr>
          <p:cNvPr id="38" name="p7-37-限定范围，先看方案，再确认">
            <a:extLst xmlns:a="http://schemas.openxmlformats.org/drawingml/2006/main">
              <a:ext uri="{FF2B5EF4-FFF2-40B4-BE49-F238E27FC236}">
                <a16:creationId xmlns:a16="http://schemas.microsoft.com/office/drawing/2014/main" id="{12B6804F-DBEB-4953-B7FF-37E16909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143625"/>
            <a:ext cx="52387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限定范围，先看方案，再确认</a:t>
            </a:r>
          </a:p>
        </p:txBody>
      </p:sp>
      <p:sp>
        <p:nvSpPr>
          <p:cNvPr id="39" name="p7-38-受控链路离线验证">
            <a:extLst xmlns:a="http://schemas.openxmlformats.org/drawingml/2006/main">
              <a:ext uri="{FF2B5EF4-FFF2-40B4-BE49-F238E27FC236}">
                <a16:creationId xmlns:a16="http://schemas.microsoft.com/office/drawing/2014/main" id="{613168BC-81B1-4AE0-9091-9F99DD79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924550"/>
            <a:ext cx="285750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受控链路离线验证</a:t>
            </a:r>
          </a:p>
        </p:txBody>
      </p:sp>
      <p:sp>
        <p:nvSpPr>
          <p:cNvPr id="40" name="p7-39">
            <a:extLst xmlns:a="http://schemas.openxmlformats.org/drawingml/2006/main">
              <a:ext uri="{FF2B5EF4-FFF2-40B4-BE49-F238E27FC236}">
                <a16:creationId xmlns:a16="http://schemas.microsoft.com/office/drawing/2014/main" id="{EF986145-6A1C-4994-86A7-62FDF125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6572250"/>
            <a:ext cx="8848725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41" name="p7-40">
            <a:extLst xmlns:a="http://schemas.openxmlformats.org/drawingml/2006/main">
              <a:ext uri="{FF2B5EF4-FFF2-40B4-BE49-F238E27FC236}">
                <a16:creationId xmlns:a16="http://schemas.microsoft.com/office/drawing/2014/main" id="{B7A72C08-03CC-4F1B-B00C-6F133DC8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696075"/>
            <a:ext cx="52387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E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7-41-05">
            <a:extLst xmlns:a="http://schemas.openxmlformats.org/drawingml/2006/main">
              <a:ext uri="{FF2B5EF4-FFF2-40B4-BE49-F238E27FC236}">
                <a16:creationId xmlns:a16="http://schemas.microsoft.com/office/drawing/2014/main" id="{3AE38C80-0271-4771-8873-1C1DED44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800850"/>
            <a:ext cx="371475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05</a:t>
            </a:r>
          </a:p>
        </p:txBody>
      </p:sp>
      <p:sp>
        <p:nvSpPr>
          <p:cNvPr id="43" name="p7-42-主动建议的创造伙伴">
            <a:extLst xmlns:a="http://schemas.openxmlformats.org/drawingml/2006/main">
              <a:ext uri="{FF2B5EF4-FFF2-40B4-BE49-F238E27FC236}">
                <a16:creationId xmlns:a16="http://schemas.microsoft.com/office/drawing/2014/main" id="{F1036AEB-EF19-4FA2-94A6-B946CE93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705600"/>
            <a:ext cx="44767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主动建议的创造伙伴</a:t>
            </a:r>
          </a:p>
        </p:txBody>
      </p:sp>
      <p:sp>
        <p:nvSpPr>
          <p:cNvPr id="44" name="p7-43-在合适时机提出完善建议">
            <a:extLst xmlns:a="http://schemas.openxmlformats.org/drawingml/2006/main">
              <a:ext uri="{FF2B5EF4-FFF2-40B4-BE49-F238E27FC236}">
                <a16:creationId xmlns:a16="http://schemas.microsoft.com/office/drawing/2014/main" id="{400FFE15-F2CE-4197-853C-68B6CABF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7058025"/>
            <a:ext cx="52387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在合适时机提出完善建议</a:t>
            </a:r>
          </a:p>
        </p:txBody>
      </p:sp>
      <p:sp>
        <p:nvSpPr>
          <p:cNvPr id="45" name="p7-44-主动建议 · 规划中">
            <a:extLst xmlns:a="http://schemas.openxmlformats.org/drawingml/2006/main">
              <a:ext uri="{FF2B5EF4-FFF2-40B4-BE49-F238E27FC236}">
                <a16:creationId xmlns:a16="http://schemas.microsoft.com/office/drawing/2014/main" id="{A6933E8D-5E29-4EDD-9851-6D9BEBAB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838950"/>
            <a:ext cx="2857500" cy="256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42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主动建议 · 规划中</a:t>
            </a:r>
          </a:p>
        </p:txBody>
      </p:sp>
      <p:sp>
        <p:nvSpPr>
          <p:cNvPr id="46" name="p7-45-现有像素猫反馈不等于完整 AI 助手已上">
            <a:extLst xmlns:a="http://schemas.openxmlformats.org/drawingml/2006/main">
              <a:ext uri="{FF2B5EF4-FFF2-40B4-BE49-F238E27FC236}">
                <a16:creationId xmlns:a16="http://schemas.microsoft.com/office/drawing/2014/main" id="{935ECB63-F48C-4E4C-B91D-102951AA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像素猫反馈已实现；受控修改仅离线验证，正式 PlanProvider 未启用。自由增删、主动建议与 React/TSX 源码修改仍待研发验收。</a:t>
            </a:r>
          </a:p>
        </p:txBody>
      </p:sp>
    </p:spTree>
    <p:extLst>
      <p:ext uri="{BB962C8B-B14F-4D97-AF65-F5344CB8AC3E}">
        <p14:creationId xmlns:p14="http://schemas.microsoft.com/office/powerpoint/2010/main" val="7672240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p8-0">
            <a:extLst xmlns:a="http://schemas.openxmlformats.org/drawingml/2006/main">
              <a:ext uri="{FF2B5EF4-FFF2-40B4-BE49-F238E27FC236}">
                <a16:creationId xmlns:a16="http://schemas.microsoft.com/office/drawing/2014/main" id="{1CE6ECBA-B745-4B60-8702-8C5AE08E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8-1">
            <a:extLst xmlns:a="http://schemas.openxmlformats.org/drawingml/2006/main">
              <a:ext uri="{FF2B5EF4-FFF2-40B4-BE49-F238E27FC236}">
                <a16:creationId xmlns:a16="http://schemas.microsoft.com/office/drawing/2014/main" id="{4A8F935A-E4F0-405B-88AD-C3EBA539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8-2">
            <a:extLst xmlns:a="http://schemas.openxmlformats.org/drawingml/2006/main">
              <a:ext uri="{FF2B5EF4-FFF2-40B4-BE49-F238E27FC236}">
                <a16:creationId xmlns:a16="http://schemas.microsoft.com/office/drawing/2014/main" id="{38AA3429-B26F-4D42-9747-6AEF233B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8-3">
            <a:extLst xmlns:a="http://schemas.openxmlformats.org/drawingml/2006/main">
              <a:ext uri="{FF2B5EF4-FFF2-40B4-BE49-F238E27FC236}">
                <a16:creationId xmlns:a16="http://schemas.microsoft.com/office/drawing/2014/main" id="{3BFF21C3-19CE-4181-BC3A-1BFCC78E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8-4-BlockCraft AI">
            <a:extLst xmlns:a="http://schemas.openxmlformats.org/drawingml/2006/main">
              <a:ext uri="{FF2B5EF4-FFF2-40B4-BE49-F238E27FC236}">
                <a16:creationId xmlns:a16="http://schemas.microsoft.com/office/drawing/2014/main" id="{C407583B-EC86-4961-9294-6E398ADB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8-5-07 / 多场景潜力">
            <a:extLst xmlns:a="http://schemas.openxmlformats.org/drawingml/2006/main">
              <a:ext uri="{FF2B5EF4-FFF2-40B4-BE49-F238E27FC236}">
                <a16:creationId xmlns:a16="http://schemas.microsoft.com/office/drawing/2014/main" id="{D690BF6C-B472-4EA7-AC79-1207AE76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07 / 多场景潜力</a:t>
            </a:r>
          </a:p>
        </p:txBody>
      </p:sp>
      <p:sp>
        <p:nvSpPr>
          <p:cNvPr id="7" name="p8-6-同一个平台，组合不同的小软件">
            <a:extLst xmlns:a="http://schemas.openxmlformats.org/drawingml/2006/main">
              <a:ext uri="{FF2B5EF4-FFF2-40B4-BE49-F238E27FC236}">
                <a16:creationId xmlns:a16="http://schemas.microsoft.com/office/drawing/2014/main" id="{9DD531DB-E81E-488A-8150-673184BA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同一个平台，组合不同的小软件</a:t>
            </a:r>
          </a:p>
        </p:txBody>
      </p:sp>
      <p:sp>
        <p:nvSpPr>
          <p:cNvPr id="8" name="p8-7-以下展示需求方向和阶段边界；功能组合随用">
            <a:extLst xmlns:a="http://schemas.openxmlformats.org/drawingml/2006/main">
              <a:ext uri="{FF2B5EF4-FFF2-40B4-BE49-F238E27FC236}">
                <a16:creationId xmlns:a16="http://schemas.microsoft.com/office/drawing/2014/main" id="{30D3FB60-A562-45DC-8B42-A514AF3A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以下展示需求方向和阶段边界；功能组合随用户需求变化。</a:t>
            </a:r>
          </a:p>
        </p:txBody>
      </p:sp>
      <p:sp>
        <p:nvSpPr>
          <p:cNvPr id="9" name="p8-8">
            <a:extLst xmlns:a="http://schemas.openxmlformats.org/drawingml/2006/main">
              <a:ext uri="{FF2B5EF4-FFF2-40B4-BE49-F238E27FC236}">
                <a16:creationId xmlns:a16="http://schemas.microsoft.com/office/drawing/2014/main" id="{15DAFEAD-7B8D-4007-A10D-9D405EE2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8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4F2F4402-0633-4597-9FDD-37582271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8-10-08 / 15">
            <a:extLst xmlns:a="http://schemas.openxmlformats.org/drawingml/2006/main">
              <a:ext uri="{FF2B5EF4-FFF2-40B4-BE49-F238E27FC236}">
                <a16:creationId xmlns:a16="http://schemas.microsoft.com/office/drawing/2014/main" id="{6D2AB572-F421-4B76-861D-BCF50ED7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08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5B25F-CB2F-4D0B-A4F8-ED88B769FD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aee782a664fd0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8-12">
            <a:extLst xmlns:a="http://schemas.openxmlformats.org/drawingml/2006/main">
              <a:ext uri="{FF2B5EF4-FFF2-40B4-BE49-F238E27FC236}">
                <a16:creationId xmlns:a16="http://schemas.microsoft.com/office/drawing/2014/main" id="{C84288A4-0C18-4868-97CB-C3701DC4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438650" cy="196215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4" name="p8-13">
            <a:extLst xmlns:a="http://schemas.openxmlformats.org/drawingml/2006/main">
              <a:ext uri="{FF2B5EF4-FFF2-40B4-BE49-F238E27FC236}">
                <a16:creationId xmlns:a16="http://schemas.microsoft.com/office/drawing/2014/main" id="{7A6ABA1D-0711-4B1D-9751-70F114DA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714375" cy="71437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8-14">
            <a:extLst xmlns:a="http://schemas.openxmlformats.org/drawingml/2006/main">
              <a:ext uri="{FF2B5EF4-FFF2-40B4-BE49-F238E27FC236}">
                <a16:creationId xmlns:a16="http://schemas.microsoft.com/office/drawing/2014/main" id="{E34D4D37-2A55-47DE-80CB-49151042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323850" cy="381000"/>
          </a:xfrm>
          <a:prstGeom xmlns:a="http://schemas.openxmlformats.org/drawingml/2006/main" prst="roundRect">
            <a:avLst>
              <a:gd name="adj" fmla="val 1470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16" name="p8-15">
            <a:extLst xmlns:a="http://schemas.openxmlformats.org/drawingml/2006/main">
              <a:ext uri="{FF2B5EF4-FFF2-40B4-BE49-F238E27FC236}">
                <a16:creationId xmlns:a16="http://schemas.microsoft.com/office/drawing/2014/main" id="{505CBB09-8C07-4D1C-849D-077CB10B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" y="3398520"/>
            <a:ext cx="19812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8-16">
            <a:extLst xmlns:a="http://schemas.openxmlformats.org/drawingml/2006/main">
              <a:ext uri="{FF2B5EF4-FFF2-40B4-BE49-F238E27FC236}">
                <a16:creationId xmlns:a16="http://schemas.microsoft.com/office/drawing/2014/main" id="{2373B0F1-9398-4410-B75E-8F9D44B6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" y="3486150"/>
            <a:ext cx="19812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8-17">
            <a:extLst xmlns:a="http://schemas.openxmlformats.org/drawingml/2006/main">
              <a:ext uri="{FF2B5EF4-FFF2-40B4-BE49-F238E27FC236}">
                <a16:creationId xmlns:a16="http://schemas.microsoft.com/office/drawing/2014/main" id="{EB026D0B-D5A1-4DD8-8A1B-3A98B4AC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" y="3573780"/>
            <a:ext cx="19812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8-18-学习记录">
            <a:extLst xmlns:a="http://schemas.openxmlformats.org/drawingml/2006/main">
              <a:ext uri="{FF2B5EF4-FFF2-40B4-BE49-F238E27FC236}">
                <a16:creationId xmlns:a16="http://schemas.microsoft.com/office/drawing/2014/main" id="{5098BB89-0903-4D71-BBF4-4EFBF3B6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28975"/>
            <a:ext cx="3076575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学习记录</a:t>
            </a:r>
          </a:p>
        </p:txBody>
      </p:sp>
      <p:sp>
        <p:nvSpPr>
          <p:cNvPr id="20" name="p8-19-笔记 · 复习 · 阶段回顾">
            <a:extLst xmlns:a="http://schemas.openxmlformats.org/drawingml/2006/main">
              <a:ext uri="{FF2B5EF4-FFF2-40B4-BE49-F238E27FC236}">
                <a16:creationId xmlns:a16="http://schemas.microsoft.com/office/drawing/2014/main" id="{4BF699E2-8541-4B3B-857E-506D4AB2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24275"/>
            <a:ext cx="307657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笔记 · 复习 · 阶段回顾</a:t>
            </a:r>
          </a:p>
        </p:txBody>
      </p:sp>
      <p:sp>
        <p:nvSpPr>
          <p:cNvPr id="21" name="p8-20">
            <a:extLst xmlns:a="http://schemas.openxmlformats.org/drawingml/2006/main">
              <a:ext uri="{FF2B5EF4-FFF2-40B4-BE49-F238E27FC236}">
                <a16:creationId xmlns:a16="http://schemas.microsoft.com/office/drawing/2014/main" id="{6B34FFA6-4A8A-4C36-93AB-0D9352BF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405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8-21">
            <a:extLst xmlns:a="http://schemas.openxmlformats.org/drawingml/2006/main">
              <a:ext uri="{FF2B5EF4-FFF2-40B4-BE49-F238E27FC236}">
                <a16:creationId xmlns:a16="http://schemas.microsoft.com/office/drawing/2014/main" id="{21B59AAA-932D-4237-AB35-9E2E93E8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8-22-概念原型">
            <a:extLst xmlns:a="http://schemas.openxmlformats.org/drawingml/2006/main">
              <a:ext uri="{FF2B5EF4-FFF2-40B4-BE49-F238E27FC236}">
                <a16:creationId xmlns:a16="http://schemas.microsoft.com/office/drawing/2014/main" id="{E3115970-5B10-41D9-9CFB-9C9FA65B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11525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概念原型</a:t>
            </a:r>
          </a:p>
        </p:txBody>
      </p:sp>
      <p:sp>
        <p:nvSpPr>
          <p:cNvPr id="24" name="p8-23-场景示意">
            <a:extLst xmlns:a="http://schemas.openxmlformats.org/drawingml/2006/main">
              <a:ext uri="{FF2B5EF4-FFF2-40B4-BE49-F238E27FC236}">
                <a16:creationId xmlns:a16="http://schemas.microsoft.com/office/drawing/2014/main" id="{FC84535D-5016-404D-93E8-0D35791C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10075"/>
            <a:ext cx="1047750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场景示意</a:t>
            </a:r>
          </a:p>
        </p:txBody>
      </p:sp>
      <p:sp>
        <p:nvSpPr>
          <p:cNvPr id="25" name="p8-24">
            <a:extLst xmlns:a="http://schemas.openxmlformats.org/drawingml/2006/main">
              <a:ext uri="{FF2B5EF4-FFF2-40B4-BE49-F238E27FC236}">
                <a16:creationId xmlns:a16="http://schemas.microsoft.com/office/drawing/2014/main" id="{7C7DD2F5-E600-4DD5-BB50-59F4AA52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952750"/>
            <a:ext cx="4438650" cy="196215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6" name="p8-25">
            <a:extLst xmlns:a="http://schemas.openxmlformats.org/drawingml/2006/main">
              <a:ext uri="{FF2B5EF4-FFF2-40B4-BE49-F238E27FC236}">
                <a16:creationId xmlns:a16="http://schemas.microsoft.com/office/drawing/2014/main" id="{3532D5AB-EF47-41C3-8E05-4044475F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143250"/>
            <a:ext cx="714375" cy="71437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8-26">
            <a:extLst xmlns:a="http://schemas.openxmlformats.org/drawingml/2006/main">
              <a:ext uri="{FF2B5EF4-FFF2-40B4-BE49-F238E27FC236}">
                <a16:creationId xmlns:a16="http://schemas.microsoft.com/office/drawing/2014/main" id="{07CF2EF4-4234-4431-9079-7414C56D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440430"/>
            <a:ext cx="60960" cy="13716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8-27">
            <a:extLst xmlns:a="http://schemas.openxmlformats.org/drawingml/2006/main">
              <a:ext uri="{FF2B5EF4-FFF2-40B4-BE49-F238E27FC236}">
                <a16:creationId xmlns:a16="http://schemas.microsoft.com/office/drawing/2014/main" id="{708181BC-5838-4031-A460-970D647A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1715" y="3440430"/>
            <a:ext cx="60960" cy="13716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8-28">
            <a:extLst xmlns:a="http://schemas.openxmlformats.org/drawingml/2006/main">
              <a:ext uri="{FF2B5EF4-FFF2-40B4-BE49-F238E27FC236}">
                <a16:creationId xmlns:a16="http://schemas.microsoft.com/office/drawing/2014/main" id="{EC6870B0-18D1-4E98-9C30-ACB73D4D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3360420"/>
            <a:ext cx="45720" cy="28956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8-29">
            <a:extLst xmlns:a="http://schemas.openxmlformats.org/drawingml/2006/main">
              <a:ext uri="{FF2B5EF4-FFF2-40B4-BE49-F238E27FC236}">
                <a16:creationId xmlns:a16="http://schemas.microsoft.com/office/drawing/2014/main" id="{66E3F976-4FC3-4DF3-A26E-A21CFD0D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995" y="3360420"/>
            <a:ext cx="45720" cy="28956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8-30">
            <a:extLst xmlns:a="http://schemas.openxmlformats.org/drawingml/2006/main">
              <a:ext uri="{FF2B5EF4-FFF2-40B4-BE49-F238E27FC236}">
                <a16:creationId xmlns:a16="http://schemas.microsoft.com/office/drawing/2014/main" id="{9B1E8CEB-E46E-4736-B1EA-07E1937D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355" y="3489960"/>
            <a:ext cx="16764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8-31-健身打卡">
            <a:extLst xmlns:a="http://schemas.openxmlformats.org/drawingml/2006/main">
              <a:ext uri="{FF2B5EF4-FFF2-40B4-BE49-F238E27FC236}">
                <a16:creationId xmlns:a16="http://schemas.microsoft.com/office/drawing/2014/main" id="{9E18C361-C05C-42C9-A4FA-60686101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228975"/>
            <a:ext cx="3076575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健身打卡</a:t>
            </a:r>
          </a:p>
        </p:txBody>
      </p:sp>
      <p:sp>
        <p:nvSpPr>
          <p:cNvPr id="33" name="p8-32-训练 · 习惯 · 过程反馈">
            <a:extLst xmlns:a="http://schemas.openxmlformats.org/drawingml/2006/main">
              <a:ext uri="{FF2B5EF4-FFF2-40B4-BE49-F238E27FC236}">
                <a16:creationId xmlns:a16="http://schemas.microsoft.com/office/drawing/2014/main" id="{3C4C578F-4C56-49D0-95BD-7D270FE1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724275"/>
            <a:ext cx="307657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训练 · 习惯 · 过程反馈</a:t>
            </a:r>
          </a:p>
        </p:txBody>
      </p:sp>
      <p:sp>
        <p:nvSpPr>
          <p:cNvPr id="34" name="p8-33">
            <a:extLst xmlns:a="http://schemas.openxmlformats.org/drawingml/2006/main">
              <a:ext uri="{FF2B5EF4-FFF2-40B4-BE49-F238E27FC236}">
                <a16:creationId xmlns:a16="http://schemas.microsoft.com/office/drawing/2014/main" id="{7A652050-00E4-4F59-A4F1-7A092462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24325"/>
            <a:ext cx="405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8-34">
            <a:extLst xmlns:a="http://schemas.openxmlformats.org/drawingml/2006/main">
              <a:ext uri="{FF2B5EF4-FFF2-40B4-BE49-F238E27FC236}">
                <a16:creationId xmlns:a16="http://schemas.microsoft.com/office/drawing/2014/main" id="{FAAE3435-17C6-4697-AB95-904C5BE2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333875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8-35-概念原型">
            <a:extLst xmlns:a="http://schemas.openxmlformats.org/drawingml/2006/main">
              <a:ext uri="{FF2B5EF4-FFF2-40B4-BE49-F238E27FC236}">
                <a16:creationId xmlns:a16="http://schemas.microsoft.com/office/drawing/2014/main" id="{F11A0007-CDF9-475F-8B82-C4E74F9F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381500"/>
            <a:ext cx="11525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概念原型</a:t>
            </a:r>
          </a:p>
        </p:txBody>
      </p:sp>
      <p:sp>
        <p:nvSpPr>
          <p:cNvPr id="37" name="p8-36-场景示意">
            <a:extLst xmlns:a="http://schemas.openxmlformats.org/drawingml/2006/main">
              <a:ext uri="{FF2B5EF4-FFF2-40B4-BE49-F238E27FC236}">
                <a16:creationId xmlns:a16="http://schemas.microsoft.com/office/drawing/2014/main" id="{269D99B6-0FBA-4064-9BF6-C602F13D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410075"/>
            <a:ext cx="1047750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场景示意</a:t>
            </a:r>
          </a:p>
        </p:txBody>
      </p:sp>
      <p:sp>
        <p:nvSpPr>
          <p:cNvPr id="38" name="p8-37">
            <a:extLst xmlns:a="http://schemas.openxmlformats.org/drawingml/2006/main">
              <a:ext uri="{FF2B5EF4-FFF2-40B4-BE49-F238E27FC236}">
                <a16:creationId xmlns:a16="http://schemas.microsoft.com/office/drawing/2014/main" id="{45261CCF-AD54-4BB7-BB9F-DB739991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4438650" cy="196215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9" name="p8-38">
            <a:extLst xmlns:a="http://schemas.openxmlformats.org/drawingml/2006/main">
              <a:ext uri="{FF2B5EF4-FFF2-40B4-BE49-F238E27FC236}">
                <a16:creationId xmlns:a16="http://schemas.microsoft.com/office/drawing/2014/main" id="{27E02EC5-E55E-4D0C-B74A-9621AD4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43250"/>
            <a:ext cx="714375" cy="71437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8-39">
            <a:extLst xmlns:a="http://schemas.openxmlformats.org/drawingml/2006/main">
              <a:ext uri="{FF2B5EF4-FFF2-40B4-BE49-F238E27FC236}">
                <a16:creationId xmlns:a16="http://schemas.microsoft.com/office/drawing/2014/main" id="{E329133C-9351-43EA-A989-19A7D9AF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52800"/>
            <a:ext cx="381000" cy="323850"/>
          </a:xfrm>
          <a:prstGeom xmlns:a="http://schemas.openxmlformats.org/drawingml/2006/main" prst="roundRect">
            <a:avLst>
              <a:gd name="adj" fmla="val 1470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41" name="p8-40">
            <a:extLst xmlns:a="http://schemas.openxmlformats.org/drawingml/2006/main">
              <a:ext uri="{FF2B5EF4-FFF2-40B4-BE49-F238E27FC236}">
                <a16:creationId xmlns:a16="http://schemas.microsoft.com/office/drawing/2014/main" id="{EF9E56CB-E67A-414F-ADEC-BA770CBA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429000"/>
            <a:ext cx="3810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8-41">
            <a:extLst xmlns:a="http://schemas.openxmlformats.org/drawingml/2006/main">
              <a:ext uri="{FF2B5EF4-FFF2-40B4-BE49-F238E27FC236}">
                <a16:creationId xmlns:a16="http://schemas.microsoft.com/office/drawing/2014/main" id="{44525BEA-E49E-4749-8D0E-2C0123C2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3230" y="3489960"/>
            <a:ext cx="38100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8-42">
            <a:extLst xmlns:a="http://schemas.openxmlformats.org/drawingml/2006/main">
              <a:ext uri="{FF2B5EF4-FFF2-40B4-BE49-F238E27FC236}">
                <a16:creationId xmlns:a16="http://schemas.microsoft.com/office/drawing/2014/main" id="{DE63B54E-AEC8-4EE0-9C5D-901C5DE6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3230" y="3585210"/>
            <a:ext cx="38100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8-43">
            <a:extLst xmlns:a="http://schemas.openxmlformats.org/drawingml/2006/main">
              <a:ext uri="{FF2B5EF4-FFF2-40B4-BE49-F238E27FC236}">
                <a16:creationId xmlns:a16="http://schemas.microsoft.com/office/drawing/2014/main" id="{9EA49110-7B43-40E3-9D65-C197720D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489960"/>
            <a:ext cx="38100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8-44">
            <a:extLst xmlns:a="http://schemas.openxmlformats.org/drawingml/2006/main">
              <a:ext uri="{FF2B5EF4-FFF2-40B4-BE49-F238E27FC236}">
                <a16:creationId xmlns:a16="http://schemas.microsoft.com/office/drawing/2014/main" id="{E6F322FE-06A5-4C1E-8576-D7F5891C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585210"/>
            <a:ext cx="38100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8-45">
            <a:extLst xmlns:a="http://schemas.openxmlformats.org/drawingml/2006/main">
              <a:ext uri="{FF2B5EF4-FFF2-40B4-BE49-F238E27FC236}">
                <a16:creationId xmlns:a16="http://schemas.microsoft.com/office/drawing/2014/main" id="{E2556C44-4EEE-474D-A5F3-5DF91C2E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970" y="3489960"/>
            <a:ext cx="38100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8-46">
            <a:extLst xmlns:a="http://schemas.openxmlformats.org/drawingml/2006/main">
              <a:ext uri="{FF2B5EF4-FFF2-40B4-BE49-F238E27FC236}">
                <a16:creationId xmlns:a16="http://schemas.microsoft.com/office/drawing/2014/main" id="{7BAA592C-5955-437C-8A1D-0D0A046F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970" y="3585210"/>
            <a:ext cx="38100" cy="381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8-47-个性化计划">
            <a:extLst xmlns:a="http://schemas.openxmlformats.org/drawingml/2006/main">
              <a:ext uri="{FF2B5EF4-FFF2-40B4-BE49-F238E27FC236}">
                <a16:creationId xmlns:a16="http://schemas.microsoft.com/office/drawing/2014/main" id="{EA466DC8-E2A8-42DD-8FE4-21973793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228975"/>
            <a:ext cx="3076575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个性化计划</a:t>
            </a:r>
          </a:p>
        </p:txBody>
      </p:sp>
      <p:sp>
        <p:nvSpPr>
          <p:cNvPr id="49" name="p8-48-日程 · 优先级 · 个人节奏">
            <a:extLst xmlns:a="http://schemas.openxmlformats.org/drawingml/2006/main">
              <a:ext uri="{FF2B5EF4-FFF2-40B4-BE49-F238E27FC236}">
                <a16:creationId xmlns:a16="http://schemas.microsoft.com/office/drawing/2014/main" id="{E7EC2383-0BFC-40A0-B0FD-74A9DBD2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724275"/>
            <a:ext cx="307657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日程 · 优先级 · 个人节奏</a:t>
            </a:r>
          </a:p>
        </p:txBody>
      </p:sp>
      <p:sp>
        <p:nvSpPr>
          <p:cNvPr id="50" name="p8-49">
            <a:extLst xmlns:a="http://schemas.openxmlformats.org/drawingml/2006/main">
              <a:ext uri="{FF2B5EF4-FFF2-40B4-BE49-F238E27FC236}">
                <a16:creationId xmlns:a16="http://schemas.microsoft.com/office/drawing/2014/main" id="{3E0E676F-4B01-4DE8-93B4-98AEA52A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24325"/>
            <a:ext cx="405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8-50">
            <a:extLst xmlns:a="http://schemas.openxmlformats.org/drawingml/2006/main">
              <a:ext uri="{FF2B5EF4-FFF2-40B4-BE49-F238E27FC236}">
                <a16:creationId xmlns:a16="http://schemas.microsoft.com/office/drawing/2014/main" id="{E2FDAA27-3404-4CE4-865C-6EAB1A24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33875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8-51-概念原型">
            <a:extLst xmlns:a="http://schemas.openxmlformats.org/drawingml/2006/main">
              <a:ext uri="{FF2B5EF4-FFF2-40B4-BE49-F238E27FC236}">
                <a16:creationId xmlns:a16="http://schemas.microsoft.com/office/drawing/2014/main" id="{5D2261DD-7BAB-4062-8709-573A8080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81500"/>
            <a:ext cx="11525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概念原型</a:t>
            </a:r>
          </a:p>
        </p:txBody>
      </p:sp>
      <p:sp>
        <p:nvSpPr>
          <p:cNvPr id="53" name="p8-52-场景示意">
            <a:extLst xmlns:a="http://schemas.openxmlformats.org/drawingml/2006/main">
              <a:ext uri="{FF2B5EF4-FFF2-40B4-BE49-F238E27FC236}">
                <a16:creationId xmlns:a16="http://schemas.microsoft.com/office/drawing/2014/main" id="{02415E82-225D-47DA-A0E6-13AD17F8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4410075"/>
            <a:ext cx="1047750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场景示意</a:t>
            </a:r>
          </a:p>
        </p:txBody>
      </p:sp>
      <p:sp>
        <p:nvSpPr>
          <p:cNvPr id="54" name="p8-53">
            <a:extLst xmlns:a="http://schemas.openxmlformats.org/drawingml/2006/main">
              <a:ext uri="{FF2B5EF4-FFF2-40B4-BE49-F238E27FC236}">
                <a16:creationId xmlns:a16="http://schemas.microsoft.com/office/drawing/2014/main" id="{47CBEA88-5210-400D-AFA9-9E6FE100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4438650" cy="196215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55" name="p8-54">
            <a:extLst xmlns:a="http://schemas.openxmlformats.org/drawingml/2006/main">
              <a:ext uri="{FF2B5EF4-FFF2-40B4-BE49-F238E27FC236}">
                <a16:creationId xmlns:a16="http://schemas.microsoft.com/office/drawing/2014/main" id="{38F67CFD-38F0-4E66-8697-9858B28A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714375" cy="71437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8-55">
            <a:extLst xmlns:a="http://schemas.openxmlformats.org/drawingml/2006/main">
              <a:ext uri="{FF2B5EF4-FFF2-40B4-BE49-F238E27FC236}">
                <a16:creationId xmlns:a16="http://schemas.microsoft.com/office/drawing/2014/main" id="{21DDD3E9-BED8-40BD-9079-AE4737F4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86400"/>
            <a:ext cx="76200" cy="762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57" name="p8-56">
            <a:extLst xmlns:a="http://schemas.openxmlformats.org/drawingml/2006/main">
              <a:ext uri="{FF2B5EF4-FFF2-40B4-BE49-F238E27FC236}">
                <a16:creationId xmlns:a16="http://schemas.microsoft.com/office/drawing/2014/main" id="{487C7DBB-3249-423A-9039-61AE1AE0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" y="5516880"/>
            <a:ext cx="22098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8-57">
            <a:extLst xmlns:a="http://schemas.openxmlformats.org/drawingml/2006/main">
              <a:ext uri="{FF2B5EF4-FFF2-40B4-BE49-F238E27FC236}">
                <a16:creationId xmlns:a16="http://schemas.microsoft.com/office/drawing/2014/main" id="{6D43DE8F-9B40-49EE-9243-A972D04F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4510"/>
            <a:ext cx="76200" cy="762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59" name="p8-58">
            <a:extLst xmlns:a="http://schemas.openxmlformats.org/drawingml/2006/main">
              <a:ext uri="{FF2B5EF4-FFF2-40B4-BE49-F238E27FC236}">
                <a16:creationId xmlns:a16="http://schemas.microsoft.com/office/drawing/2014/main" id="{EF674562-9274-4406-97FD-33A04E21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" y="5634990"/>
            <a:ext cx="22098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8-59">
            <a:extLst xmlns:a="http://schemas.openxmlformats.org/drawingml/2006/main">
              <a:ext uri="{FF2B5EF4-FFF2-40B4-BE49-F238E27FC236}">
                <a16:creationId xmlns:a16="http://schemas.microsoft.com/office/drawing/2014/main" id="{B0DE0096-D8C6-4B0B-B5A1-FD848CBC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22620"/>
            <a:ext cx="76200" cy="762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61" name="p8-60">
            <a:extLst xmlns:a="http://schemas.openxmlformats.org/drawingml/2006/main">
              <a:ext uri="{FF2B5EF4-FFF2-40B4-BE49-F238E27FC236}">
                <a16:creationId xmlns:a16="http://schemas.microsoft.com/office/drawing/2014/main" id="{89546940-D000-49F0-8CBD-9177D85B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" y="5753100"/>
            <a:ext cx="22098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8-61-任务管理">
            <a:extLst xmlns:a="http://schemas.openxmlformats.org/drawingml/2006/main">
              <a:ext uri="{FF2B5EF4-FFF2-40B4-BE49-F238E27FC236}">
                <a16:creationId xmlns:a16="http://schemas.microsoft.com/office/drawing/2014/main" id="{1F7280FC-3977-42E7-B8C9-E6A4269C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00675"/>
            <a:ext cx="3076575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任务管理</a:t>
            </a:r>
          </a:p>
        </p:txBody>
      </p:sp>
      <p:sp>
        <p:nvSpPr>
          <p:cNvPr id="63" name="p8-62-清单 · 进度 · 轻量协作">
            <a:extLst xmlns:a="http://schemas.openxmlformats.org/drawingml/2006/main">
              <a:ext uri="{FF2B5EF4-FFF2-40B4-BE49-F238E27FC236}">
                <a16:creationId xmlns:a16="http://schemas.microsoft.com/office/drawing/2014/main" id="{198A135C-C606-400B-A7F7-78E9C6C4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95975"/>
            <a:ext cx="307657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清单 · 进度 · 轻量协作</a:t>
            </a:r>
          </a:p>
        </p:txBody>
      </p:sp>
      <p:sp>
        <p:nvSpPr>
          <p:cNvPr id="64" name="p8-63">
            <a:extLst xmlns:a="http://schemas.openxmlformats.org/drawingml/2006/main">
              <a:ext uri="{FF2B5EF4-FFF2-40B4-BE49-F238E27FC236}">
                <a16:creationId xmlns:a16="http://schemas.microsoft.com/office/drawing/2014/main" id="{09BBD7CF-F86D-4891-A38B-830D7409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96025"/>
            <a:ext cx="405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8-64">
            <a:extLst xmlns:a="http://schemas.openxmlformats.org/drawingml/2006/main">
              <a:ext uri="{FF2B5EF4-FFF2-40B4-BE49-F238E27FC236}">
                <a16:creationId xmlns:a16="http://schemas.microsoft.com/office/drawing/2014/main" id="{A2055775-5EEF-48FC-A16C-5698BB5C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05575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8-65-概念原型">
            <a:extLst xmlns:a="http://schemas.openxmlformats.org/drawingml/2006/main">
              <a:ext uri="{FF2B5EF4-FFF2-40B4-BE49-F238E27FC236}">
                <a16:creationId xmlns:a16="http://schemas.microsoft.com/office/drawing/2014/main" id="{D2F0E850-4A42-4185-9BF6-9AE5A2FD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553200"/>
            <a:ext cx="11525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概念原型</a:t>
            </a:r>
          </a:p>
        </p:txBody>
      </p:sp>
      <p:sp>
        <p:nvSpPr>
          <p:cNvPr id="67" name="p8-66-场景示意">
            <a:extLst xmlns:a="http://schemas.openxmlformats.org/drawingml/2006/main">
              <a:ext uri="{FF2B5EF4-FFF2-40B4-BE49-F238E27FC236}">
                <a16:creationId xmlns:a16="http://schemas.microsoft.com/office/drawing/2014/main" id="{3715C42F-C0B5-4047-BDD1-D623460F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581775"/>
            <a:ext cx="1047750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场景示意</a:t>
            </a:r>
          </a:p>
        </p:txBody>
      </p:sp>
      <p:sp>
        <p:nvSpPr>
          <p:cNvPr id="68" name="p8-67">
            <a:extLst xmlns:a="http://schemas.openxmlformats.org/drawingml/2006/main">
              <a:ext uri="{FF2B5EF4-FFF2-40B4-BE49-F238E27FC236}">
                <a16:creationId xmlns:a16="http://schemas.microsoft.com/office/drawing/2014/main" id="{21420FCC-47B1-4768-BF91-59B9DA5D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124450"/>
            <a:ext cx="4438650" cy="196215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69" name="p8-68">
            <a:extLst xmlns:a="http://schemas.openxmlformats.org/drawingml/2006/main">
              <a:ext uri="{FF2B5EF4-FFF2-40B4-BE49-F238E27FC236}">
                <a16:creationId xmlns:a16="http://schemas.microsoft.com/office/drawing/2014/main" id="{ED4F2EBA-D8EA-408B-8D09-A629FE61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314950"/>
            <a:ext cx="714375" cy="71437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8-69">
            <a:extLst xmlns:a="http://schemas.openxmlformats.org/drawingml/2006/main">
              <a:ext uri="{FF2B5EF4-FFF2-40B4-BE49-F238E27FC236}">
                <a16:creationId xmlns:a16="http://schemas.microsoft.com/office/drawing/2014/main" id="{43C3D3F7-0370-494E-8A88-719F575B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695" y="5547360"/>
            <a:ext cx="25400" cy="2552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8-70">
            <a:extLst xmlns:a="http://schemas.openxmlformats.org/drawingml/2006/main">
              <a:ext uri="{FF2B5EF4-FFF2-40B4-BE49-F238E27FC236}">
                <a16:creationId xmlns:a16="http://schemas.microsoft.com/office/drawing/2014/main" id="{F1DA22C5-953E-49BF-ABBB-AB012542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5676900"/>
            <a:ext cx="23622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8-71">
            <a:extLst xmlns:a="http://schemas.openxmlformats.org/drawingml/2006/main">
              <a:ext uri="{FF2B5EF4-FFF2-40B4-BE49-F238E27FC236}">
                <a16:creationId xmlns:a16="http://schemas.microsoft.com/office/drawing/2014/main" id="{ED18CF07-1119-4732-AD02-2E45A503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486400"/>
            <a:ext cx="110490" cy="952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73" name="p8-72">
            <a:extLst xmlns:a="http://schemas.openxmlformats.org/drawingml/2006/main">
              <a:ext uri="{FF2B5EF4-FFF2-40B4-BE49-F238E27FC236}">
                <a16:creationId xmlns:a16="http://schemas.microsoft.com/office/drawing/2014/main" id="{42785F6B-AD8E-48AF-984F-211BA193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795" y="5486400"/>
            <a:ext cx="110490" cy="952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74" name="p8-73">
            <a:extLst xmlns:a="http://schemas.openxmlformats.org/drawingml/2006/main">
              <a:ext uri="{FF2B5EF4-FFF2-40B4-BE49-F238E27FC236}">
                <a16:creationId xmlns:a16="http://schemas.microsoft.com/office/drawing/2014/main" id="{1EBF3561-5E14-4C49-91E7-AA70E0C1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735" y="5756910"/>
            <a:ext cx="110490" cy="952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75" name="p8-74-多线写作">
            <a:extLst xmlns:a="http://schemas.openxmlformats.org/drawingml/2006/main">
              <a:ext uri="{FF2B5EF4-FFF2-40B4-BE49-F238E27FC236}">
                <a16:creationId xmlns:a16="http://schemas.microsoft.com/office/drawing/2014/main" id="{1F40361B-DAB9-46CA-B740-5EC8E1E6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400675"/>
            <a:ext cx="3076575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多线写作</a:t>
            </a:r>
          </a:p>
        </p:txBody>
      </p:sp>
      <p:sp>
        <p:nvSpPr>
          <p:cNvPr id="76" name="p8-75-故事线 · 角色 · 关联关系">
            <a:extLst xmlns:a="http://schemas.openxmlformats.org/drawingml/2006/main">
              <a:ext uri="{FF2B5EF4-FFF2-40B4-BE49-F238E27FC236}">
                <a16:creationId xmlns:a16="http://schemas.microsoft.com/office/drawing/2014/main" id="{E0F63AA7-996C-4574-BF73-248834FF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895975"/>
            <a:ext cx="307657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故事线 · 角色 · 关联关系</a:t>
            </a:r>
          </a:p>
        </p:txBody>
      </p:sp>
      <p:sp>
        <p:nvSpPr>
          <p:cNvPr id="77" name="p8-76">
            <a:extLst xmlns:a="http://schemas.openxmlformats.org/drawingml/2006/main">
              <a:ext uri="{FF2B5EF4-FFF2-40B4-BE49-F238E27FC236}">
                <a16:creationId xmlns:a16="http://schemas.microsoft.com/office/drawing/2014/main" id="{809B09EC-F338-4CD2-BBD1-BCAC0F76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296025"/>
            <a:ext cx="405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8-77">
            <a:extLst xmlns:a="http://schemas.openxmlformats.org/drawingml/2006/main">
              <a:ext uri="{FF2B5EF4-FFF2-40B4-BE49-F238E27FC236}">
                <a16:creationId xmlns:a16="http://schemas.microsoft.com/office/drawing/2014/main" id="{3B8E0756-5760-4679-811E-5EAAF7F4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505575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8-78-长期愿景">
            <a:extLst xmlns:a="http://schemas.openxmlformats.org/drawingml/2006/main">
              <a:ext uri="{FF2B5EF4-FFF2-40B4-BE49-F238E27FC236}">
                <a16:creationId xmlns:a16="http://schemas.microsoft.com/office/drawing/2014/main" id="{C1E45514-0AC4-47F4-9833-AE2F9B42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6553200"/>
            <a:ext cx="11525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长期愿景</a:t>
            </a:r>
          </a:p>
        </p:txBody>
      </p:sp>
      <p:sp>
        <p:nvSpPr>
          <p:cNvPr id="80" name="p8-79-场景示意">
            <a:extLst xmlns:a="http://schemas.openxmlformats.org/drawingml/2006/main">
              <a:ext uri="{FF2B5EF4-FFF2-40B4-BE49-F238E27FC236}">
                <a16:creationId xmlns:a16="http://schemas.microsoft.com/office/drawing/2014/main" id="{F931A752-7CA7-4C47-BBF0-E22A0565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6581775"/>
            <a:ext cx="1047750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场景示意</a:t>
            </a:r>
          </a:p>
        </p:txBody>
      </p:sp>
      <p:sp>
        <p:nvSpPr>
          <p:cNvPr id="81" name="p8-80">
            <a:extLst xmlns:a="http://schemas.openxmlformats.org/drawingml/2006/main">
              <a:ext uri="{FF2B5EF4-FFF2-40B4-BE49-F238E27FC236}">
                <a16:creationId xmlns:a16="http://schemas.microsoft.com/office/drawing/2014/main" id="{684FCFC3-6D1E-49E2-9909-089F7AF9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124450"/>
            <a:ext cx="4438650" cy="1962150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82" name="p8-81">
            <a:extLst xmlns:a="http://schemas.openxmlformats.org/drawingml/2006/main">
              <a:ext uri="{FF2B5EF4-FFF2-40B4-BE49-F238E27FC236}">
                <a16:creationId xmlns:a16="http://schemas.microsoft.com/office/drawing/2014/main" id="{B4066ED7-D4C8-4672-B2CD-59B1F09F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314950"/>
            <a:ext cx="714375" cy="71437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8-82">
            <a:extLst xmlns:a="http://schemas.openxmlformats.org/drawingml/2006/main">
              <a:ext uri="{FF2B5EF4-FFF2-40B4-BE49-F238E27FC236}">
                <a16:creationId xmlns:a16="http://schemas.microsoft.com/office/drawing/2014/main" id="{366A967F-14EF-4D2D-A7E6-AC75C9CE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4864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84" name="p8-83">
            <a:extLst xmlns:a="http://schemas.openxmlformats.org/drawingml/2006/main">
              <a:ext uri="{FF2B5EF4-FFF2-40B4-BE49-F238E27FC236}">
                <a16:creationId xmlns:a16="http://schemas.microsoft.com/office/drawing/2014/main" id="{0149D510-1938-4A88-8445-3DEFDDE6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4864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85" name="p8-84">
            <a:extLst xmlns:a="http://schemas.openxmlformats.org/drawingml/2006/main">
              <a:ext uri="{FF2B5EF4-FFF2-40B4-BE49-F238E27FC236}">
                <a16:creationId xmlns:a16="http://schemas.microsoft.com/office/drawing/2014/main" id="{F38FA028-A618-4E3A-B420-581D71F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684520"/>
            <a:ext cx="381000" cy="152400"/>
          </a:xfrm>
          <a:prstGeom xmlns:a="http://schemas.openxmlformats.org/drawingml/2006/main" prst="roundRect">
            <a:avLst>
              <a:gd name="adj" fmla="val 43750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86" name="p8-85-社团报名">
            <a:extLst xmlns:a="http://schemas.openxmlformats.org/drawingml/2006/main">
              <a:ext uri="{FF2B5EF4-FFF2-40B4-BE49-F238E27FC236}">
                <a16:creationId xmlns:a16="http://schemas.microsoft.com/office/drawing/2014/main" id="{47DCDD3D-1E5F-4F65-A0CC-6EAC0151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400675"/>
            <a:ext cx="3076575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社团报名</a:t>
            </a:r>
          </a:p>
        </p:txBody>
      </p:sp>
      <p:sp>
        <p:nvSpPr>
          <p:cNvPr id="87" name="p8-86-录入 · 名单 · 人数统计">
            <a:extLst xmlns:a="http://schemas.openxmlformats.org/drawingml/2006/main">
              <a:ext uri="{FF2B5EF4-FFF2-40B4-BE49-F238E27FC236}">
                <a16:creationId xmlns:a16="http://schemas.microsoft.com/office/drawing/2014/main" id="{BF604606-2316-4727-ADFE-E84C0A49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895975"/>
            <a:ext cx="307657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录入 · 名单 · 人数统计</a:t>
            </a:r>
          </a:p>
        </p:txBody>
      </p:sp>
      <p:sp>
        <p:nvSpPr>
          <p:cNvPr id="88" name="p8-87">
            <a:extLst xmlns:a="http://schemas.openxmlformats.org/drawingml/2006/main">
              <a:ext uri="{FF2B5EF4-FFF2-40B4-BE49-F238E27FC236}">
                <a16:creationId xmlns:a16="http://schemas.microsoft.com/office/drawing/2014/main" id="{90253123-8473-470C-AC4B-E784B0FD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96025"/>
            <a:ext cx="405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8-88">
            <a:extLst xmlns:a="http://schemas.openxmlformats.org/drawingml/2006/main">
              <a:ext uri="{FF2B5EF4-FFF2-40B4-BE49-F238E27FC236}">
                <a16:creationId xmlns:a16="http://schemas.microsoft.com/office/drawing/2014/main" id="{04982A2A-5EA7-45E9-A47A-0E4227F5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05575"/>
            <a:ext cx="2400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8-89-真实运行 / 受控 Mock">
            <a:extLst xmlns:a="http://schemas.openxmlformats.org/drawingml/2006/main">
              <a:ext uri="{FF2B5EF4-FFF2-40B4-BE49-F238E27FC236}">
                <a16:creationId xmlns:a16="http://schemas.microsoft.com/office/drawing/2014/main" id="{3C80EBC9-768F-47DD-A5C2-A7D25B48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2171700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真实运行 / 受控 Mock</a:t>
            </a:r>
          </a:p>
        </p:txBody>
      </p:sp>
      <p:sp>
        <p:nvSpPr>
          <p:cNvPr id="91" name="p8-90">
            <a:extLst xmlns:a="http://schemas.openxmlformats.org/drawingml/2006/main">
              <a:ext uri="{FF2B5EF4-FFF2-40B4-BE49-F238E27FC236}">
                <a16:creationId xmlns:a16="http://schemas.microsoft.com/office/drawing/2014/main" id="{89B2F512-E982-487D-A112-E3DDB97B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0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8-91-另有固定番茄钟离线运行样例。多线写作超出">
            <a:extLst xmlns:a="http://schemas.openxmlformats.org/drawingml/2006/main">
              <a:ext uri="{FF2B5EF4-FFF2-40B4-BE49-F238E27FC236}">
                <a16:creationId xmlns:a16="http://schemas.microsoft.com/office/drawing/2014/main" id="{A0F83581-FCD0-40BD-B3BC-95643348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另有本地真实 DeepSeek 生成 AppSpec v2 番茄钟1次验证；公网待验。多线写作仍属长期目标；本页不宣称全部已实现。</a:t>
            </a:r>
          </a:p>
        </p:txBody>
      </p:sp>
    </p:spTree>
    <p:extLst>
      <p:ext uri="{BB962C8B-B14F-4D97-AF65-F5344CB8AC3E}">
        <p14:creationId xmlns:p14="http://schemas.microsoft.com/office/powerpoint/2010/main" val="14211560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9-0">
            <a:extLst xmlns:a="http://schemas.openxmlformats.org/drawingml/2006/main">
              <a:ext uri="{FF2B5EF4-FFF2-40B4-BE49-F238E27FC236}">
                <a16:creationId xmlns:a16="http://schemas.microsoft.com/office/drawing/2014/main" id="{B654C9D3-B1A9-431E-89DE-46044705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9-1">
            <a:extLst xmlns:a="http://schemas.openxmlformats.org/drawingml/2006/main">
              <a:ext uri="{FF2B5EF4-FFF2-40B4-BE49-F238E27FC236}">
                <a16:creationId xmlns:a16="http://schemas.microsoft.com/office/drawing/2014/main" id="{CC4717D6-1944-4FDA-8DA6-8B16274F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9-2">
            <a:extLst xmlns:a="http://schemas.openxmlformats.org/drawingml/2006/main">
              <a:ext uri="{FF2B5EF4-FFF2-40B4-BE49-F238E27FC236}">
                <a16:creationId xmlns:a16="http://schemas.microsoft.com/office/drawing/2014/main" id="{46A9F9BE-4F56-4DC8-BB20-0ECF85DF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9-3">
            <a:extLst xmlns:a="http://schemas.openxmlformats.org/drawingml/2006/main">
              <a:ext uri="{FF2B5EF4-FFF2-40B4-BE49-F238E27FC236}">
                <a16:creationId xmlns:a16="http://schemas.microsoft.com/office/drawing/2014/main" id="{842638EC-D177-465E-9DC9-646E664D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9-4-BlockCraft AI">
            <a:extLst xmlns:a="http://schemas.openxmlformats.org/drawingml/2006/main">
              <a:ext uri="{FF2B5EF4-FFF2-40B4-BE49-F238E27FC236}">
                <a16:creationId xmlns:a16="http://schemas.microsoft.com/office/drawing/2014/main" id="{35154EE6-7415-42DA-9EA6-B5D8B6D4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9-5-08 / 可验证的产品 DEMO">
            <a:extLst xmlns:a="http://schemas.openxmlformats.org/drawingml/2006/main">
              <a:ext uri="{FF2B5EF4-FFF2-40B4-BE49-F238E27FC236}">
                <a16:creationId xmlns:a16="http://schemas.microsoft.com/office/drawing/2014/main" id="{9A2533B5-7B42-4C36-BE1C-3D9230AB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08 / 可验证的产品 DEMO</a:t>
            </a:r>
          </a:p>
        </p:txBody>
      </p:sp>
      <p:sp>
        <p:nvSpPr>
          <p:cNvPr id="7" name="p9-6-先把可编辑、可预览的基础做扎实">
            <a:extLst xmlns:a="http://schemas.openxmlformats.org/drawingml/2006/main">
              <a:ext uri="{FF2B5EF4-FFF2-40B4-BE49-F238E27FC236}">
                <a16:creationId xmlns:a16="http://schemas.microsoft.com/office/drawing/2014/main" id="{B5FFE62B-AA74-4C2C-81EA-58A1697A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先把可编辑、可预览的基础做扎实</a:t>
            </a:r>
          </a:p>
        </p:txBody>
      </p:sp>
      <p:sp>
        <p:nvSpPr>
          <p:cNvPr id="8" name="p9-7-真实验收截图：受控 AppSpec 演示">
            <a:extLst xmlns:a="http://schemas.openxmlformats.org/drawingml/2006/main">
              <a:ext uri="{FF2B5EF4-FFF2-40B4-BE49-F238E27FC236}">
                <a16:creationId xmlns:a16="http://schemas.microsoft.com/office/drawing/2014/main" id="{8EC817B2-FD35-420F-9BA4-31FFC2DC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真实运行截图：离线固定 AppSpec 演示 B/C 与数据操作，不是在线 DeepSeek 生成证据。</a:t>
            </a:r>
          </a:p>
        </p:txBody>
      </p:sp>
      <p:sp>
        <p:nvSpPr>
          <p:cNvPr id="9" name="p9-8">
            <a:extLst xmlns:a="http://schemas.openxmlformats.org/drawingml/2006/main">
              <a:ext uri="{FF2B5EF4-FFF2-40B4-BE49-F238E27FC236}">
                <a16:creationId xmlns:a16="http://schemas.microsoft.com/office/drawing/2014/main" id="{26004D4D-D161-4C5D-BBDA-579B295B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9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F0DA9580-E15A-49CA-AEEE-39BB4EA9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9-10-09 / 15">
            <a:extLst xmlns:a="http://schemas.openxmlformats.org/drawingml/2006/main">
              <a:ext uri="{FF2B5EF4-FFF2-40B4-BE49-F238E27FC236}">
                <a16:creationId xmlns:a16="http://schemas.microsoft.com/office/drawing/2014/main" id="{A8333F7A-FE30-47D5-BCF6-7E1D81AD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09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C5FB0-93F7-43ED-923A-62CDC3E3A4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04b67805d4a68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9-12">
            <a:extLst xmlns:a="http://schemas.openxmlformats.org/drawingml/2006/main">
              <a:ext uri="{FF2B5EF4-FFF2-40B4-BE49-F238E27FC236}">
                <a16:creationId xmlns:a16="http://schemas.microsoft.com/office/drawing/2014/main" id="{E7AC3FE2-BB03-4B7E-A067-00691423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1057275"/>
            <a:ext cx="3524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9-13-真实运行截图 · 受控 Mock">
            <a:extLst xmlns:a="http://schemas.openxmlformats.org/drawingml/2006/main">
              <a:ext uri="{FF2B5EF4-FFF2-40B4-BE49-F238E27FC236}">
                <a16:creationId xmlns:a16="http://schemas.microsoft.com/office/drawing/2014/main" id="{47551E9E-7A64-4888-BF13-F14BD21B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104900"/>
            <a:ext cx="32956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真实运行截图 · 受控 Mock</a:t>
            </a:r>
          </a:p>
        </p:txBody>
      </p:sp>
      <p:sp>
        <p:nvSpPr>
          <p:cNvPr id="15" name="p9-14">
            <a:extLst xmlns:a="http://schemas.openxmlformats.org/drawingml/2006/main">
              <a:ext uri="{FF2B5EF4-FFF2-40B4-BE49-F238E27FC236}">
                <a16:creationId xmlns:a16="http://schemas.microsoft.com/office/drawing/2014/main" id="{4A27500A-B031-4F05-93D1-9284FC78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6791325" cy="380047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6" name="p9-15-B / 功能积木">
            <a:extLst xmlns:a="http://schemas.openxmlformats.org/drawingml/2006/main">
              <a:ext uri="{FF2B5EF4-FFF2-40B4-BE49-F238E27FC236}">
                <a16:creationId xmlns:a16="http://schemas.microsoft.com/office/drawing/2014/main" id="{28C34ADD-D40F-46CF-A5A7-C547C857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634365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 / 功能积木</a:t>
            </a:r>
          </a:p>
        </p:txBody>
      </p:sp>
      <p:sp>
        <p:nvSpPr>
          <p:cNvPr id="17" name="p9-16-选择、拖动、Inspector 配置">
            <a:extLst xmlns:a="http://schemas.openxmlformats.org/drawingml/2006/main">
              <a:ext uri="{FF2B5EF4-FFF2-40B4-BE49-F238E27FC236}">
                <a16:creationId xmlns:a16="http://schemas.microsoft.com/office/drawing/2014/main" id="{F74887C4-1BDB-4050-B925-78AF81F4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63436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选择、拖动、Inspector 配置</a:t>
            </a:r>
          </a:p>
        </p:txBody>
      </p:sp>
      <p:sp>
        <p:nvSpPr>
          <p:cNvPr id="18" name="p9-17">
            <a:extLst xmlns:a="http://schemas.openxmlformats.org/drawingml/2006/main">
              <a:ext uri="{FF2B5EF4-FFF2-40B4-BE49-F238E27FC236}">
                <a16:creationId xmlns:a16="http://schemas.microsoft.com/office/drawing/2014/main" id="{8476DAAC-14C4-4195-85CA-18BD25AB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905125"/>
            <a:ext cx="6791325" cy="380047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9" name="p9-18-C / 应用预览">
            <a:extLst xmlns:a="http://schemas.openxmlformats.org/drawingml/2006/main">
              <a:ext uri="{FF2B5EF4-FFF2-40B4-BE49-F238E27FC236}">
                <a16:creationId xmlns:a16="http://schemas.microsoft.com/office/drawing/2014/main" id="{027BDC1E-1272-45E3-8648-52EED937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095625"/>
            <a:ext cx="634365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C / 应用预览</a:t>
            </a:r>
          </a:p>
        </p:txBody>
      </p:sp>
      <p:sp>
        <p:nvSpPr>
          <p:cNvPr id="20" name="p9-19-记录增删改与人数统计">
            <a:extLst xmlns:a="http://schemas.openxmlformats.org/drawingml/2006/main">
              <a:ext uri="{FF2B5EF4-FFF2-40B4-BE49-F238E27FC236}">
                <a16:creationId xmlns:a16="http://schemas.microsoft.com/office/drawing/2014/main" id="{E57289F7-F7F2-4FA9-9E96-7A47C078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495675"/>
            <a:ext cx="63436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记录增删改与人数统计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19EAA-0AF2-4B21-818E-2A5B210004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aa09400014ada"/>
          <a:stretch xmlns:a="http://schemas.openxmlformats.org/drawingml/2006/main"/>
        </p:blipFill>
        <p:spPr>
          <a:xfrm xmlns:a="http://schemas.openxmlformats.org/drawingml/2006/main">
            <a:off x="838200" y="3934029"/>
            <a:ext cx="6448425" cy="2590393"/>
          </a:xfrm>
          <a:prstGeom xmlns:a="http://schemas.openxmlformats.org/drawingml/2006/main" prst="rect">
            <a:avLst/>
          </a:prstGeom>
        </p:spPr>
      </p:pic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2E06C9-803B-4E3E-A2F0-7C8F61E88F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074f281f24511"/>
          <a:stretch xmlns:a="http://schemas.openxmlformats.org/drawingml/2006/main"/>
        </p:blipFill>
        <p:spPr>
          <a:xfrm xmlns:a="http://schemas.openxmlformats.org/drawingml/2006/main">
            <a:off x="7953375" y="3934029"/>
            <a:ext cx="6448425" cy="2590393"/>
          </a:xfrm>
          <a:prstGeom xmlns:a="http://schemas.openxmlformats.org/drawingml/2006/main" prst="rect">
            <a:avLst/>
          </a:prstGeom>
        </p:spPr>
      </p:pic>
      <p:sp>
        <p:nvSpPr>
          <p:cNvPr id="23" name="p9-22">
            <a:extLst xmlns:a="http://schemas.openxmlformats.org/drawingml/2006/main">
              <a:ext uri="{FF2B5EF4-FFF2-40B4-BE49-F238E27FC236}">
                <a16:creationId xmlns:a16="http://schemas.microsoft.com/office/drawing/2014/main" id="{C9BBE43E-1312-4BF6-B849-565FC04C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86575"/>
            <a:ext cx="13906500" cy="695325"/>
          </a:xfrm>
          <a:prstGeom xmlns:a="http://schemas.openxmlformats.org/drawingml/2006/main" prst="roundRect">
            <a:avLst>
              <a:gd name="adj" fmla="val 24658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9-23-离线扩展样例">
            <a:extLst xmlns:a="http://schemas.openxmlformats.org/drawingml/2006/main">
              <a:ext uri="{FF2B5EF4-FFF2-40B4-BE49-F238E27FC236}">
                <a16:creationId xmlns:a16="http://schemas.microsoft.com/office/drawing/2014/main" id="{1A1169B7-7D88-44AA-91C5-5B46391D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077075"/>
            <a:ext cx="20955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72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新增本地真实验证</a:t>
            </a:r>
          </a:p>
        </p:txBody>
      </p:sp>
      <p:sp>
        <p:nvSpPr>
          <p:cNvPr id="25" name="p9-24-固定 25 分钟番茄钟：开始 / 暂停 ">
            <a:extLst xmlns:a="http://schemas.openxmlformats.org/drawingml/2006/main">
              <a:ext uri="{FF2B5EF4-FFF2-40B4-BE49-F238E27FC236}">
                <a16:creationId xmlns:a16="http://schemas.microsoft.com/office/drawing/2014/main" id="{D255E5C7-B065-4E87-8F14-90C3D642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086600"/>
            <a:ext cx="112395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真实 DeepSeek → AppSpec v2 → 番茄钟：开始 / 暂停 / 重置通过1次本地验证；非任意 TSX 执行。</a:t>
            </a:r>
          </a:p>
        </p:txBody>
      </p:sp>
      <p:sp>
        <p:nvSpPr>
          <p:cNvPr id="26" name="p9-25-截图：video-b 原始验收素材，基线">
            <a:extLst xmlns:a="http://schemas.openxmlformats.org/drawingml/2006/main">
              <a:ext uri="{FF2B5EF4-FFF2-40B4-BE49-F238E27FC236}">
                <a16:creationId xmlns:a16="http://schemas.microsoft.com/office/drawing/2014/main" id="{E2482584-18A5-4354-963F-9600F172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上方截图仍为离线素材7e94dc9。新增本地证据7fb98ff，测试代码e4d65ac；真实模型验证不等于公网部署或生产就绪。</a:t>
            </a:r>
          </a:p>
        </p:txBody>
      </p:sp>
    </p:spTree>
    <p:extLst>
      <p:ext uri="{BB962C8B-B14F-4D97-AF65-F5344CB8AC3E}">
        <p14:creationId xmlns:p14="http://schemas.microsoft.com/office/powerpoint/2010/main" val="14165420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p10-0">
            <a:extLst xmlns:a="http://schemas.openxmlformats.org/drawingml/2006/main">
              <a:ext uri="{FF2B5EF4-FFF2-40B4-BE49-F238E27FC236}">
                <a16:creationId xmlns:a16="http://schemas.microsoft.com/office/drawing/2014/main" id="{97BDAF79-E178-43FB-914C-0A2224AD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0-1">
            <a:extLst xmlns:a="http://schemas.openxmlformats.org/drawingml/2006/main">
              <a:ext uri="{FF2B5EF4-FFF2-40B4-BE49-F238E27FC236}">
                <a16:creationId xmlns:a16="http://schemas.microsoft.com/office/drawing/2014/main" id="{C4D70A4B-86EB-4C81-BCA8-210706A7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10-2">
            <a:extLst xmlns:a="http://schemas.openxmlformats.org/drawingml/2006/main">
              <a:ext uri="{FF2B5EF4-FFF2-40B4-BE49-F238E27FC236}">
                <a16:creationId xmlns:a16="http://schemas.microsoft.com/office/drawing/2014/main" id="{277471DB-DAF8-453F-B72D-A3E187F8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0-3">
            <a:extLst xmlns:a="http://schemas.openxmlformats.org/drawingml/2006/main">
              <a:ext uri="{FF2B5EF4-FFF2-40B4-BE49-F238E27FC236}">
                <a16:creationId xmlns:a16="http://schemas.microsoft.com/office/drawing/2014/main" id="{745A7848-2DE1-4F0C-8F3F-5C200FC7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0-4-BlockCraft AI">
            <a:extLst xmlns:a="http://schemas.openxmlformats.org/drawingml/2006/main">
              <a:ext uri="{FF2B5EF4-FFF2-40B4-BE49-F238E27FC236}">
                <a16:creationId xmlns:a16="http://schemas.microsoft.com/office/drawing/2014/main" id="{66A836C6-4B5B-443A-92C3-6628B378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10-5-09 / 技术架构与边界">
            <a:extLst xmlns:a="http://schemas.openxmlformats.org/drawingml/2006/main">
              <a:ext uri="{FF2B5EF4-FFF2-40B4-BE49-F238E27FC236}">
                <a16:creationId xmlns:a16="http://schemas.microsoft.com/office/drawing/2014/main" id="{CBDEEAD9-01C7-4A21-A53E-D1C07249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09 / 技术架构与边界</a:t>
            </a:r>
          </a:p>
        </p:txBody>
      </p:sp>
      <p:sp>
        <p:nvSpPr>
          <p:cNvPr id="7" name="p10-6-已构建工程基础，完整闭环分阶段交付">
            <a:extLst xmlns:a="http://schemas.openxmlformats.org/drawingml/2006/main">
              <a:ext uri="{FF2B5EF4-FFF2-40B4-BE49-F238E27FC236}">
                <a16:creationId xmlns:a16="http://schemas.microsoft.com/office/drawing/2014/main" id="{2DC3C1AC-E96C-4383-9DFB-E54FCE63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已构建工程基础，完整闭环分阶段交付</a:t>
            </a:r>
          </a:p>
        </p:txBody>
      </p:sp>
      <p:sp>
        <p:nvSpPr>
          <p:cNvPr id="8" name="p10-7-事实基线：main 8cfa37f，已合">
            <a:extLst xmlns:a="http://schemas.openxmlformats.org/drawingml/2006/main">
              <a:ext uri="{FF2B5EF4-FFF2-40B4-BE49-F238E27FC236}">
                <a16:creationId xmlns:a16="http://schemas.microsoft.com/office/drawing/2014/main" id="{8C487AC6-A413-4500-8B8C-B40A25B1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核查基线：main 4a95cae；Mochi Engine / CAS 与 Workshop B/C presentation 已合并。</a:t>
            </a:r>
          </a:p>
        </p:txBody>
      </p:sp>
      <p:sp>
        <p:nvSpPr>
          <p:cNvPr id="9" name="p10-8">
            <a:extLst xmlns:a="http://schemas.openxmlformats.org/drawingml/2006/main">
              <a:ext uri="{FF2B5EF4-FFF2-40B4-BE49-F238E27FC236}">
                <a16:creationId xmlns:a16="http://schemas.microsoft.com/office/drawing/2014/main" id="{C74D90CE-B131-43A7-B098-111EFAFF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0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42F80D59-E801-4464-A3BD-1C139D52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10-10-10 / 15">
            <a:extLst xmlns:a="http://schemas.openxmlformats.org/drawingml/2006/main">
              <a:ext uri="{FF2B5EF4-FFF2-40B4-BE49-F238E27FC236}">
                <a16:creationId xmlns:a16="http://schemas.microsoft.com/office/drawing/2014/main" id="{92AFB9CB-1926-4644-B1CA-54232425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10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41B40-B2B7-4E11-874C-8FBA9F7C9A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44ba663834658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10-12">
            <a:extLst xmlns:a="http://schemas.openxmlformats.org/drawingml/2006/main">
              <a:ext uri="{FF2B5EF4-FFF2-40B4-BE49-F238E27FC236}">
                <a16:creationId xmlns:a16="http://schemas.microsoft.com/office/drawing/2014/main" id="{B6F4EE60-09EC-405D-874A-DE554542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3190875" cy="9525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4" name="p10-13-自然语言入口">
            <a:extLst xmlns:a="http://schemas.openxmlformats.org/drawingml/2006/main">
              <a:ext uri="{FF2B5EF4-FFF2-40B4-BE49-F238E27FC236}">
                <a16:creationId xmlns:a16="http://schemas.microsoft.com/office/drawing/2014/main" id="{0AF5336D-070E-4B22-BF98-060F5947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905125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自然语言入口</a:t>
            </a:r>
          </a:p>
        </p:txBody>
      </p:sp>
      <p:sp>
        <p:nvSpPr>
          <p:cNvPr id="15" name="p10-14-生成服务接口">
            <a:extLst xmlns:a="http://schemas.openxmlformats.org/drawingml/2006/main">
              <a:ext uri="{FF2B5EF4-FFF2-40B4-BE49-F238E27FC236}">
                <a16:creationId xmlns:a16="http://schemas.microsoft.com/office/drawing/2014/main" id="{3E7E3F24-1C85-43AD-A2C7-74E3157F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19475"/>
            <a:ext cx="290512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生成服务接口</a:t>
            </a:r>
          </a:p>
        </p:txBody>
      </p:sp>
      <p:sp>
        <p:nvSpPr>
          <p:cNvPr id="16" name="p10-15-→">
            <a:extLst xmlns:a="http://schemas.openxmlformats.org/drawingml/2006/main">
              <a:ext uri="{FF2B5EF4-FFF2-40B4-BE49-F238E27FC236}">
                <a16:creationId xmlns:a16="http://schemas.microsoft.com/office/drawing/2014/main" id="{F6F097DC-B040-43D6-BD8D-397B5A8A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67050"/>
            <a:ext cx="3810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17" name="p10-16">
            <a:extLst xmlns:a="http://schemas.openxmlformats.org/drawingml/2006/main">
              <a:ext uri="{FF2B5EF4-FFF2-40B4-BE49-F238E27FC236}">
                <a16:creationId xmlns:a16="http://schemas.microsoft.com/office/drawing/2014/main" id="{94284692-E3FD-4089-ABBB-994C2976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38450"/>
            <a:ext cx="3190875" cy="9525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8" name="p10-17-AppSpec">
            <a:extLst xmlns:a="http://schemas.openxmlformats.org/drawingml/2006/main">
              <a:ext uri="{FF2B5EF4-FFF2-40B4-BE49-F238E27FC236}">
                <a16:creationId xmlns:a16="http://schemas.microsoft.com/office/drawing/2014/main" id="{275313EA-39D5-4FEA-A206-1F96710F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990850"/>
            <a:ext cx="2905125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AppSpec</a:t>
            </a:r>
          </a:p>
        </p:txBody>
      </p:sp>
      <p:sp>
        <p:nvSpPr>
          <p:cNvPr id="19" name="p10-18-JSON / 协议校验">
            <a:extLst xmlns:a="http://schemas.openxmlformats.org/drawingml/2006/main">
              <a:ext uri="{FF2B5EF4-FFF2-40B4-BE49-F238E27FC236}">
                <a16:creationId xmlns:a16="http://schemas.microsoft.com/office/drawing/2014/main" id="{08BC4372-042F-4FCD-9FED-BE570228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419475"/>
            <a:ext cx="290512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JSON / 协议校验</a:t>
            </a:r>
          </a:p>
        </p:txBody>
      </p:sp>
      <p:sp>
        <p:nvSpPr>
          <p:cNvPr id="20" name="p10-19-→">
            <a:extLst xmlns:a="http://schemas.openxmlformats.org/drawingml/2006/main">
              <a:ext uri="{FF2B5EF4-FFF2-40B4-BE49-F238E27FC236}">
                <a16:creationId xmlns:a16="http://schemas.microsoft.com/office/drawing/2014/main" id="{71BC1697-E087-4376-8208-CA48D482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3810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21" name="p10-20">
            <a:extLst xmlns:a="http://schemas.openxmlformats.org/drawingml/2006/main">
              <a:ext uri="{FF2B5EF4-FFF2-40B4-BE49-F238E27FC236}">
                <a16:creationId xmlns:a16="http://schemas.microsoft.com/office/drawing/2014/main" id="{277CC48C-C443-49BE-9C5D-DBD3AC4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3190875" cy="9525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2" name="p10-21-Workshop B/C">
            <a:extLst xmlns:a="http://schemas.openxmlformats.org/drawingml/2006/main">
              <a:ext uri="{FF2B5EF4-FFF2-40B4-BE49-F238E27FC236}">
                <a16:creationId xmlns:a16="http://schemas.microsoft.com/office/drawing/2014/main" id="{B2213451-D92E-466F-9D9A-406C86BB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90850"/>
            <a:ext cx="2905125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Workshop B/C</a:t>
            </a:r>
          </a:p>
        </p:txBody>
      </p:sp>
      <p:sp>
        <p:nvSpPr>
          <p:cNvPr id="23" name="p10-22-编辑与预览共享状态">
            <a:extLst xmlns:a="http://schemas.openxmlformats.org/drawingml/2006/main">
              <a:ext uri="{FF2B5EF4-FFF2-40B4-BE49-F238E27FC236}">
                <a16:creationId xmlns:a16="http://schemas.microsoft.com/office/drawing/2014/main" id="{3D925EEC-3F9C-4CEB-A343-B21E2DDE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19475"/>
            <a:ext cx="290512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编辑与预览共享状态</a:t>
            </a:r>
          </a:p>
        </p:txBody>
      </p:sp>
      <p:sp>
        <p:nvSpPr>
          <p:cNvPr id="24" name="p10-23-→">
            <a:extLst xmlns:a="http://schemas.openxmlformats.org/drawingml/2006/main">
              <a:ext uri="{FF2B5EF4-FFF2-40B4-BE49-F238E27FC236}">
                <a16:creationId xmlns:a16="http://schemas.microsoft.com/office/drawing/2014/main" id="{2A70F472-DFB5-4B49-AAA3-4A17D157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67050"/>
            <a:ext cx="3810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25" name="p10-24">
            <a:extLst xmlns:a="http://schemas.openxmlformats.org/drawingml/2006/main">
              <a:ext uri="{FF2B5EF4-FFF2-40B4-BE49-F238E27FC236}">
                <a16:creationId xmlns:a16="http://schemas.microsoft.com/office/drawing/2014/main" id="{3BD98E44-1DE2-4EB0-A9DA-37257B90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2838450"/>
            <a:ext cx="3190875" cy="95250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6" name="p10-25-React 源码导出">
            <a:extLst xmlns:a="http://schemas.openxmlformats.org/drawingml/2006/main">
              <a:ext uri="{FF2B5EF4-FFF2-40B4-BE49-F238E27FC236}">
                <a16:creationId xmlns:a16="http://schemas.microsoft.com/office/drawing/2014/main" id="{F9CD8391-2217-49F5-9097-836C6EF5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2990850"/>
            <a:ext cx="2905125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React 源码导出</a:t>
            </a:r>
          </a:p>
        </p:txBody>
      </p:sp>
      <p:sp>
        <p:nvSpPr>
          <p:cNvPr id="27" name="p10-26-受支持协议与样例">
            <a:extLst xmlns:a="http://schemas.openxmlformats.org/drawingml/2006/main">
              <a:ext uri="{FF2B5EF4-FFF2-40B4-BE49-F238E27FC236}">
                <a16:creationId xmlns:a16="http://schemas.microsoft.com/office/drawing/2014/main" id="{E325CAD9-5E90-4696-862C-1410405A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3419475"/>
            <a:ext cx="2905125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受支持协议与样例</a:t>
            </a:r>
          </a:p>
        </p:txBody>
      </p:sp>
      <p:sp>
        <p:nvSpPr>
          <p:cNvPr id="28" name="p10-27">
            <a:extLst xmlns:a="http://schemas.openxmlformats.org/drawingml/2006/main">
              <a:ext uri="{FF2B5EF4-FFF2-40B4-BE49-F238E27FC236}">
                <a16:creationId xmlns:a16="http://schemas.microsoft.com/office/drawing/2014/main" id="{DA3B0807-97E8-47DC-A913-780C5B85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3906500" cy="552450"/>
          </a:xfrm>
          <a:prstGeom xmlns:a="http://schemas.openxmlformats.org/drawingml/2006/main" prst="roundRect">
            <a:avLst>
              <a:gd name="adj" fmla="val 25862"/>
            </a:avLst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10-28-安全写入：选中范围 → 变更方案 → 明">
            <a:extLst xmlns:a="http://schemas.openxmlformats.org/drawingml/2006/main">
              <a:ext uri="{FF2B5EF4-FFF2-40B4-BE49-F238E27FC236}">
                <a16:creationId xmlns:a16="http://schemas.microsoft.com/office/drawing/2014/main" id="{A9BD9EC3-14C4-48B5-A7A3-F606377B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348740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725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安全写入：选中范围 → 变更方案 → 明确确认 → Host / CAS 校验版本与权限 → 原子提交</a:t>
            </a:r>
          </a:p>
        </p:txBody>
      </p:sp>
      <p:sp>
        <p:nvSpPr>
          <p:cNvPr id="30" name="p10-29">
            <a:extLst xmlns:a="http://schemas.openxmlformats.org/drawingml/2006/main">
              <a:ext uri="{FF2B5EF4-FFF2-40B4-BE49-F238E27FC236}">
                <a16:creationId xmlns:a16="http://schemas.microsoft.com/office/drawing/2014/main" id="{3D4FD49F-7A02-4514-98DA-F23EAE8E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3190875" cy="2295525"/>
          </a:xfrm>
          <a:prstGeom xmlns:a="http://schemas.openxmlformats.org/drawingml/2006/main" prst="roundRect">
            <a:avLst>
              <a:gd name="adj" fmla="val 9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1" name="p10-30">
            <a:extLst xmlns:a="http://schemas.openxmlformats.org/drawingml/2006/main">
              <a:ext uri="{FF2B5EF4-FFF2-40B4-BE49-F238E27FC236}">
                <a16:creationId xmlns:a16="http://schemas.microsoft.com/office/drawing/2014/main" id="{0FD12E09-20DA-4BBC-8057-FB020FA5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3190875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10-31-已实现">
            <a:extLst xmlns:a="http://schemas.openxmlformats.org/drawingml/2006/main">
              <a:ext uri="{FF2B5EF4-FFF2-40B4-BE49-F238E27FC236}">
                <a16:creationId xmlns:a16="http://schemas.microsoft.com/office/drawing/2014/main" id="{FF4220E5-12BA-49B9-8603-C48995DF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28575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已实现</a:t>
            </a:r>
          </a:p>
        </p:txBody>
      </p:sp>
      <p:sp>
        <p:nvSpPr>
          <p:cNvPr id="33" name="p10-32-· B/C 基础编辑与 presenta">
            <a:extLst xmlns:a="http://schemas.openxmlformats.org/drawingml/2006/main">
              <a:ext uri="{FF2B5EF4-FFF2-40B4-BE49-F238E27FC236}">
                <a16:creationId xmlns:a16="http://schemas.microsoft.com/office/drawing/2014/main" id="{27C51F51-2172-4BC3-BE67-7226606B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578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B/C 基础编辑与 presentation</a:t>
            </a:r>
          </a:p>
        </p:txBody>
      </p:sp>
      <p:sp>
        <p:nvSpPr>
          <p:cNvPr id="34" name="p10-33-· Mochi Engine / CAS">
            <a:extLst xmlns:a="http://schemas.openxmlformats.org/drawingml/2006/main">
              <a:ext uri="{FF2B5EF4-FFF2-40B4-BE49-F238E27FC236}">
                <a16:creationId xmlns:a16="http://schemas.microsoft.com/office/drawing/2014/main" id="{CC2006C6-C9CF-4035-85F3-5F8BEBE6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150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Mochi Engine / CAS</a:t>
            </a:r>
          </a:p>
        </p:txBody>
      </p:sp>
      <p:sp>
        <p:nvSpPr>
          <p:cNvPr id="35" name="p10-34-· 生成接口与 AppSpec 协议校验">
            <a:extLst xmlns:a="http://schemas.openxmlformats.org/drawingml/2006/main">
              <a:ext uri="{FF2B5EF4-FFF2-40B4-BE49-F238E27FC236}">
                <a16:creationId xmlns:a16="http://schemas.microsoft.com/office/drawing/2014/main" id="{F98FC80A-F188-4B75-8385-F2B59F08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722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生成接口与 AppSpec 协议校验</a:t>
            </a:r>
          </a:p>
        </p:txBody>
      </p:sp>
      <p:sp>
        <p:nvSpPr>
          <p:cNvPr id="36" name="p10-35">
            <a:extLst xmlns:a="http://schemas.openxmlformats.org/drawingml/2006/main">
              <a:ext uri="{FF2B5EF4-FFF2-40B4-BE49-F238E27FC236}">
                <a16:creationId xmlns:a16="http://schemas.microsoft.com/office/drawing/2014/main" id="{1263BC83-1F64-4E20-9268-189D3065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24400"/>
            <a:ext cx="3190875" cy="2295525"/>
          </a:xfrm>
          <a:prstGeom xmlns:a="http://schemas.openxmlformats.org/drawingml/2006/main" prst="roundRect">
            <a:avLst>
              <a:gd name="adj" fmla="val 9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7" name="p10-36">
            <a:extLst xmlns:a="http://schemas.openxmlformats.org/drawingml/2006/main">
              <a:ext uri="{FF2B5EF4-FFF2-40B4-BE49-F238E27FC236}">
                <a16:creationId xmlns:a16="http://schemas.microsoft.com/office/drawing/2014/main" id="{99446F54-C949-4330-BB0E-0F864648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24400"/>
            <a:ext cx="3190875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10-37-已离线验证">
            <a:extLst xmlns:a="http://schemas.openxmlformats.org/drawingml/2006/main">
              <a:ext uri="{FF2B5EF4-FFF2-40B4-BE49-F238E27FC236}">
                <a16:creationId xmlns:a16="http://schemas.microsoft.com/office/drawing/2014/main" id="{AFA8D53F-314E-4F86-ADCB-B4B538ED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848225"/>
            <a:ext cx="28575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已离线验证</a:t>
            </a:r>
          </a:p>
        </p:txBody>
      </p:sp>
      <p:sp>
        <p:nvSpPr>
          <p:cNvPr id="39" name="p10-38-· v1 Mock / 可信番茄钟">
            <a:extLst xmlns:a="http://schemas.openxmlformats.org/drawingml/2006/main">
              <a:ext uri="{FF2B5EF4-FFF2-40B4-BE49-F238E27FC236}">
                <a16:creationId xmlns:a16="http://schemas.microsoft.com/office/drawing/2014/main" id="{19F3EDBF-ACE7-4BB4-8DA9-B63D54CB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4578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v1 Mock / 可信番茄钟</a:t>
            </a:r>
          </a:p>
        </p:txBody>
      </p:sp>
      <p:sp>
        <p:nvSpPr>
          <p:cNvPr id="40" name="p10-39-· 受控预览与确认写入">
            <a:extLst xmlns:a="http://schemas.openxmlformats.org/drawingml/2006/main">
              <a:ext uri="{FF2B5EF4-FFF2-40B4-BE49-F238E27FC236}">
                <a16:creationId xmlns:a16="http://schemas.microsoft.com/office/drawing/2014/main" id="{606A1603-D9E2-4AF1-B8EA-5D683D0F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9150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受控预览与确认写入</a:t>
            </a:r>
          </a:p>
        </p:txBody>
      </p:sp>
      <p:sp>
        <p:nvSpPr>
          <p:cNvPr id="41" name="p10-40-· 限定 React ZIP 与独立构建">
            <a:extLst xmlns:a="http://schemas.openxmlformats.org/drawingml/2006/main">
              <a:ext uri="{FF2B5EF4-FFF2-40B4-BE49-F238E27FC236}">
                <a16:creationId xmlns:a16="http://schemas.microsoft.com/office/drawing/2014/main" id="{B2701BB5-C209-4C43-8F96-AC737973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63722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限定 React ZIP 与独立构建</a:t>
            </a:r>
          </a:p>
        </p:txBody>
      </p:sp>
      <p:sp>
        <p:nvSpPr>
          <p:cNvPr id="42" name="p10-41">
            <a:extLst xmlns:a="http://schemas.openxmlformats.org/drawingml/2006/main">
              <a:ext uri="{FF2B5EF4-FFF2-40B4-BE49-F238E27FC236}">
                <a16:creationId xmlns:a16="http://schemas.microsoft.com/office/drawing/2014/main" id="{64718CBC-C98B-4CAD-9522-0DF73F3B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3190875" cy="2295525"/>
          </a:xfrm>
          <a:prstGeom xmlns:a="http://schemas.openxmlformats.org/drawingml/2006/main" prst="roundRect">
            <a:avLst>
              <a:gd name="adj" fmla="val 9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43" name="p10-42">
            <a:extLst xmlns:a="http://schemas.openxmlformats.org/drawingml/2006/main">
              <a:ext uri="{FF2B5EF4-FFF2-40B4-BE49-F238E27FC236}">
                <a16:creationId xmlns:a16="http://schemas.microsoft.com/office/drawing/2014/main" id="{C0A2A52A-A237-4C83-A4E6-372916E8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3190875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10-43-正在开发">
            <a:extLst xmlns:a="http://schemas.openxmlformats.org/drawingml/2006/main">
              <a:ext uri="{FF2B5EF4-FFF2-40B4-BE49-F238E27FC236}">
                <a16:creationId xmlns:a16="http://schemas.microsoft.com/office/drawing/2014/main" id="{2A7066CC-C635-4007-A228-218C624E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48225"/>
            <a:ext cx="28575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正在开发</a:t>
            </a:r>
          </a:p>
        </p:txBody>
      </p:sp>
      <p:sp>
        <p:nvSpPr>
          <p:cNvPr id="45" name="p10-44-· 正式 PlanProvider 生产">
            <a:extLst xmlns:a="http://schemas.openxmlformats.org/drawingml/2006/main">
              <a:ext uri="{FF2B5EF4-FFF2-40B4-BE49-F238E27FC236}">
                <a16:creationId xmlns:a16="http://schemas.microsoft.com/office/drawing/2014/main" id="{0F28D571-AB29-4171-8BD1-127EF9BD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578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正式 PlanProvider 生产接入</a:t>
            </a:r>
          </a:p>
        </p:txBody>
      </p:sp>
      <p:sp>
        <p:nvSpPr>
          <p:cNvPr id="46" name="p10-45-· 魔塔部署与公网功能验收">
            <a:extLst xmlns:a="http://schemas.openxmlformats.org/drawingml/2006/main">
              <a:ext uri="{FF2B5EF4-FFF2-40B4-BE49-F238E27FC236}">
                <a16:creationId xmlns:a16="http://schemas.microsoft.com/office/drawing/2014/main" id="{D70EC619-AEA5-43CA-8DCA-EBDCE34A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9150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魔塔首次部署未完成</a:t>
            </a:r>
          </a:p>
        </p:txBody>
      </p:sp>
      <p:sp>
        <p:nvSpPr>
          <p:cNvPr id="47" name="p10-46-· React/TSX 隔离与安全验收">
            <a:extLst xmlns:a="http://schemas.openxmlformats.org/drawingml/2006/main">
              <a:ext uri="{FF2B5EF4-FFF2-40B4-BE49-F238E27FC236}">
                <a16:creationId xmlns:a16="http://schemas.microsoft.com/office/drawing/2014/main" id="{32FFCA27-2AE2-4B0D-A724-F9E6D90B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3722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任意 TSX 隔离 Spike：NO-GO</a:t>
            </a:r>
          </a:p>
        </p:txBody>
      </p:sp>
      <p:sp>
        <p:nvSpPr>
          <p:cNvPr id="48" name="p10-47">
            <a:extLst xmlns:a="http://schemas.openxmlformats.org/drawingml/2006/main">
              <a:ext uri="{FF2B5EF4-FFF2-40B4-BE49-F238E27FC236}">
                <a16:creationId xmlns:a16="http://schemas.microsoft.com/office/drawing/2014/main" id="{8078BCF3-1F04-4CC0-8A2A-E756BF53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24400"/>
            <a:ext cx="3190875" cy="2295525"/>
          </a:xfrm>
          <a:prstGeom xmlns:a="http://schemas.openxmlformats.org/drawingml/2006/main" prst="roundRect">
            <a:avLst>
              <a:gd name="adj" fmla="val 9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49" name="p10-48">
            <a:extLst xmlns:a="http://schemas.openxmlformats.org/drawingml/2006/main">
              <a:ext uri="{FF2B5EF4-FFF2-40B4-BE49-F238E27FC236}">
                <a16:creationId xmlns:a16="http://schemas.microsoft.com/office/drawing/2014/main" id="{C64B837E-E665-44BA-BFC7-D9E2F555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24400"/>
            <a:ext cx="3190875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10-49-未来规划">
            <a:extLst xmlns:a="http://schemas.openxmlformats.org/drawingml/2006/main">
              <a:ext uri="{FF2B5EF4-FFF2-40B4-BE49-F238E27FC236}">
                <a16:creationId xmlns:a16="http://schemas.microsoft.com/office/drawing/2014/main" id="{6EDD977E-4EAF-4BCE-8E01-D56231DE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848225"/>
            <a:ext cx="28575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未来规划</a:t>
            </a:r>
          </a:p>
        </p:txBody>
      </p:sp>
      <p:sp>
        <p:nvSpPr>
          <p:cNvPr id="51" name="p10-50-· 自然语言自由增删与主动建议">
            <a:extLst xmlns:a="http://schemas.openxmlformats.org/drawingml/2006/main">
              <a:ext uri="{FF2B5EF4-FFF2-40B4-BE49-F238E27FC236}">
                <a16:creationId xmlns:a16="http://schemas.microsoft.com/office/drawing/2014/main" id="{68677874-A059-4B98-ACED-474E5564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54578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自然语言自由增删与主动建议</a:t>
            </a:r>
          </a:p>
        </p:txBody>
      </p:sp>
      <p:sp>
        <p:nvSpPr>
          <p:cNvPr id="52" name="p10-51-· 完整 AI 源码修改">
            <a:extLst xmlns:a="http://schemas.openxmlformats.org/drawingml/2006/main">
              <a:ext uri="{FF2B5EF4-FFF2-40B4-BE49-F238E27FC236}">
                <a16:creationId xmlns:a16="http://schemas.microsoft.com/office/drawing/2014/main" id="{8568AA6D-4031-4B7D-99BD-A4E4F776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59150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完整 AI 源码修改</a:t>
            </a:r>
          </a:p>
        </p:txBody>
      </p:sp>
      <p:sp>
        <p:nvSpPr>
          <p:cNvPr id="53" name="p10-52-· 多故事线等复杂软件">
            <a:extLst xmlns:a="http://schemas.openxmlformats.org/drawingml/2006/main">
              <a:ext uri="{FF2B5EF4-FFF2-40B4-BE49-F238E27FC236}">
                <a16:creationId xmlns:a16="http://schemas.microsoft.com/office/drawing/2014/main" id="{A684649C-E4EB-4E36-960B-906D5006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6372225"/>
            <a:ext cx="28765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· 多故事线等复杂软件</a:t>
            </a:r>
          </a:p>
        </p:txBody>
      </p:sp>
      <p:sp>
        <p:nvSpPr>
          <p:cNvPr id="54" name="p10-53-导出边界">
            <a:extLst xmlns:a="http://schemas.openxmlformats.org/drawingml/2006/main">
              <a:ext uri="{FF2B5EF4-FFF2-40B4-BE49-F238E27FC236}">
                <a16:creationId xmlns:a16="http://schemas.microsoft.com/office/drawing/2014/main" id="{313778C5-7AF3-4A4F-A7F3-289EA1AC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91375"/>
            <a:ext cx="14287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575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导出边界</a:t>
            </a:r>
          </a:p>
        </p:txBody>
      </p:sp>
      <p:sp>
        <p:nvSpPr>
          <p:cNvPr id="55" name="p10-54-当前为本机开发入口；支持范围有限，pre">
            <a:extLst xmlns:a="http://schemas.openxmlformats.org/drawingml/2006/main">
              <a:ext uri="{FF2B5EF4-FFF2-40B4-BE49-F238E27FC236}">
                <a16:creationId xmlns:a16="http://schemas.microsoft.com/office/drawing/2014/main" id="{0AC97EFE-4D3B-4335-B51D-C8C2AEDE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7191375"/>
            <a:ext cx="1238250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当前为本机开发入口；支持范围有限，presentation 样式导出仍待补齐，公网身份与项目权限尚待验收。</a:t>
            </a:r>
          </a:p>
        </p:txBody>
      </p:sp>
      <p:sp>
        <p:nvSpPr>
          <p:cNvPr id="56" name="p10-55-不宣称公网已上线、正式在线模型已验证或任">
            <a:extLst xmlns:a="http://schemas.openxmlformats.org/drawingml/2006/main">
              <a:ext uri="{FF2B5EF4-FFF2-40B4-BE49-F238E27FC236}">
                <a16:creationId xmlns:a16="http://schemas.microsoft.com/office/drawing/2014/main" id="{A1B4100F-5423-4BF2-92D1-BCF0EE7C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真实 DeepSeek → AppSpec v2 → B/C 番茄钟本地验证1次通过；公网接入待验。Fixture / Mock 单独记录；不宣称生产就绪。</a:t>
            </a:r>
          </a:p>
        </p:txBody>
      </p:sp>
    </p:spTree>
    <p:extLst>
      <p:ext uri="{BB962C8B-B14F-4D97-AF65-F5344CB8AC3E}">
        <p14:creationId xmlns:p14="http://schemas.microsoft.com/office/powerpoint/2010/main" val="4440919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p11-0">
            <a:extLst xmlns:a="http://schemas.openxmlformats.org/drawingml/2006/main">
              <a:ext uri="{FF2B5EF4-FFF2-40B4-BE49-F238E27FC236}">
                <a16:creationId xmlns:a16="http://schemas.microsoft.com/office/drawing/2014/main" id="{53F71299-0C8A-4904-AF2D-9E9D7CAD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1-1">
            <a:extLst xmlns:a="http://schemas.openxmlformats.org/drawingml/2006/main">
              <a:ext uri="{FF2B5EF4-FFF2-40B4-BE49-F238E27FC236}">
                <a16:creationId xmlns:a16="http://schemas.microsoft.com/office/drawing/2014/main" id="{0EABC373-78CC-4EF6-832B-F8D4125D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11-2">
            <a:extLst xmlns:a="http://schemas.openxmlformats.org/drawingml/2006/main">
              <a:ext uri="{FF2B5EF4-FFF2-40B4-BE49-F238E27FC236}">
                <a16:creationId xmlns:a16="http://schemas.microsoft.com/office/drawing/2014/main" id="{C78B91B8-448F-4B5F-82D1-055440A6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1-3">
            <a:extLst xmlns:a="http://schemas.openxmlformats.org/drawingml/2006/main">
              <a:ext uri="{FF2B5EF4-FFF2-40B4-BE49-F238E27FC236}">
                <a16:creationId xmlns:a16="http://schemas.microsoft.com/office/drawing/2014/main" id="{B0D78708-9B60-4186-AAB4-09FD697D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1-4-BlockCraft AI">
            <a:extLst xmlns:a="http://schemas.openxmlformats.org/drawingml/2006/main">
              <a:ext uri="{FF2B5EF4-FFF2-40B4-BE49-F238E27FC236}">
                <a16:creationId xmlns:a16="http://schemas.microsoft.com/office/drawing/2014/main" id="{4CF09262-3249-4ED1-81A0-7EF337D3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11-5-10 / 替代路径与差异化">
            <a:extLst xmlns:a="http://schemas.openxmlformats.org/drawingml/2006/main">
              <a:ext uri="{FF2B5EF4-FFF2-40B4-BE49-F238E27FC236}">
                <a16:creationId xmlns:a16="http://schemas.microsoft.com/office/drawing/2014/main" id="{0F08A3D4-0427-4267-A04A-36EA6D93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10 / 替代路径与差异化</a:t>
            </a:r>
          </a:p>
        </p:txBody>
      </p:sp>
      <p:sp>
        <p:nvSpPr>
          <p:cNvPr id="7" name="p11-6-我们争取的是更低的创造认知负担">
            <a:extLst xmlns:a="http://schemas.openxmlformats.org/drawingml/2006/main">
              <a:ext uri="{FF2B5EF4-FFF2-40B4-BE49-F238E27FC236}">
                <a16:creationId xmlns:a16="http://schemas.microsoft.com/office/drawing/2014/main" id="{319394ED-58ED-4B9C-AF83-DC85397A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我们争取的是更低的创造认知负担</a:t>
            </a:r>
          </a:p>
        </p:txBody>
      </p:sp>
      <p:sp>
        <p:nvSpPr>
          <p:cNvPr id="8" name="p11-7-差异化主张：用功能积木，成为用户与 AI">
            <a:extLst xmlns:a="http://schemas.openxmlformats.org/drawingml/2006/main">
              <a:ext uri="{FF2B5EF4-FFF2-40B4-BE49-F238E27FC236}">
                <a16:creationId xmlns:a16="http://schemas.microsoft.com/office/drawing/2014/main" id="{743DE2C2-4DE5-4B8F-9D4E-4CF93779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差异化主张：用功能积木，成为用户与 AI 之间共同理解的软件语言。</a:t>
            </a:r>
          </a:p>
        </p:txBody>
      </p:sp>
      <p:sp>
        <p:nvSpPr>
          <p:cNvPr id="9" name="p11-8">
            <a:extLst xmlns:a="http://schemas.openxmlformats.org/drawingml/2006/main">
              <a:ext uri="{FF2B5EF4-FFF2-40B4-BE49-F238E27FC236}">
                <a16:creationId xmlns:a16="http://schemas.microsoft.com/office/drawing/2014/main" id="{EB9AEBDA-D259-413D-A668-84B5865C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1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9E4AC85E-7030-48AD-81FB-9435B29F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11-10-11 / 15">
            <a:extLst xmlns:a="http://schemas.openxmlformats.org/drawingml/2006/main">
              <a:ext uri="{FF2B5EF4-FFF2-40B4-BE49-F238E27FC236}">
                <a16:creationId xmlns:a16="http://schemas.microsoft.com/office/drawing/2014/main" id="{EB7F2EC8-0AB7-4F7A-B4D9-12A84169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11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FD29A-0CCC-4900-A131-08CEE3D18B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680e97a704729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11-12">
            <a:extLst xmlns:a="http://schemas.openxmlformats.org/drawingml/2006/main">
              <a:ext uri="{FF2B5EF4-FFF2-40B4-BE49-F238E27FC236}">
                <a16:creationId xmlns:a16="http://schemas.microsoft.com/office/drawing/2014/main" id="{90808604-668F-4112-BE5D-417CCF49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5622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1-13-使用路径">
            <a:extLst xmlns:a="http://schemas.openxmlformats.org/drawingml/2006/main">
              <a:ext uri="{FF2B5EF4-FFF2-40B4-BE49-F238E27FC236}">
                <a16:creationId xmlns:a16="http://schemas.microsoft.com/office/drawing/2014/main" id="{2B4B2815-AE6A-4148-8161-FCE042B4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1812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使用路径</a:t>
            </a:r>
          </a:p>
        </p:txBody>
      </p:sp>
      <p:sp>
        <p:nvSpPr>
          <p:cNvPr id="15" name="p11-14">
            <a:extLst xmlns:a="http://schemas.openxmlformats.org/drawingml/2006/main">
              <a:ext uri="{FF2B5EF4-FFF2-40B4-BE49-F238E27FC236}">
                <a16:creationId xmlns:a16="http://schemas.microsoft.com/office/drawing/2014/main" id="{6E6F1D4A-6527-4233-AD39-C01A8CD9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952750"/>
            <a:ext cx="40290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11-15-从哪里开始">
            <a:extLst xmlns:a="http://schemas.openxmlformats.org/drawingml/2006/main">
              <a:ext uri="{FF2B5EF4-FFF2-40B4-BE49-F238E27FC236}">
                <a16:creationId xmlns:a16="http://schemas.microsoft.com/office/drawing/2014/main" id="{025198CA-77A5-4FAE-AFEB-D6143A07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36480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从哪里开始</a:t>
            </a:r>
          </a:p>
        </p:txBody>
      </p:sp>
      <p:sp>
        <p:nvSpPr>
          <p:cNvPr id="17" name="p11-16">
            <a:extLst xmlns:a="http://schemas.openxmlformats.org/drawingml/2006/main">
              <a:ext uri="{FF2B5EF4-FFF2-40B4-BE49-F238E27FC236}">
                <a16:creationId xmlns:a16="http://schemas.microsoft.com/office/drawing/2014/main" id="{7BDECCCE-97E1-4685-B5C7-05C16857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52750"/>
            <a:ext cx="37814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11-17-个性化主要依靠">
            <a:extLst xmlns:a="http://schemas.openxmlformats.org/drawingml/2006/main">
              <a:ext uri="{FF2B5EF4-FFF2-40B4-BE49-F238E27FC236}">
                <a16:creationId xmlns:a16="http://schemas.microsoft.com/office/drawing/2014/main" id="{2FFC5C15-A012-4803-998E-93B02E30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34004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个性化主要依靠</a:t>
            </a:r>
          </a:p>
        </p:txBody>
      </p:sp>
      <p:sp>
        <p:nvSpPr>
          <p:cNvPr id="19" name="p11-18">
            <a:extLst xmlns:a="http://schemas.openxmlformats.org/drawingml/2006/main">
              <a:ext uri="{FF2B5EF4-FFF2-40B4-BE49-F238E27FC236}">
                <a16:creationId xmlns:a16="http://schemas.microsoft.com/office/drawing/2014/main" id="{C295022A-5883-4E45-9D6C-A818645F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2952750"/>
            <a:ext cx="35337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1-19-用户需要承担">
            <a:extLst xmlns:a="http://schemas.openxmlformats.org/drawingml/2006/main">
              <a:ext uri="{FF2B5EF4-FFF2-40B4-BE49-F238E27FC236}">
                <a16:creationId xmlns:a16="http://schemas.microsoft.com/office/drawing/2014/main" id="{D3DA5493-6B84-48F8-ABC1-0324FD8D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143250"/>
            <a:ext cx="31527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用户需要承担</a:t>
            </a:r>
          </a:p>
        </p:txBody>
      </p:sp>
      <p:sp>
        <p:nvSpPr>
          <p:cNvPr id="21" name="p11-20">
            <a:extLst xmlns:a="http://schemas.openxmlformats.org/drawingml/2006/main">
              <a:ext uri="{FF2B5EF4-FFF2-40B4-BE49-F238E27FC236}">
                <a16:creationId xmlns:a16="http://schemas.microsoft.com/office/drawing/2014/main" id="{5452D78E-6A36-4B6A-88CE-2EFCA876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25622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11-21-现成 App">
            <a:extLst xmlns:a="http://schemas.openxmlformats.org/drawingml/2006/main">
              <a:ext uri="{FF2B5EF4-FFF2-40B4-BE49-F238E27FC236}">
                <a16:creationId xmlns:a16="http://schemas.microsoft.com/office/drawing/2014/main" id="{A88CD04A-E8A0-468A-8A1A-C09BC87B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21812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现成 App</a:t>
            </a:r>
          </a:p>
        </p:txBody>
      </p:sp>
      <p:sp>
        <p:nvSpPr>
          <p:cNvPr id="23" name="p11-22">
            <a:extLst xmlns:a="http://schemas.openxmlformats.org/drawingml/2006/main">
              <a:ext uri="{FF2B5EF4-FFF2-40B4-BE49-F238E27FC236}">
                <a16:creationId xmlns:a16="http://schemas.microsoft.com/office/drawing/2014/main" id="{E2162238-1EA1-4745-A76A-9CAD8A75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581400"/>
            <a:ext cx="40290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11-23-选择已有产品与功能">
            <a:extLst xmlns:a="http://schemas.openxmlformats.org/drawingml/2006/main">
              <a:ext uri="{FF2B5EF4-FFF2-40B4-BE49-F238E27FC236}">
                <a16:creationId xmlns:a16="http://schemas.microsoft.com/office/drawing/2014/main" id="{4F78E5BF-8955-4A5E-BCD3-E10D2691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29050"/>
            <a:ext cx="36480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选择已有产品与功能</a:t>
            </a:r>
          </a:p>
        </p:txBody>
      </p:sp>
      <p:sp>
        <p:nvSpPr>
          <p:cNvPr id="25" name="p11-24">
            <a:extLst xmlns:a="http://schemas.openxmlformats.org/drawingml/2006/main">
              <a:ext uri="{FF2B5EF4-FFF2-40B4-BE49-F238E27FC236}">
                <a16:creationId xmlns:a16="http://schemas.microsoft.com/office/drawing/2014/main" id="{851ADD71-F638-46A6-996D-1CEA2628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37814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11-25-设置、组合现有选项">
            <a:extLst xmlns:a="http://schemas.openxmlformats.org/drawingml/2006/main">
              <a:ext uri="{FF2B5EF4-FFF2-40B4-BE49-F238E27FC236}">
                <a16:creationId xmlns:a16="http://schemas.microsoft.com/office/drawing/2014/main" id="{B236D9CD-1FD2-4ABE-B73C-64055C20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29050"/>
            <a:ext cx="34004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设置、组合现有选项</a:t>
            </a:r>
          </a:p>
        </p:txBody>
      </p:sp>
      <p:sp>
        <p:nvSpPr>
          <p:cNvPr id="27" name="p11-26">
            <a:extLst xmlns:a="http://schemas.openxmlformats.org/drawingml/2006/main">
              <a:ext uri="{FF2B5EF4-FFF2-40B4-BE49-F238E27FC236}">
                <a16:creationId xmlns:a16="http://schemas.microsoft.com/office/drawing/2014/main" id="{F1D09F33-059D-4426-9B6C-F43FD460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3581400"/>
            <a:ext cx="35337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11-27-适应既有流程">
            <a:extLst xmlns:a="http://schemas.openxmlformats.org/drawingml/2006/main">
              <a:ext uri="{FF2B5EF4-FFF2-40B4-BE49-F238E27FC236}">
                <a16:creationId xmlns:a16="http://schemas.microsoft.com/office/drawing/2014/main" id="{2B575E74-88CD-4131-8EF3-AE7F1EEE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3829050"/>
            <a:ext cx="31527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适应既有流程</a:t>
            </a:r>
          </a:p>
        </p:txBody>
      </p:sp>
      <p:sp>
        <p:nvSpPr>
          <p:cNvPr id="29" name="p11-28">
            <a:extLst xmlns:a="http://schemas.openxmlformats.org/drawingml/2006/main">
              <a:ext uri="{FF2B5EF4-FFF2-40B4-BE49-F238E27FC236}">
                <a16:creationId xmlns:a16="http://schemas.microsoft.com/office/drawing/2014/main" id="{72E48BC0-757B-414F-8D27-DEFE7A56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11-29">
            <a:extLst xmlns:a="http://schemas.openxmlformats.org/drawingml/2006/main">
              <a:ext uri="{FF2B5EF4-FFF2-40B4-BE49-F238E27FC236}">
                <a16:creationId xmlns:a16="http://schemas.microsoft.com/office/drawing/2014/main" id="{8FAF5E02-0282-47AC-97D3-45E4D204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1975"/>
            <a:ext cx="25622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11-30-手工表格">
            <a:extLst xmlns:a="http://schemas.openxmlformats.org/drawingml/2006/main">
              <a:ext uri="{FF2B5EF4-FFF2-40B4-BE49-F238E27FC236}">
                <a16:creationId xmlns:a16="http://schemas.microsoft.com/office/drawing/2014/main" id="{3049D257-7D56-44D7-82A0-BBC8BB00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21812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手工表格</a:t>
            </a:r>
          </a:p>
        </p:txBody>
      </p:sp>
      <p:sp>
        <p:nvSpPr>
          <p:cNvPr id="32" name="p11-31">
            <a:extLst xmlns:a="http://schemas.openxmlformats.org/drawingml/2006/main">
              <a:ext uri="{FF2B5EF4-FFF2-40B4-BE49-F238E27FC236}">
                <a16:creationId xmlns:a16="http://schemas.microsoft.com/office/drawing/2014/main" id="{0DF01117-F5E5-4183-AACB-D942AED2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371975"/>
            <a:ext cx="40290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11-32-建立自己的表格">
            <a:extLst xmlns:a="http://schemas.openxmlformats.org/drawingml/2006/main">
              <a:ext uri="{FF2B5EF4-FFF2-40B4-BE49-F238E27FC236}">
                <a16:creationId xmlns:a16="http://schemas.microsoft.com/office/drawing/2014/main" id="{947A5030-2572-46A6-B568-59D96773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619625"/>
            <a:ext cx="36480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建立自己的表格</a:t>
            </a:r>
          </a:p>
        </p:txBody>
      </p:sp>
      <p:sp>
        <p:nvSpPr>
          <p:cNvPr id="34" name="p11-33">
            <a:extLst xmlns:a="http://schemas.openxmlformats.org/drawingml/2006/main">
              <a:ext uri="{FF2B5EF4-FFF2-40B4-BE49-F238E27FC236}">
                <a16:creationId xmlns:a16="http://schemas.microsoft.com/office/drawing/2014/main" id="{60EA6058-3E83-4A24-8BFC-2298056A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71975"/>
            <a:ext cx="37814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11-34-组织字段、规则与计算">
            <a:extLst xmlns:a="http://schemas.openxmlformats.org/drawingml/2006/main">
              <a:ext uri="{FF2B5EF4-FFF2-40B4-BE49-F238E27FC236}">
                <a16:creationId xmlns:a16="http://schemas.microsoft.com/office/drawing/2014/main" id="{65805D3B-7AC8-4F3C-9584-D9D2A35C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19625"/>
            <a:ext cx="34004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组织字段、规则与计算</a:t>
            </a:r>
          </a:p>
        </p:txBody>
      </p:sp>
      <p:sp>
        <p:nvSpPr>
          <p:cNvPr id="36" name="p11-35">
            <a:extLst xmlns:a="http://schemas.openxmlformats.org/drawingml/2006/main">
              <a:ext uri="{FF2B5EF4-FFF2-40B4-BE49-F238E27FC236}">
                <a16:creationId xmlns:a16="http://schemas.microsoft.com/office/drawing/2014/main" id="{72FB5549-AE83-4D7A-9106-763B92B2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4371975"/>
            <a:ext cx="35337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11-36-维护结构与操作方法">
            <a:extLst xmlns:a="http://schemas.openxmlformats.org/drawingml/2006/main">
              <a:ext uri="{FF2B5EF4-FFF2-40B4-BE49-F238E27FC236}">
                <a16:creationId xmlns:a16="http://schemas.microsoft.com/office/drawing/2014/main" id="{A192E161-A108-4335-B97F-A0C427CE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4619625"/>
            <a:ext cx="31527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维护结构与操作方法</a:t>
            </a:r>
          </a:p>
        </p:txBody>
      </p:sp>
      <p:sp>
        <p:nvSpPr>
          <p:cNvPr id="38" name="p11-37">
            <a:extLst xmlns:a="http://schemas.openxmlformats.org/drawingml/2006/main">
              <a:ext uri="{FF2B5EF4-FFF2-40B4-BE49-F238E27FC236}">
                <a16:creationId xmlns:a16="http://schemas.microsoft.com/office/drawing/2014/main" id="{E4B37733-E6FB-4B4A-96B4-F244B838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11-38">
            <a:extLst xmlns:a="http://schemas.openxmlformats.org/drawingml/2006/main">
              <a:ext uri="{FF2B5EF4-FFF2-40B4-BE49-F238E27FC236}">
                <a16:creationId xmlns:a16="http://schemas.microsoft.com/office/drawing/2014/main" id="{72BBB8B3-4E37-4298-8A70-CE8F777A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25622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11-39-AI 编程工具">
            <a:extLst xmlns:a="http://schemas.openxmlformats.org/drawingml/2006/main">
              <a:ext uri="{FF2B5EF4-FFF2-40B4-BE49-F238E27FC236}">
                <a16:creationId xmlns:a16="http://schemas.microsoft.com/office/drawing/2014/main" id="{1C3ED5FC-47C8-431D-BF89-A8974783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21812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AI 编程工具</a:t>
            </a:r>
          </a:p>
        </p:txBody>
      </p:sp>
      <p:sp>
        <p:nvSpPr>
          <p:cNvPr id="41" name="p11-40">
            <a:extLst xmlns:a="http://schemas.openxmlformats.org/drawingml/2006/main">
              <a:ext uri="{FF2B5EF4-FFF2-40B4-BE49-F238E27FC236}">
                <a16:creationId xmlns:a16="http://schemas.microsoft.com/office/drawing/2014/main" id="{2FC6C94A-4672-497C-8647-A67F0506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162550"/>
            <a:ext cx="40290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11-41-描述需求、查看生成结果">
            <a:extLst xmlns:a="http://schemas.openxmlformats.org/drawingml/2006/main">
              <a:ext uri="{FF2B5EF4-FFF2-40B4-BE49-F238E27FC236}">
                <a16:creationId xmlns:a16="http://schemas.microsoft.com/office/drawing/2014/main" id="{04FD3354-E21F-460E-8C04-9938A453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10200"/>
            <a:ext cx="36480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描述需求、查看生成结果</a:t>
            </a:r>
          </a:p>
        </p:txBody>
      </p:sp>
      <p:sp>
        <p:nvSpPr>
          <p:cNvPr id="43" name="p11-42">
            <a:extLst xmlns:a="http://schemas.openxmlformats.org/drawingml/2006/main">
              <a:ext uri="{FF2B5EF4-FFF2-40B4-BE49-F238E27FC236}">
                <a16:creationId xmlns:a16="http://schemas.microsoft.com/office/drawing/2014/main" id="{22D5BF98-AD3F-4D50-8D52-4263E65D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62550"/>
            <a:ext cx="37814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11-43-提示、定位与迭代代码">
            <a:extLst xmlns:a="http://schemas.openxmlformats.org/drawingml/2006/main">
              <a:ext uri="{FF2B5EF4-FFF2-40B4-BE49-F238E27FC236}">
                <a16:creationId xmlns:a16="http://schemas.microsoft.com/office/drawing/2014/main" id="{755A4F1C-F77B-4B2A-B14E-8D37212B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10200"/>
            <a:ext cx="34004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提示、定位与迭代代码</a:t>
            </a:r>
          </a:p>
        </p:txBody>
      </p:sp>
      <p:sp>
        <p:nvSpPr>
          <p:cNvPr id="45" name="p11-44">
            <a:extLst xmlns:a="http://schemas.openxmlformats.org/drawingml/2006/main">
              <a:ext uri="{FF2B5EF4-FFF2-40B4-BE49-F238E27FC236}">
                <a16:creationId xmlns:a16="http://schemas.microsoft.com/office/drawing/2014/main" id="{00FEFA75-2F0F-4D60-86AF-CC93BBC1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162550"/>
            <a:ext cx="35337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11-45-理解结果并管理修改">
            <a:extLst xmlns:a="http://schemas.openxmlformats.org/drawingml/2006/main">
              <a:ext uri="{FF2B5EF4-FFF2-40B4-BE49-F238E27FC236}">
                <a16:creationId xmlns:a16="http://schemas.microsoft.com/office/drawing/2014/main" id="{4BE697CC-C4AC-4281-9F96-73B68299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5410200"/>
            <a:ext cx="31527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理解结果并管理修改</a:t>
            </a:r>
          </a:p>
        </p:txBody>
      </p:sp>
      <p:sp>
        <p:nvSpPr>
          <p:cNvPr id="47" name="p11-46">
            <a:extLst xmlns:a="http://schemas.openxmlformats.org/drawingml/2006/main">
              <a:ext uri="{FF2B5EF4-FFF2-40B4-BE49-F238E27FC236}">
                <a16:creationId xmlns:a16="http://schemas.microsoft.com/office/drawing/2014/main" id="{96A6124B-841F-464F-9452-36EDA1DB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11-47">
            <a:extLst xmlns:a="http://schemas.openxmlformats.org/drawingml/2006/main">
              <a:ext uri="{FF2B5EF4-FFF2-40B4-BE49-F238E27FC236}">
                <a16:creationId xmlns:a16="http://schemas.microsoft.com/office/drawing/2014/main" id="{9A45C72C-4893-487A-A04E-319870C1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25622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11-48-BlockCraft AI 目标">
            <a:extLst xmlns:a="http://schemas.openxmlformats.org/drawingml/2006/main">
              <a:ext uri="{FF2B5EF4-FFF2-40B4-BE49-F238E27FC236}">
                <a16:creationId xmlns:a16="http://schemas.microsoft.com/office/drawing/2014/main" id="{8F8407AC-4402-4471-9ABA-C6ADE500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00775"/>
            <a:ext cx="21812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BlockCraft AI 目标</a:t>
            </a:r>
          </a:p>
        </p:txBody>
      </p:sp>
      <p:sp>
        <p:nvSpPr>
          <p:cNvPr id="50" name="p11-49">
            <a:extLst xmlns:a="http://schemas.openxmlformats.org/drawingml/2006/main">
              <a:ext uri="{FF2B5EF4-FFF2-40B4-BE49-F238E27FC236}">
                <a16:creationId xmlns:a16="http://schemas.microsoft.com/office/drawing/2014/main" id="{CED9183A-27E3-453B-A72A-3CFA325A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953125"/>
            <a:ext cx="40290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11-50-Mochi 推荐功能模块">
            <a:extLst xmlns:a="http://schemas.openxmlformats.org/drawingml/2006/main">
              <a:ext uri="{FF2B5EF4-FFF2-40B4-BE49-F238E27FC236}">
                <a16:creationId xmlns:a16="http://schemas.microsoft.com/office/drawing/2014/main" id="{28B981D4-27D8-498F-84A9-5192C1BC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200775"/>
            <a:ext cx="36480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Mochi 推荐功能模块</a:t>
            </a:r>
          </a:p>
        </p:txBody>
      </p:sp>
      <p:sp>
        <p:nvSpPr>
          <p:cNvPr id="52" name="p11-51">
            <a:extLst xmlns:a="http://schemas.openxmlformats.org/drawingml/2006/main">
              <a:ext uri="{FF2B5EF4-FFF2-40B4-BE49-F238E27FC236}">
                <a16:creationId xmlns:a16="http://schemas.microsoft.com/office/drawing/2014/main" id="{603977FE-32CE-4077-A0FF-83B6F2D7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953125"/>
            <a:ext cx="37814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11-52-搭积木 + 对话持续修改">
            <a:extLst xmlns:a="http://schemas.openxmlformats.org/drawingml/2006/main">
              <a:ext uri="{FF2B5EF4-FFF2-40B4-BE49-F238E27FC236}">
                <a16:creationId xmlns:a16="http://schemas.microsoft.com/office/drawing/2014/main" id="{A9020646-5251-4DEC-8D7D-DD8F5667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200775"/>
            <a:ext cx="340042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搭积木 + 对话持续修改</a:t>
            </a:r>
          </a:p>
        </p:txBody>
      </p:sp>
      <p:sp>
        <p:nvSpPr>
          <p:cNvPr id="54" name="p11-53">
            <a:extLst xmlns:a="http://schemas.openxmlformats.org/drawingml/2006/main">
              <a:ext uri="{FF2B5EF4-FFF2-40B4-BE49-F238E27FC236}">
                <a16:creationId xmlns:a16="http://schemas.microsoft.com/office/drawing/2014/main" id="{F0FB3E72-B112-49AC-A93F-4245845A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953125"/>
            <a:ext cx="35337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11-54-表达意图与确认方案">
            <a:extLst xmlns:a="http://schemas.openxmlformats.org/drawingml/2006/main">
              <a:ext uri="{FF2B5EF4-FFF2-40B4-BE49-F238E27FC236}">
                <a16:creationId xmlns:a16="http://schemas.microsoft.com/office/drawing/2014/main" id="{BEA3ACC9-E6C0-4899-B714-97EA54F7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6200775"/>
            <a:ext cx="3152775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表达意图与确认方案</a:t>
            </a:r>
          </a:p>
        </p:txBody>
      </p:sp>
      <p:sp>
        <p:nvSpPr>
          <p:cNvPr id="56" name="p11-55">
            <a:extLst xmlns:a="http://schemas.openxmlformats.org/drawingml/2006/main">
              <a:ext uri="{FF2B5EF4-FFF2-40B4-BE49-F238E27FC236}">
                <a16:creationId xmlns:a16="http://schemas.microsoft.com/office/drawing/2014/main" id="{6DE0B539-7D82-48BA-9C35-5A5CA164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3417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11-56">
            <a:extLst xmlns:a="http://schemas.openxmlformats.org/drawingml/2006/main">
              <a:ext uri="{FF2B5EF4-FFF2-40B4-BE49-F238E27FC236}">
                <a16:creationId xmlns:a16="http://schemas.microsoft.com/office/drawing/2014/main" id="{70E6D790-8DFA-44A0-904D-8075A8A4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67550"/>
            <a:ext cx="44386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11-57-自然语言起步">
            <a:extLst xmlns:a="http://schemas.openxmlformats.org/drawingml/2006/main">
              <a:ext uri="{FF2B5EF4-FFF2-40B4-BE49-F238E27FC236}">
                <a16:creationId xmlns:a16="http://schemas.microsoft.com/office/drawing/2014/main" id="{BDA9E4FB-3B0E-4907-B887-BF931882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91375"/>
            <a:ext cx="421005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72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自然语言起步</a:t>
            </a:r>
          </a:p>
        </p:txBody>
      </p:sp>
      <p:sp>
        <p:nvSpPr>
          <p:cNvPr id="59" name="p11-58">
            <a:extLst xmlns:a="http://schemas.openxmlformats.org/drawingml/2006/main">
              <a:ext uri="{FF2B5EF4-FFF2-40B4-BE49-F238E27FC236}">
                <a16:creationId xmlns:a16="http://schemas.microsoft.com/office/drawing/2014/main" id="{2374A8E6-B67F-406B-9DF7-97AA2772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7067550"/>
            <a:ext cx="44386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11-59-功能结构可视化">
            <a:extLst xmlns:a="http://schemas.openxmlformats.org/drawingml/2006/main">
              <a:ext uri="{FF2B5EF4-FFF2-40B4-BE49-F238E27FC236}">
                <a16:creationId xmlns:a16="http://schemas.microsoft.com/office/drawing/2014/main" id="{471E562F-ADD0-4D99-A370-69C10BDF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7191375"/>
            <a:ext cx="421005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72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功能结构可视化</a:t>
            </a:r>
          </a:p>
        </p:txBody>
      </p:sp>
      <p:sp>
        <p:nvSpPr>
          <p:cNvPr id="61" name="p11-60">
            <a:extLst xmlns:a="http://schemas.openxmlformats.org/drawingml/2006/main">
              <a:ext uri="{FF2B5EF4-FFF2-40B4-BE49-F238E27FC236}">
                <a16:creationId xmlns:a16="http://schemas.microsoft.com/office/drawing/2014/main" id="{B4CE71C7-49AD-4445-AE19-EF93BC55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067550"/>
            <a:ext cx="44386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11-61-局部修改先预览再确认">
            <a:extLst xmlns:a="http://schemas.openxmlformats.org/drawingml/2006/main">
              <a:ext uri="{FF2B5EF4-FFF2-40B4-BE49-F238E27FC236}">
                <a16:creationId xmlns:a16="http://schemas.microsoft.com/office/drawing/2014/main" id="{CD93A130-F451-42D7-B104-ADCA534E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91375"/>
            <a:ext cx="4210050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72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局部修改先预览再确认</a:t>
            </a:r>
          </a:p>
        </p:txBody>
      </p:sp>
      <p:sp>
        <p:nvSpPr>
          <p:cNvPr id="63" name="p11-62-代表性使用路径示意，属于产品判断，非穷尽">
            <a:extLst xmlns:a="http://schemas.openxmlformats.org/drawingml/2006/main">
              <a:ext uri="{FF2B5EF4-FFF2-40B4-BE49-F238E27FC236}">
                <a16:creationId xmlns:a16="http://schemas.microsoft.com/office/drawing/2014/main" id="{5232FD56-658D-4755-8538-EB0B5373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代表性使用路径示意，属于产品判断，非穷尽式功能评测。未断言任何具体竞品缺少可视化选中或 AI 修改能力；差异需用户测试验证。</a:t>
            </a:r>
          </a:p>
        </p:txBody>
      </p:sp>
    </p:spTree>
    <p:extLst>
      <p:ext uri="{BB962C8B-B14F-4D97-AF65-F5344CB8AC3E}">
        <p14:creationId xmlns:p14="http://schemas.microsoft.com/office/powerpoint/2010/main" val="12132160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12-0">
            <a:extLst xmlns:a="http://schemas.openxmlformats.org/drawingml/2006/main">
              <a:ext uri="{FF2B5EF4-FFF2-40B4-BE49-F238E27FC236}">
                <a16:creationId xmlns:a16="http://schemas.microsoft.com/office/drawing/2014/main" id="{A93C42DC-2A68-437D-B88E-55DE4F1C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2-1">
            <a:extLst xmlns:a="http://schemas.openxmlformats.org/drawingml/2006/main">
              <a:ext uri="{FF2B5EF4-FFF2-40B4-BE49-F238E27FC236}">
                <a16:creationId xmlns:a16="http://schemas.microsoft.com/office/drawing/2014/main" id="{154C7FAE-E8FE-4547-9384-41C51DFA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12-2">
            <a:extLst xmlns:a="http://schemas.openxmlformats.org/drawingml/2006/main">
              <a:ext uri="{FF2B5EF4-FFF2-40B4-BE49-F238E27FC236}">
                <a16:creationId xmlns:a16="http://schemas.microsoft.com/office/drawing/2014/main" id="{ABDF1DA6-48B0-4D0B-8EE3-05409380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2-3">
            <a:extLst xmlns:a="http://schemas.openxmlformats.org/drawingml/2006/main">
              <a:ext uri="{FF2B5EF4-FFF2-40B4-BE49-F238E27FC236}">
                <a16:creationId xmlns:a16="http://schemas.microsoft.com/office/drawing/2014/main" id="{C0DCCE62-265E-4528-9E56-EA17822A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2-4-BlockCraft AI">
            <a:extLst xmlns:a="http://schemas.openxmlformats.org/drawingml/2006/main">
              <a:ext uri="{FF2B5EF4-FFF2-40B4-BE49-F238E27FC236}">
                <a16:creationId xmlns:a16="http://schemas.microsoft.com/office/drawing/2014/main" id="{A77CDB14-A1DE-4C5E-816B-EC264001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12-5-11 / 市场机会与商业模式">
            <a:extLst xmlns:a="http://schemas.openxmlformats.org/drawingml/2006/main">
              <a:ext uri="{FF2B5EF4-FFF2-40B4-BE49-F238E27FC236}">
                <a16:creationId xmlns:a16="http://schemas.microsoft.com/office/drawing/2014/main" id="{7E9E795E-BB85-4D57-BB6B-1291B631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11 / 市场机会与商业模式</a:t>
            </a:r>
          </a:p>
        </p:txBody>
      </p:sp>
      <p:sp>
        <p:nvSpPr>
          <p:cNvPr id="7" name="p12-6-从“有独特需求”，走向“愿意持续使用”">
            <a:extLst xmlns:a="http://schemas.openxmlformats.org/drawingml/2006/main">
              <a:ext uri="{FF2B5EF4-FFF2-40B4-BE49-F238E27FC236}">
                <a16:creationId xmlns:a16="http://schemas.microsoft.com/office/drawing/2014/main" id="{297142F5-E8C0-417E-BCEB-9FCE0D62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从“有独特需求”，走向“愿意持续使用”</a:t>
            </a:r>
          </a:p>
        </p:txBody>
      </p:sp>
      <p:sp>
        <p:nvSpPr>
          <p:cNvPr id="8" name="p12-7-机会假设：让个性化小软件的创造与后续修改">
            <a:extLst xmlns:a="http://schemas.openxmlformats.org/drawingml/2006/main">
              <a:ext uri="{FF2B5EF4-FFF2-40B4-BE49-F238E27FC236}">
                <a16:creationId xmlns:a16="http://schemas.microsoft.com/office/drawing/2014/main" id="{9B2694EF-6EE2-4DEB-8FF5-2EEDD513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机会假设：让个性化小软件的创造与后续修改，成为普通用户可承担的日常行为。</a:t>
            </a:r>
          </a:p>
        </p:txBody>
      </p:sp>
      <p:sp>
        <p:nvSpPr>
          <p:cNvPr id="9" name="p12-8">
            <a:extLst xmlns:a="http://schemas.openxmlformats.org/drawingml/2006/main">
              <a:ext uri="{FF2B5EF4-FFF2-40B4-BE49-F238E27FC236}">
                <a16:creationId xmlns:a16="http://schemas.microsoft.com/office/drawing/2014/main" id="{832E7619-1CEE-4F5D-8F8D-6C0D1505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2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88FD29CD-7703-4543-B75D-58873247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12-10-12 / 15">
            <a:extLst xmlns:a="http://schemas.openxmlformats.org/drawingml/2006/main">
              <a:ext uri="{FF2B5EF4-FFF2-40B4-BE49-F238E27FC236}">
                <a16:creationId xmlns:a16="http://schemas.microsoft.com/office/drawing/2014/main" id="{11A216CA-6EF8-4CED-BAB5-12A09AB8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12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0F40C-E091-4BB7-9C6D-A547713405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f6459c2474e70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12-12">
            <a:extLst xmlns:a="http://schemas.openxmlformats.org/drawingml/2006/main">
              <a:ext uri="{FF2B5EF4-FFF2-40B4-BE49-F238E27FC236}">
                <a16:creationId xmlns:a16="http://schemas.microsoft.com/office/drawing/2014/main" id="{CB4980A9-A687-4542-8040-358C2661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4438650" cy="28194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4" name="p12-13-01 / 免费基础">
            <a:extLst xmlns:a="http://schemas.openxmlformats.org/drawingml/2006/main">
              <a:ext uri="{FF2B5EF4-FFF2-40B4-BE49-F238E27FC236}">
                <a16:creationId xmlns:a16="http://schemas.microsoft.com/office/drawing/2014/main" id="{37B93764-C8FA-4028-94FB-14EA0D86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39433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01 / 免费基础</a:t>
            </a:r>
          </a:p>
        </p:txBody>
      </p:sp>
      <p:sp>
        <p:nvSpPr>
          <p:cNvPr id="15" name="p12-14-先创造第一个有用的软件">
            <a:extLst xmlns:a="http://schemas.openxmlformats.org/drawingml/2006/main">
              <a:ext uri="{FF2B5EF4-FFF2-40B4-BE49-F238E27FC236}">
                <a16:creationId xmlns:a16="http://schemas.microsoft.com/office/drawing/2014/main" id="{2E5652A9-5637-4ADC-A0C3-FF725223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3943350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先创造第一个有用的软件</a:t>
            </a:r>
          </a:p>
        </p:txBody>
      </p:sp>
      <p:sp>
        <p:nvSpPr>
          <p:cNvPr id="16" name="p12-15-· 基础搭建与预览">
            <a:extLst xmlns:a="http://schemas.openxmlformats.org/drawingml/2006/main">
              <a:ext uri="{FF2B5EF4-FFF2-40B4-BE49-F238E27FC236}">
                <a16:creationId xmlns:a16="http://schemas.microsoft.com/office/drawing/2014/main" id="{E7103657-1005-4D8C-82C0-8E267C1F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62475"/>
            <a:ext cx="39433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· 基础搭建与预览</a:t>
            </a:r>
          </a:p>
        </p:txBody>
      </p:sp>
      <p:sp>
        <p:nvSpPr>
          <p:cNvPr id="17" name="p12-16-· 建立使用习惯与反馈">
            <a:extLst xmlns:a="http://schemas.openxmlformats.org/drawingml/2006/main">
              <a:ext uri="{FF2B5EF4-FFF2-40B4-BE49-F238E27FC236}">
                <a16:creationId xmlns:a16="http://schemas.microsoft.com/office/drawing/2014/main" id="{73DC78CE-D3ED-46D0-BFA1-CF1F3CB2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39433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· 建立使用习惯与反馈</a:t>
            </a:r>
          </a:p>
        </p:txBody>
      </p:sp>
      <p:sp>
        <p:nvSpPr>
          <p:cNvPr id="18" name="p12-17">
            <a:extLst xmlns:a="http://schemas.openxmlformats.org/drawingml/2006/main">
              <a:ext uri="{FF2B5EF4-FFF2-40B4-BE49-F238E27FC236}">
                <a16:creationId xmlns:a16="http://schemas.microsoft.com/office/drawing/2014/main" id="{E33997DD-2EF1-4049-876E-20D47365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00375"/>
            <a:ext cx="4438650" cy="28194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12-18-02 / AI 额度">
            <a:extLst xmlns:a="http://schemas.openxmlformats.org/drawingml/2006/main">
              <a:ext uri="{FF2B5EF4-FFF2-40B4-BE49-F238E27FC236}">
                <a16:creationId xmlns:a16="http://schemas.microsoft.com/office/drawing/2014/main" id="{49129485-8581-452C-BF45-ABF86BAB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57550"/>
            <a:ext cx="39433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02 / AI 额度</a:t>
            </a:r>
          </a:p>
        </p:txBody>
      </p:sp>
      <p:sp>
        <p:nvSpPr>
          <p:cNvPr id="20" name="p12-19-为生成与持续修改付费">
            <a:extLst xmlns:a="http://schemas.openxmlformats.org/drawingml/2006/main">
              <a:ext uri="{FF2B5EF4-FFF2-40B4-BE49-F238E27FC236}">
                <a16:creationId xmlns:a16="http://schemas.microsoft.com/office/drawing/2014/main" id="{D201BA72-B363-4058-9F9E-EAA3A7D8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48100"/>
            <a:ext cx="3943350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为生成与持续修改付费</a:t>
            </a:r>
          </a:p>
        </p:txBody>
      </p:sp>
      <p:sp>
        <p:nvSpPr>
          <p:cNvPr id="21" name="p12-20-· 生成 / 修改额度假设">
            <a:extLst xmlns:a="http://schemas.openxmlformats.org/drawingml/2006/main">
              <a:ext uri="{FF2B5EF4-FFF2-40B4-BE49-F238E27FC236}">
                <a16:creationId xmlns:a16="http://schemas.microsoft.com/office/drawing/2014/main" id="{24B0727A-F7E0-45B4-95CD-E106B3F0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62475"/>
            <a:ext cx="39433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· 生成 / 修改额度假设</a:t>
            </a:r>
          </a:p>
        </p:txBody>
      </p:sp>
      <p:sp>
        <p:nvSpPr>
          <p:cNvPr id="22" name="p12-21-· 成本上限与透明消耗">
            <a:extLst xmlns:a="http://schemas.openxmlformats.org/drawingml/2006/main">
              <a:ext uri="{FF2B5EF4-FFF2-40B4-BE49-F238E27FC236}">
                <a16:creationId xmlns:a16="http://schemas.microsoft.com/office/drawing/2014/main" id="{0FCD66DC-9A3B-4CD5-B3A3-77B6DDC3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29200"/>
            <a:ext cx="39433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· 成本上限与透明消耗</a:t>
            </a:r>
          </a:p>
        </p:txBody>
      </p:sp>
      <p:sp>
        <p:nvSpPr>
          <p:cNvPr id="23" name="p12-22">
            <a:extLst xmlns:a="http://schemas.openxmlformats.org/drawingml/2006/main">
              <a:ext uri="{FF2B5EF4-FFF2-40B4-BE49-F238E27FC236}">
                <a16:creationId xmlns:a16="http://schemas.microsoft.com/office/drawing/2014/main" id="{E9AAA0FF-299C-4AFA-93E6-86990581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00375"/>
            <a:ext cx="4438650" cy="28194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12-23-03 / 项目与导出">
            <a:extLst xmlns:a="http://schemas.openxmlformats.org/drawingml/2006/main">
              <a:ext uri="{FF2B5EF4-FFF2-40B4-BE49-F238E27FC236}">
                <a16:creationId xmlns:a16="http://schemas.microsoft.com/office/drawing/2014/main" id="{17E4D9B2-E802-4AD8-9F98-781C35C0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57550"/>
            <a:ext cx="3943350" cy="37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03 / 项目与导出</a:t>
            </a:r>
          </a:p>
        </p:txBody>
      </p:sp>
      <p:sp>
        <p:nvSpPr>
          <p:cNvPr id="25" name="p12-24-为长期管理与延续付费">
            <a:extLst xmlns:a="http://schemas.openxmlformats.org/drawingml/2006/main">
              <a:ext uri="{FF2B5EF4-FFF2-40B4-BE49-F238E27FC236}">
                <a16:creationId xmlns:a16="http://schemas.microsoft.com/office/drawing/2014/main" id="{165165B4-0864-4D7F-AE3D-D77FB7F3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848100"/>
            <a:ext cx="3943350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为长期管理与延续付费</a:t>
            </a:r>
          </a:p>
        </p:txBody>
      </p:sp>
      <p:sp>
        <p:nvSpPr>
          <p:cNvPr id="26" name="p12-25-· 项目管理与增值服务">
            <a:extLst xmlns:a="http://schemas.openxmlformats.org/drawingml/2006/main">
              <a:ext uri="{FF2B5EF4-FFF2-40B4-BE49-F238E27FC236}">
                <a16:creationId xmlns:a16="http://schemas.microsoft.com/office/drawing/2014/main" id="{2868AF75-B4B6-4081-A4DC-35E54E74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562475"/>
            <a:ext cx="39433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· 项目管理与增值服务</a:t>
            </a:r>
          </a:p>
        </p:txBody>
      </p:sp>
      <p:sp>
        <p:nvSpPr>
          <p:cNvPr id="27" name="p12-26-· 受支持源码导出等假设">
            <a:extLst xmlns:a="http://schemas.openxmlformats.org/drawingml/2006/main">
              <a:ext uri="{FF2B5EF4-FFF2-40B4-BE49-F238E27FC236}">
                <a16:creationId xmlns:a16="http://schemas.microsoft.com/office/drawing/2014/main" id="{AD72ADD8-232D-4395-8C79-0984A3BB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029200"/>
            <a:ext cx="39433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· 受支持源码导出等假设</a:t>
            </a:r>
          </a:p>
        </p:txBody>
      </p:sp>
      <p:sp>
        <p:nvSpPr>
          <p:cNvPr id="28" name="p12-27">
            <a:extLst xmlns:a="http://schemas.openxmlformats.org/drawingml/2006/main">
              <a:ext uri="{FF2B5EF4-FFF2-40B4-BE49-F238E27FC236}">
                <a16:creationId xmlns:a16="http://schemas.microsoft.com/office/drawing/2014/main" id="{1FB9DF0E-B0E4-45E7-999D-114E4823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3906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12-28-¥19–49 / 月">
            <a:extLst xmlns:a="http://schemas.openxmlformats.org/drawingml/2006/main">
              <a:ext uri="{FF2B5EF4-FFF2-40B4-BE49-F238E27FC236}">
                <a16:creationId xmlns:a16="http://schemas.microsoft.com/office/drawing/2014/main" id="{3E175C61-2ADB-4017-B133-AFED763B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19825"/>
            <a:ext cx="3143250" cy="500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2775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¥19–49 / 月</a:t>
            </a:r>
          </a:p>
        </p:txBody>
      </p:sp>
      <p:sp>
        <p:nvSpPr>
          <p:cNvPr id="30" name="p12-29-仅用于访谈测试的价格假设；未实际成交，非">
            <a:extLst xmlns:a="http://schemas.openxmlformats.org/drawingml/2006/main">
              <a:ext uri="{FF2B5EF4-FFF2-40B4-BE49-F238E27FC236}">
                <a16:creationId xmlns:a16="http://schemas.microsoft.com/office/drawing/2014/main" id="{94BA9AD3-5BA0-47C6-B07C-998DBB1E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6315075"/>
            <a:ext cx="990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仅用于访谈测试的价格假设；未实际成交，非已上线订阅方案。</a:t>
            </a:r>
          </a:p>
        </p:txBody>
      </p:sp>
      <p:sp>
        <p:nvSpPr>
          <p:cNvPr id="31" name="p12-30-验证路径">
            <a:extLst xmlns:a="http://schemas.openxmlformats.org/drawingml/2006/main">
              <a:ext uri="{FF2B5EF4-FFF2-40B4-BE49-F238E27FC236}">
                <a16:creationId xmlns:a16="http://schemas.microsoft.com/office/drawing/2014/main" id="{3FCD21D0-9BC7-4971-A884-560A4691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0"/>
            <a:ext cx="142875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验证路径</a:t>
            </a:r>
          </a:p>
        </p:txBody>
      </p:sp>
      <p:sp>
        <p:nvSpPr>
          <p:cNvPr id="32" name="p12-31-首次有用 → 再次修改 → 重复使用 →">
            <a:extLst xmlns:a="http://schemas.openxmlformats.org/drawingml/2006/main">
              <a:ext uri="{FF2B5EF4-FFF2-40B4-BE49-F238E27FC236}">
                <a16:creationId xmlns:a16="http://schemas.microsoft.com/office/drawing/2014/main" id="{BE068B7A-7670-4580-B85F-1776AFFF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7105650"/>
            <a:ext cx="7915275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首次有用 → 再次修改 → 重复使用 → 付费意愿</a:t>
            </a:r>
          </a:p>
        </p:txBody>
      </p:sp>
      <p:sp>
        <p:nvSpPr>
          <p:cNvPr id="33" name="p12-32-同时评估：推理、运行与支持成本">
            <a:extLst xmlns:a="http://schemas.openxmlformats.org/drawingml/2006/main">
              <a:ext uri="{FF2B5EF4-FFF2-40B4-BE49-F238E27FC236}">
                <a16:creationId xmlns:a16="http://schemas.microsoft.com/office/drawing/2014/main" id="{B677033E-F472-40BC-84B6-8F231AD0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7162800"/>
            <a:ext cx="4095750" cy="270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同时评估：推理、运行与支持成本</a:t>
            </a:r>
          </a:p>
        </p:txBody>
      </p:sp>
      <p:sp>
        <p:nvSpPr>
          <p:cNvPr id="34" name="p12-33-市场机会、分层服务与价格均待验证；本 B">
            <a:extLst xmlns:a="http://schemas.openxmlformats.org/drawingml/2006/main">
              <a:ext uri="{FF2B5EF4-FFF2-40B4-BE49-F238E27FC236}">
                <a16:creationId xmlns:a16="http://schemas.microsoft.com/office/drawing/2014/main" id="{992A8273-6F0C-4751-BEC8-3579745C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市场机会、分层服务与价格均待验证；本 BP 不使用未经核实的 TAM/SAM/SOM、用户增长、市场份额或收入数字。</a:t>
            </a:r>
          </a:p>
        </p:txBody>
      </p:sp>
    </p:spTree>
    <p:extLst>
      <p:ext uri="{BB962C8B-B14F-4D97-AF65-F5344CB8AC3E}">
        <p14:creationId xmlns:p14="http://schemas.microsoft.com/office/powerpoint/2010/main" val="7026749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13-0">
            <a:extLst xmlns:a="http://schemas.openxmlformats.org/drawingml/2006/main">
              <a:ext uri="{FF2B5EF4-FFF2-40B4-BE49-F238E27FC236}">
                <a16:creationId xmlns:a16="http://schemas.microsoft.com/office/drawing/2014/main" id="{F5853A7B-1A8F-4C84-8847-16F622F2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3-1">
            <a:extLst xmlns:a="http://schemas.openxmlformats.org/drawingml/2006/main">
              <a:ext uri="{FF2B5EF4-FFF2-40B4-BE49-F238E27FC236}">
                <a16:creationId xmlns:a16="http://schemas.microsoft.com/office/drawing/2014/main" id="{274ACF9C-709D-459B-BE0D-45B60B3C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13-2">
            <a:extLst xmlns:a="http://schemas.openxmlformats.org/drawingml/2006/main">
              <a:ext uri="{FF2B5EF4-FFF2-40B4-BE49-F238E27FC236}">
                <a16:creationId xmlns:a16="http://schemas.microsoft.com/office/drawing/2014/main" id="{97C3AA90-B5D8-465D-9255-44A84BE7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3-3">
            <a:extLst xmlns:a="http://schemas.openxmlformats.org/drawingml/2006/main">
              <a:ext uri="{FF2B5EF4-FFF2-40B4-BE49-F238E27FC236}">
                <a16:creationId xmlns:a16="http://schemas.microsoft.com/office/drawing/2014/main" id="{20CA4372-7D69-4A09-B744-A7EB25C3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3-4-BlockCraft AI">
            <a:extLst xmlns:a="http://schemas.openxmlformats.org/drawingml/2006/main">
              <a:ext uri="{FF2B5EF4-FFF2-40B4-BE49-F238E27FC236}">
                <a16:creationId xmlns:a16="http://schemas.microsoft.com/office/drawing/2014/main" id="{69A2AFBE-60CB-4F7C-AC6E-C7FE9869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13-5-12 / 路线图与安全验收">
            <a:extLst xmlns:a="http://schemas.openxmlformats.org/drawingml/2006/main">
              <a:ext uri="{FF2B5EF4-FFF2-40B4-BE49-F238E27FC236}">
                <a16:creationId xmlns:a16="http://schemas.microsoft.com/office/drawing/2014/main" id="{7710227E-4FAB-4502-99A8-68971FEF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12 / 路线图与安全验收</a:t>
            </a:r>
          </a:p>
        </p:txBody>
      </p:sp>
      <p:sp>
        <p:nvSpPr>
          <p:cNvPr id="7" name="p13-6-以可验证的里程碑，推进完整体验">
            <a:extLst xmlns:a="http://schemas.openxmlformats.org/drawingml/2006/main">
              <a:ext uri="{FF2B5EF4-FFF2-40B4-BE49-F238E27FC236}">
                <a16:creationId xmlns:a16="http://schemas.microsoft.com/office/drawing/2014/main" id="{6D5F1262-630C-4F4B-9F9B-8BBFB971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以可验证的里程碑，推进完整体验</a:t>
            </a:r>
          </a:p>
        </p:txBody>
      </p:sp>
      <p:sp>
        <p:nvSpPr>
          <p:cNvPr id="8" name="p13-7-研发按能力与验收门槛推进；公网开放以真实">
            <a:extLst xmlns:a="http://schemas.openxmlformats.org/drawingml/2006/main">
              <a:ext uri="{FF2B5EF4-FFF2-40B4-BE49-F238E27FC236}">
                <a16:creationId xmlns:a16="http://schemas.microsoft.com/office/drawing/2014/main" id="{9B7726F0-0ADF-43E3-96BA-C1F81CE0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本地真实模型 → AppSpec v2 → B/C 番茄钟验证1次通过；公网接入仍待验收。</a:t>
            </a:r>
          </a:p>
        </p:txBody>
      </p:sp>
      <p:sp>
        <p:nvSpPr>
          <p:cNvPr id="9" name="p13-8">
            <a:extLst xmlns:a="http://schemas.openxmlformats.org/drawingml/2006/main">
              <a:ext uri="{FF2B5EF4-FFF2-40B4-BE49-F238E27FC236}">
                <a16:creationId xmlns:a16="http://schemas.microsoft.com/office/drawing/2014/main" id="{A1604647-A0D0-4EF8-B1A0-5E9612E6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3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8BE6B1FD-E75C-4C5E-9AF1-2E432997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13-10-13 / 15">
            <a:extLst xmlns:a="http://schemas.openxmlformats.org/drawingml/2006/main">
              <a:ext uri="{FF2B5EF4-FFF2-40B4-BE49-F238E27FC236}">
                <a16:creationId xmlns:a16="http://schemas.microsoft.com/office/drawing/2014/main" id="{CDB0CC0C-F1EE-4473-B8C0-DA973B13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13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5C5CD-5404-4E53-8E89-E0B0EA1F4B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3b85c98054da8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13-12">
            <a:extLst xmlns:a="http://schemas.openxmlformats.org/drawingml/2006/main">
              <a:ext uri="{FF2B5EF4-FFF2-40B4-BE49-F238E27FC236}">
                <a16:creationId xmlns:a16="http://schemas.microsoft.com/office/drawing/2014/main" id="{CAE572FF-9076-4290-A862-8E2ED185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3-13">
            <a:extLst xmlns:a="http://schemas.openxmlformats.org/drawingml/2006/main">
              <a:ext uri="{FF2B5EF4-FFF2-40B4-BE49-F238E27FC236}">
                <a16:creationId xmlns:a16="http://schemas.microsoft.com/office/drawing/2014/main" id="{9A1419FF-CFEF-43F6-82E8-B5E9641D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575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13-14">
            <a:extLst xmlns:a="http://schemas.openxmlformats.org/drawingml/2006/main">
              <a:ext uri="{FF2B5EF4-FFF2-40B4-BE49-F238E27FC236}">
                <a16:creationId xmlns:a16="http://schemas.microsoft.com/office/drawing/2014/main" id="{46549046-97C7-440C-9A58-AA9C3959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3190875" cy="282892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16" name="p13-15">
            <a:extLst xmlns:a="http://schemas.openxmlformats.org/drawingml/2006/main">
              <a:ext uri="{FF2B5EF4-FFF2-40B4-BE49-F238E27FC236}">
                <a16:creationId xmlns:a16="http://schemas.microsoft.com/office/drawing/2014/main" id="{0217895F-99BB-4D3D-AFF7-B84D0C66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8289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13-16-已实现 / 离线验证">
            <a:extLst xmlns:a="http://schemas.openxmlformats.org/drawingml/2006/main">
              <a:ext uri="{FF2B5EF4-FFF2-40B4-BE49-F238E27FC236}">
                <a16:creationId xmlns:a16="http://schemas.microsoft.com/office/drawing/2014/main" id="{39F5B30F-3C11-4A5D-B85F-B07EB11F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00475"/>
            <a:ext cx="26003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已实现 / 离线验证</a:t>
            </a:r>
          </a:p>
        </p:txBody>
      </p:sp>
      <p:sp>
        <p:nvSpPr>
          <p:cNvPr id="18" name="p13-17-当前基础">
            <a:extLst xmlns:a="http://schemas.openxmlformats.org/drawingml/2006/main">
              <a:ext uri="{FF2B5EF4-FFF2-40B4-BE49-F238E27FC236}">
                <a16:creationId xmlns:a16="http://schemas.microsoft.com/office/drawing/2014/main" id="{CFE46F5E-7793-4A02-8525-1D741DD3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771775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当前基础</a:t>
            </a:r>
          </a:p>
        </p:txBody>
      </p:sp>
      <p:sp>
        <p:nvSpPr>
          <p:cNvPr id="19" name="p13-18-B/C 编辑与预览">
            <a:extLst xmlns:a="http://schemas.openxmlformats.org/drawingml/2006/main">
              <a:ext uri="{FF2B5EF4-FFF2-40B4-BE49-F238E27FC236}">
                <a16:creationId xmlns:a16="http://schemas.microsoft.com/office/drawing/2014/main" id="{723CF393-552D-4C37-B7D2-4B7D0DCD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B/C 编辑与预览</a:t>
            </a:r>
          </a:p>
        </p:txBody>
      </p:sp>
      <p:sp>
        <p:nvSpPr>
          <p:cNvPr id="20" name="p13-19-Engine/CAS 受控链路">
            <a:extLst xmlns:a="http://schemas.openxmlformats.org/drawingml/2006/main">
              <a:ext uri="{FF2B5EF4-FFF2-40B4-BE49-F238E27FC236}">
                <a16:creationId xmlns:a16="http://schemas.microsoft.com/office/drawing/2014/main" id="{B06F5D70-3306-41EF-9563-D1EC58D2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424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Engine/CAS 受控链路</a:t>
            </a:r>
          </a:p>
        </p:txBody>
      </p:sp>
      <p:sp>
        <p:nvSpPr>
          <p:cNvPr id="21" name="p13-20-受支持的 React 导出">
            <a:extLst xmlns:a="http://schemas.openxmlformats.org/drawingml/2006/main">
              <a:ext uri="{FF2B5EF4-FFF2-40B4-BE49-F238E27FC236}">
                <a16:creationId xmlns:a16="http://schemas.microsoft.com/office/drawing/2014/main" id="{48F55275-83ED-456D-95D6-11D93165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6898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受支持的 React 导出</a:t>
            </a:r>
          </a:p>
        </p:txBody>
      </p:sp>
      <p:sp>
        <p:nvSpPr>
          <p:cNvPr id="22" name="p13-21">
            <a:extLst xmlns:a="http://schemas.openxmlformats.org/drawingml/2006/main">
              <a:ext uri="{FF2B5EF4-FFF2-40B4-BE49-F238E27FC236}">
                <a16:creationId xmlns:a16="http://schemas.microsoft.com/office/drawing/2014/main" id="{13E676C2-F8C9-4D78-9281-08FB62AC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6230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13-22">
            <a:extLst xmlns:a="http://schemas.openxmlformats.org/drawingml/2006/main">
              <a:ext uri="{FF2B5EF4-FFF2-40B4-BE49-F238E27FC236}">
                <a16:creationId xmlns:a16="http://schemas.microsoft.com/office/drawing/2014/main" id="{8459DCC7-3700-4D2C-8EB0-8646EDD2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575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13-23">
            <a:extLst xmlns:a="http://schemas.openxmlformats.org/drawingml/2006/main">
              <a:ext uri="{FF2B5EF4-FFF2-40B4-BE49-F238E27FC236}">
                <a16:creationId xmlns:a16="http://schemas.microsoft.com/office/drawing/2014/main" id="{9EB3405D-5C94-4E25-8CC4-862A2120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71875"/>
            <a:ext cx="3190875" cy="282892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5" name="p13-24">
            <a:extLst xmlns:a="http://schemas.openxmlformats.org/drawingml/2006/main">
              <a:ext uri="{FF2B5EF4-FFF2-40B4-BE49-F238E27FC236}">
                <a16:creationId xmlns:a16="http://schemas.microsoft.com/office/drawing/2014/main" id="{EB881FFF-A7C2-41C0-A7EE-859DA701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752850"/>
            <a:ext cx="28289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13-25-开发与验收">
            <a:extLst xmlns:a="http://schemas.openxmlformats.org/drawingml/2006/main">
              <a:ext uri="{FF2B5EF4-FFF2-40B4-BE49-F238E27FC236}">
                <a16:creationId xmlns:a16="http://schemas.microsoft.com/office/drawing/2014/main" id="{3345B8A5-899B-401B-9DB5-59196A48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00475"/>
            <a:ext cx="26003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开发与验收</a:t>
            </a:r>
          </a:p>
        </p:txBody>
      </p:sp>
      <p:sp>
        <p:nvSpPr>
          <p:cNvPr id="27" name="p13-26-下一阶段">
            <a:extLst xmlns:a="http://schemas.openxmlformats.org/drawingml/2006/main">
              <a:ext uri="{FF2B5EF4-FFF2-40B4-BE49-F238E27FC236}">
                <a16:creationId xmlns:a16="http://schemas.microsoft.com/office/drawing/2014/main" id="{1C080A7F-9190-4232-96EE-83AE4262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33875"/>
            <a:ext cx="2771775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下一阶段</a:t>
            </a:r>
          </a:p>
        </p:txBody>
      </p:sp>
      <p:sp>
        <p:nvSpPr>
          <p:cNvPr id="28" name="p13-27-正式 Provider 计划生成">
            <a:extLst xmlns:a="http://schemas.openxmlformats.org/drawingml/2006/main">
              <a:ext uri="{FF2B5EF4-FFF2-40B4-BE49-F238E27FC236}">
                <a16:creationId xmlns:a16="http://schemas.microsoft.com/office/drawing/2014/main" id="{BB21F7E5-EC47-4B2F-AF4D-D58C98C9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933950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正式 Provider 计划生成</a:t>
            </a:r>
          </a:p>
        </p:txBody>
      </p:sp>
      <p:sp>
        <p:nvSpPr>
          <p:cNvPr id="29" name="p13-28-预览 / 确认修改闭环">
            <a:extLst xmlns:a="http://schemas.openxmlformats.org/drawingml/2006/main">
              <a:ext uri="{FF2B5EF4-FFF2-40B4-BE49-F238E27FC236}">
                <a16:creationId xmlns:a16="http://schemas.microsoft.com/office/drawing/2014/main" id="{63256D54-D0C4-4A8F-8070-B6BF674B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295424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预览 / 确认修改闭环</a:t>
            </a:r>
          </a:p>
        </p:txBody>
      </p:sp>
      <p:sp>
        <p:nvSpPr>
          <p:cNvPr id="30" name="p13-29-导出 presentation 对齐">
            <a:extLst xmlns:a="http://schemas.openxmlformats.org/drawingml/2006/main">
              <a:ext uri="{FF2B5EF4-FFF2-40B4-BE49-F238E27FC236}">
                <a16:creationId xmlns:a16="http://schemas.microsoft.com/office/drawing/2014/main" id="{E4B058EF-305C-4FCD-A82C-2E79F431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656898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导出 presentation 对齐</a:t>
            </a:r>
          </a:p>
        </p:txBody>
      </p:sp>
      <p:sp>
        <p:nvSpPr>
          <p:cNvPr id="31" name="p13-30">
            <a:extLst xmlns:a="http://schemas.openxmlformats.org/drawingml/2006/main">
              <a:ext uri="{FF2B5EF4-FFF2-40B4-BE49-F238E27FC236}">
                <a16:creationId xmlns:a16="http://schemas.microsoft.com/office/drawing/2014/main" id="{20E10538-AF4D-4648-9996-14E57E29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30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13-31">
            <a:extLst xmlns:a="http://schemas.openxmlformats.org/drawingml/2006/main">
              <a:ext uri="{FF2B5EF4-FFF2-40B4-BE49-F238E27FC236}">
                <a16:creationId xmlns:a16="http://schemas.microsoft.com/office/drawing/2014/main" id="{E37C733E-696B-42B1-BBC6-1140C45A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0575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13-32">
            <a:extLst xmlns:a="http://schemas.openxmlformats.org/drawingml/2006/main">
              <a:ext uri="{FF2B5EF4-FFF2-40B4-BE49-F238E27FC236}">
                <a16:creationId xmlns:a16="http://schemas.microsoft.com/office/drawing/2014/main" id="{97C066E6-8074-4F2C-886D-BACAC548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190875" cy="282892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4" name="p13-33">
            <a:extLst xmlns:a="http://schemas.openxmlformats.org/drawingml/2006/main">
              <a:ext uri="{FF2B5EF4-FFF2-40B4-BE49-F238E27FC236}">
                <a16:creationId xmlns:a16="http://schemas.microsoft.com/office/drawing/2014/main" id="{C27E0108-920C-451F-AD62-2EFFBA2F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52850"/>
            <a:ext cx="28289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13-34-部署通过后">
            <a:extLst xmlns:a="http://schemas.openxmlformats.org/drawingml/2006/main">
              <a:ext uri="{FF2B5EF4-FFF2-40B4-BE49-F238E27FC236}">
                <a16:creationId xmlns:a16="http://schemas.microsoft.com/office/drawing/2014/main" id="{DB316DFE-F0D6-427D-AB24-222AC830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00475"/>
            <a:ext cx="26003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部署通过后</a:t>
            </a:r>
          </a:p>
        </p:txBody>
      </p:sp>
      <p:sp>
        <p:nvSpPr>
          <p:cNvPr id="36" name="p13-35-受限试用">
            <a:extLst xmlns:a="http://schemas.openxmlformats.org/drawingml/2006/main">
              <a:ext uri="{FF2B5EF4-FFF2-40B4-BE49-F238E27FC236}">
                <a16:creationId xmlns:a16="http://schemas.microsoft.com/office/drawing/2014/main" id="{D46A7FB3-7FF0-4158-A3F7-AE90BE4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33875"/>
            <a:ext cx="2771775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受限试用</a:t>
            </a:r>
          </a:p>
        </p:txBody>
      </p:sp>
      <p:sp>
        <p:nvSpPr>
          <p:cNvPr id="37" name="p13-36-魔塔实际功能核验">
            <a:extLst xmlns:a="http://schemas.openxmlformats.org/drawingml/2006/main">
              <a:ext uri="{FF2B5EF4-FFF2-40B4-BE49-F238E27FC236}">
                <a16:creationId xmlns:a16="http://schemas.microsoft.com/office/drawing/2014/main" id="{065A0714-5B62-4E1B-902A-C4E5EC51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33950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魔塔首次部署与功能核验</a:t>
            </a:r>
          </a:p>
        </p:txBody>
      </p:sp>
      <p:sp>
        <p:nvSpPr>
          <p:cNvPr id="38" name="p13-37-身份、项目权限与配额">
            <a:extLst xmlns:a="http://schemas.openxmlformats.org/drawingml/2006/main">
              <a:ext uri="{FF2B5EF4-FFF2-40B4-BE49-F238E27FC236}">
                <a16:creationId xmlns:a16="http://schemas.microsoft.com/office/drawing/2014/main" id="{237E6219-0C8F-48C7-A9AA-C3D8130C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95424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身份、项目权限与配额</a:t>
            </a:r>
          </a:p>
        </p:txBody>
      </p:sp>
      <p:sp>
        <p:nvSpPr>
          <p:cNvPr id="39" name="p13-38-零基础用户任务观察">
            <a:extLst xmlns:a="http://schemas.openxmlformats.org/drawingml/2006/main">
              <a:ext uri="{FF2B5EF4-FFF2-40B4-BE49-F238E27FC236}">
                <a16:creationId xmlns:a16="http://schemas.microsoft.com/office/drawing/2014/main" id="{100A85FE-A777-4C28-90F8-33D54471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56898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零基础用户任务观察</a:t>
            </a:r>
          </a:p>
        </p:txBody>
      </p:sp>
      <p:sp>
        <p:nvSpPr>
          <p:cNvPr id="40" name="p13-39">
            <a:extLst xmlns:a="http://schemas.openxmlformats.org/drawingml/2006/main">
              <a:ext uri="{FF2B5EF4-FFF2-40B4-BE49-F238E27FC236}">
                <a16:creationId xmlns:a16="http://schemas.microsoft.com/office/drawing/2014/main" id="{33BA3FA8-35F1-4439-8FCF-8E1CF2CE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316230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13-40">
            <a:extLst xmlns:a="http://schemas.openxmlformats.org/drawingml/2006/main">
              <a:ext uri="{FF2B5EF4-FFF2-40B4-BE49-F238E27FC236}">
                <a16:creationId xmlns:a16="http://schemas.microsoft.com/office/drawing/2014/main" id="{B9AAC07D-BA26-45BD-9CA9-AE37CCAB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0575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13-41">
            <a:extLst xmlns:a="http://schemas.openxmlformats.org/drawingml/2006/main">
              <a:ext uri="{FF2B5EF4-FFF2-40B4-BE49-F238E27FC236}">
                <a16:creationId xmlns:a16="http://schemas.microsoft.com/office/drawing/2014/main" id="{0377DD45-369E-495E-9907-33EB1503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571875"/>
            <a:ext cx="3190875" cy="282892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43" name="p13-42">
            <a:extLst xmlns:a="http://schemas.openxmlformats.org/drawingml/2006/main">
              <a:ext uri="{FF2B5EF4-FFF2-40B4-BE49-F238E27FC236}">
                <a16:creationId xmlns:a16="http://schemas.microsoft.com/office/drawing/2014/main" id="{138C0A42-A826-4301-8D06-AC11BBAC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3752850"/>
            <a:ext cx="28289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13-43-长期规划">
            <a:extLst xmlns:a="http://schemas.openxmlformats.org/drawingml/2006/main">
              <a:ext uri="{FF2B5EF4-FFF2-40B4-BE49-F238E27FC236}">
                <a16:creationId xmlns:a16="http://schemas.microsoft.com/office/drawing/2014/main" id="{20E50FF6-1423-4D7E-A607-A600DE3F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800475"/>
            <a:ext cx="2600325" cy="22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275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长期规划</a:t>
            </a:r>
          </a:p>
        </p:txBody>
      </p:sp>
      <p:sp>
        <p:nvSpPr>
          <p:cNvPr id="45" name="p13-44-能力扩展">
            <a:extLst xmlns:a="http://schemas.openxmlformats.org/drawingml/2006/main">
              <a:ext uri="{FF2B5EF4-FFF2-40B4-BE49-F238E27FC236}">
                <a16:creationId xmlns:a16="http://schemas.microsoft.com/office/drawing/2014/main" id="{8517360D-D0B7-4BB8-9169-2F837EE5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4333875"/>
            <a:ext cx="2771775" cy="41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3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能力扩展</a:t>
            </a:r>
          </a:p>
        </p:txBody>
      </p:sp>
      <p:sp>
        <p:nvSpPr>
          <p:cNvPr id="46" name="p13-45-自由组合更多模块">
            <a:extLst xmlns:a="http://schemas.openxmlformats.org/drawingml/2006/main">
              <a:ext uri="{FF2B5EF4-FFF2-40B4-BE49-F238E27FC236}">
                <a16:creationId xmlns:a16="http://schemas.microsoft.com/office/drawing/2014/main" id="{5078777E-DB8E-45AE-BEC6-B603A2EF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4933950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自由组合更多模块</a:t>
            </a:r>
          </a:p>
        </p:txBody>
      </p:sp>
      <p:sp>
        <p:nvSpPr>
          <p:cNvPr id="47" name="p13-46-主动建议与源码修改">
            <a:extLst xmlns:a="http://schemas.openxmlformats.org/drawingml/2006/main">
              <a:ext uri="{FF2B5EF4-FFF2-40B4-BE49-F238E27FC236}">
                <a16:creationId xmlns:a16="http://schemas.microsoft.com/office/drawing/2014/main" id="{EB44EA93-7D3C-4AC6-B58D-DEAF0870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5295424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主动建议与源码修改</a:t>
            </a:r>
          </a:p>
        </p:txBody>
      </p:sp>
      <p:sp>
        <p:nvSpPr>
          <p:cNvPr id="48" name="p13-47-复杂创作场景逐步扩展">
            <a:extLst xmlns:a="http://schemas.openxmlformats.org/drawingml/2006/main">
              <a:ext uri="{FF2B5EF4-FFF2-40B4-BE49-F238E27FC236}">
                <a16:creationId xmlns:a16="http://schemas.microsoft.com/office/drawing/2014/main" id="{927F27BE-285F-4029-B6C8-043D9127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5656898"/>
            <a:ext cx="2771775" cy="31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复杂创作场景逐步扩展</a:t>
            </a:r>
          </a:p>
        </p:txBody>
      </p:sp>
      <p:sp>
        <p:nvSpPr>
          <p:cNvPr id="49" name="p13-48">
            <a:extLst xmlns:a="http://schemas.openxmlformats.org/drawingml/2006/main">
              <a:ext uri="{FF2B5EF4-FFF2-40B4-BE49-F238E27FC236}">
                <a16:creationId xmlns:a16="http://schemas.microsoft.com/office/drawing/2014/main" id="{873B161B-0081-4041-B043-67687E36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86550"/>
            <a:ext cx="13906500" cy="895350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13-49-发布门槛">
            <a:extLst xmlns:a="http://schemas.openxmlformats.org/drawingml/2006/main">
              <a:ext uri="{FF2B5EF4-FFF2-40B4-BE49-F238E27FC236}">
                <a16:creationId xmlns:a16="http://schemas.microsoft.com/office/drawing/2014/main" id="{231E122A-58A5-4215-AD8E-840D576B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24675"/>
            <a:ext cx="1619250" cy="365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2025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发布门槛</a:t>
            </a:r>
          </a:p>
        </p:txBody>
      </p:sp>
      <p:sp>
        <p:nvSpPr>
          <p:cNvPr id="51" name="p13-50-模型预算与取消">
            <a:extLst xmlns:a="http://schemas.openxmlformats.org/drawingml/2006/main">
              <a:ext uri="{FF2B5EF4-FFF2-40B4-BE49-F238E27FC236}">
                <a16:creationId xmlns:a16="http://schemas.microsoft.com/office/drawing/2014/main" id="{98049F1B-D394-4AC3-804A-94E5F389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962775"/>
            <a:ext cx="27813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模型预算与取消</a:t>
            </a:r>
          </a:p>
        </p:txBody>
      </p:sp>
      <p:sp>
        <p:nvSpPr>
          <p:cNvPr id="52" name="p13-51-身份与项目授权">
            <a:extLst xmlns:a="http://schemas.openxmlformats.org/drawingml/2006/main">
              <a:ext uri="{FF2B5EF4-FFF2-40B4-BE49-F238E27FC236}">
                <a16:creationId xmlns:a16="http://schemas.microsoft.com/office/drawing/2014/main" id="{52870822-18D0-4A5F-AF1D-55F477BC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962775"/>
            <a:ext cx="27813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身份与项目授权</a:t>
            </a:r>
          </a:p>
        </p:txBody>
      </p:sp>
      <p:sp>
        <p:nvSpPr>
          <p:cNvPr id="53" name="p13-52-隔离与资源回收">
            <a:extLst xmlns:a="http://schemas.openxmlformats.org/drawingml/2006/main">
              <a:ext uri="{FF2B5EF4-FFF2-40B4-BE49-F238E27FC236}">
                <a16:creationId xmlns:a16="http://schemas.microsoft.com/office/drawing/2014/main" id="{E7FC2A83-CE6C-4778-8BA6-B925216F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6962775"/>
            <a:ext cx="27813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隔离与资源回收</a:t>
            </a:r>
          </a:p>
        </p:txBody>
      </p:sp>
      <p:sp>
        <p:nvSpPr>
          <p:cNvPr id="54" name="p13-53-导出复现与版本一致">
            <a:extLst xmlns:a="http://schemas.openxmlformats.org/drawingml/2006/main">
              <a:ext uri="{FF2B5EF4-FFF2-40B4-BE49-F238E27FC236}">
                <a16:creationId xmlns:a16="http://schemas.microsoft.com/office/drawing/2014/main" id="{3B8F58AE-DAC7-4935-B4F3-913C2536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962775"/>
            <a:ext cx="278130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导出复现与版本一致</a:t>
            </a:r>
          </a:p>
        </p:txBody>
      </p:sp>
      <p:sp>
        <p:nvSpPr>
          <p:cNvPr id="55" name="p13-54-未完成原因包括研发阶段、真实环境验证、权">
            <a:extLst xmlns:a="http://schemas.openxmlformats.org/drawingml/2006/main">
              <a:ext uri="{FF2B5EF4-FFF2-40B4-BE49-F238E27FC236}">
                <a16:creationId xmlns:a16="http://schemas.microsoft.com/office/drawing/2014/main" id="{0761F384-7482-444E-824B-8A8A64C0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首次公网部署未完成；公网身份授权、预算与隔离安全仍待验收。本地真实模型1次通过不等于生产就绪，不承诺未经确认的发布日期。</a:t>
            </a:r>
          </a:p>
        </p:txBody>
      </p:sp>
    </p:spTree>
    <p:extLst>
      <p:ext uri="{BB962C8B-B14F-4D97-AF65-F5344CB8AC3E}">
        <p14:creationId xmlns:p14="http://schemas.microsoft.com/office/powerpoint/2010/main" val="17904046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14-0">
            <a:extLst xmlns:a="http://schemas.openxmlformats.org/drawingml/2006/main">
              <a:ext uri="{FF2B5EF4-FFF2-40B4-BE49-F238E27FC236}">
                <a16:creationId xmlns:a16="http://schemas.microsoft.com/office/drawing/2014/main" id="{D13861A2-DFDE-4750-B7E2-BDF37BEA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4-1">
            <a:extLst xmlns:a="http://schemas.openxmlformats.org/drawingml/2006/main">
              <a:ext uri="{FF2B5EF4-FFF2-40B4-BE49-F238E27FC236}">
                <a16:creationId xmlns:a16="http://schemas.microsoft.com/office/drawing/2014/main" id="{1260B1C1-B019-4E92-9911-5F7D69DC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14-2">
            <a:extLst xmlns:a="http://schemas.openxmlformats.org/drawingml/2006/main">
              <a:ext uri="{FF2B5EF4-FFF2-40B4-BE49-F238E27FC236}">
                <a16:creationId xmlns:a16="http://schemas.microsoft.com/office/drawing/2014/main" id="{2A7757F6-7B16-491E-9866-0E60DF03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4-3">
            <a:extLst xmlns:a="http://schemas.openxmlformats.org/drawingml/2006/main">
              <a:ext uri="{FF2B5EF4-FFF2-40B4-BE49-F238E27FC236}">
                <a16:creationId xmlns:a16="http://schemas.microsoft.com/office/drawing/2014/main" id="{25D3A23B-4B76-4157-8AEE-59000BB2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4-4-BlockCraft AI">
            <a:extLst xmlns:a="http://schemas.openxmlformats.org/drawingml/2006/main">
              <a:ext uri="{FF2B5EF4-FFF2-40B4-BE49-F238E27FC236}">
                <a16:creationId xmlns:a16="http://schemas.microsoft.com/office/drawing/2014/main" id="{10E3E525-052B-44DF-8510-6F78B3A8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14-5-13 / 团队与执行">
            <a:extLst xmlns:a="http://schemas.openxmlformats.org/drawingml/2006/main">
              <a:ext uri="{FF2B5EF4-FFF2-40B4-BE49-F238E27FC236}">
                <a16:creationId xmlns:a16="http://schemas.microsoft.com/office/drawing/2014/main" id="{432AB7D1-0BC0-4745-BA3A-A1543E14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13 / 团队与执行</a:t>
            </a:r>
          </a:p>
        </p:txBody>
      </p:sp>
      <p:sp>
        <p:nvSpPr>
          <p:cNvPr id="7" name="p14-6-五人协作，把产品体验落到工程证据">
            <a:extLst xmlns:a="http://schemas.openxmlformats.org/drawingml/2006/main">
              <a:ext uri="{FF2B5EF4-FFF2-40B4-BE49-F238E27FC236}">
                <a16:creationId xmlns:a16="http://schemas.microsoft.com/office/drawing/2014/main" id="{55D515B0-D744-4360-B69D-B0F8B110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3906500" cy="7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4125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五人协作，把产品体验落到工程证据</a:t>
            </a:r>
          </a:p>
        </p:txBody>
      </p:sp>
      <p:sp>
        <p:nvSpPr>
          <p:cNvPr id="8" name="p14-7-架构统筹衔接 B 模式、Mochi、C ">
            <a:extLst xmlns:a="http://schemas.openxmlformats.org/drawingml/2006/main">
              <a:ext uri="{FF2B5EF4-FFF2-40B4-BE49-F238E27FC236}">
                <a16:creationId xmlns:a16="http://schemas.microsoft.com/office/drawing/2014/main" id="{FC9B2C5B-4C5F-47EC-B08B-6D559DD3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716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架构统筹衔接 B 模式、Mochi、C 模式与工程部署，以共同验收推进交付。</a:t>
            </a:r>
          </a:p>
        </p:txBody>
      </p:sp>
      <p:sp>
        <p:nvSpPr>
          <p:cNvPr id="9" name="p14-8">
            <a:extLst xmlns:a="http://schemas.openxmlformats.org/drawingml/2006/main">
              <a:ext uri="{FF2B5EF4-FFF2-40B4-BE49-F238E27FC236}">
                <a16:creationId xmlns:a16="http://schemas.microsoft.com/office/drawing/2014/main" id="{7F5DF96A-E827-482D-BC9A-32C94BB1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4-9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B5428924-C135-46A2-98FD-0F3695B6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11" name="p14-10-14 / 15">
            <a:extLst xmlns:a="http://schemas.openxmlformats.org/drawingml/2006/main">
              <a:ext uri="{FF2B5EF4-FFF2-40B4-BE49-F238E27FC236}">
                <a16:creationId xmlns:a16="http://schemas.microsoft.com/office/drawing/2014/main" id="{DB63CF0E-325A-4C98-84CA-EF1C843E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14 / 15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F8769-44DC-42A6-A070-D078261759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29f81f7464b5b"/>
          <a:stretch xmlns:a="http://schemas.openxmlformats.org/drawingml/2006/main"/>
        </p:blipFill>
        <p:spPr>
          <a:xfrm xmlns:a="http://schemas.openxmlformats.org/drawingml/2006/main">
            <a:off x="13935075" y="276425"/>
            <a:ext cx="638175" cy="571100"/>
          </a:xfrm>
          <a:prstGeom xmlns:a="http://schemas.openxmlformats.org/drawingml/2006/main" prst="rect">
            <a:avLst/>
          </a:prstGeom>
        </p:spPr>
      </p:pic>
      <p:sp>
        <p:nvSpPr>
          <p:cNvPr id="13" name="p14-12">
            <a:extLst xmlns:a="http://schemas.openxmlformats.org/drawingml/2006/main">
              <a:ext uri="{FF2B5EF4-FFF2-40B4-BE49-F238E27FC236}">
                <a16:creationId xmlns:a16="http://schemas.microsoft.com/office/drawing/2014/main" id="{E26C6FEA-C32B-4433-90F1-76EA79B7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3876675" cy="3819525"/>
          </a:xfrm>
          <a:prstGeom xmlns:a="http://schemas.openxmlformats.org/drawingml/2006/main" prst="roundRect">
            <a:avLst>
              <a:gd name="adj" fmla="val 5985"/>
            </a:avLst>
          </a:prstGeom>
          <a:solidFill xmlns:a="http://schemas.openxmlformats.org/drawingml/2006/main">
            <a:srgbClr val="26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4-13">
            <a:extLst xmlns:a="http://schemas.openxmlformats.org/drawingml/2006/main">
              <a:ext uri="{FF2B5EF4-FFF2-40B4-BE49-F238E27FC236}">
                <a16:creationId xmlns:a16="http://schemas.microsoft.com/office/drawing/2014/main" id="{C114CABF-1EC8-4746-B542-C2D47557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48025"/>
            <a:ext cx="2428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14-14-队长 / Tech Lead">
            <a:extLst xmlns:a="http://schemas.openxmlformats.org/drawingml/2006/main">
              <a:ext uri="{FF2B5EF4-FFF2-40B4-BE49-F238E27FC236}">
                <a16:creationId xmlns:a16="http://schemas.microsoft.com/office/drawing/2014/main" id="{7FFFFD24-ECDB-49CC-A639-8A4667B6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2200275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队长 / Tech Lead</a:t>
            </a:r>
          </a:p>
        </p:txBody>
      </p:sp>
      <p:sp>
        <p:nvSpPr>
          <p:cNvPr id="16" name="p14-15-刘东媛">
            <a:extLst xmlns:a="http://schemas.openxmlformats.org/drawingml/2006/main">
              <a:ext uri="{FF2B5EF4-FFF2-40B4-BE49-F238E27FC236}">
                <a16:creationId xmlns:a16="http://schemas.microsoft.com/office/drawing/2014/main" id="{B9DEDDB8-B34B-4EF2-BCD7-EEC27139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3333750" cy="622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3450" b="1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刘东媛</a:t>
            </a:r>
          </a:p>
        </p:txBody>
      </p:sp>
      <p:sp>
        <p:nvSpPr>
          <p:cNvPr id="17" name="p14-16-架构、集成与决策">
            <a:extLst xmlns:a="http://schemas.openxmlformats.org/drawingml/2006/main">
              <a:ext uri="{FF2B5EF4-FFF2-40B4-BE49-F238E27FC236}">
                <a16:creationId xmlns:a16="http://schemas.microsoft.com/office/drawing/2014/main" id="{A9173BC5-EFCF-4C2E-A002-F1717EFE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333375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架构、集成与决策</a:t>
            </a:r>
          </a:p>
        </p:txBody>
      </p:sp>
      <p:sp>
        <p:nvSpPr>
          <p:cNvPr id="18" name="p14-17-接口边界与安全验收">
            <a:extLst xmlns:a="http://schemas.openxmlformats.org/drawingml/2006/main">
              <a:ext uri="{FF2B5EF4-FFF2-40B4-BE49-F238E27FC236}">
                <a16:creationId xmlns:a16="http://schemas.microsoft.com/office/drawing/2014/main" id="{5FABD133-4575-46D9-B592-7A9F364B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26844"/>
            <a:ext cx="333375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接口边界与安全验收</a:t>
            </a:r>
          </a:p>
        </p:txBody>
      </p:sp>
      <p:sp>
        <p:nvSpPr>
          <p:cNvPr id="19" name="p14-18-研发协调与 PR 审核">
            <a:extLst xmlns:a="http://schemas.openxmlformats.org/drawingml/2006/main">
              <a:ext uri="{FF2B5EF4-FFF2-40B4-BE49-F238E27FC236}">
                <a16:creationId xmlns:a16="http://schemas.microsoft.com/office/drawing/2014/main" id="{8D410CB3-4FC7-4051-8936-F802B225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4988"/>
            <a:ext cx="333375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研发协调与 PR 审核</a:t>
            </a:r>
          </a:p>
        </p:txBody>
      </p:sp>
      <p:sp>
        <p:nvSpPr>
          <p:cNvPr id="20" name="p14-19-Demo 交付确认">
            <a:extLst xmlns:a="http://schemas.openxmlformats.org/drawingml/2006/main">
              <a:ext uri="{FF2B5EF4-FFF2-40B4-BE49-F238E27FC236}">
                <a16:creationId xmlns:a16="http://schemas.microsoft.com/office/drawing/2014/main" id="{3E722F72-46AE-4F5E-8EF3-2C9028E0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03131"/>
            <a:ext cx="333375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Demo 交付确认</a:t>
            </a:r>
          </a:p>
        </p:txBody>
      </p:sp>
      <p:sp>
        <p:nvSpPr>
          <p:cNvPr id="21" name="p14-20">
            <a:extLst xmlns:a="http://schemas.openxmlformats.org/drawingml/2006/main">
              <a:ext uri="{FF2B5EF4-FFF2-40B4-BE49-F238E27FC236}">
                <a16:creationId xmlns:a16="http://schemas.microsoft.com/office/drawing/2014/main" id="{38B20BCA-7F20-432A-B3A4-3927DF26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0375"/>
            <a:ext cx="4695825" cy="1781175"/>
          </a:xfrm>
          <a:prstGeom xmlns:a="http://schemas.openxmlformats.org/drawingml/2006/main" prst="roundRect">
            <a:avLst>
              <a:gd name="adj" fmla="val 128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2" name="p14-21-王致远">
            <a:extLst xmlns:a="http://schemas.openxmlformats.org/drawingml/2006/main">
              <a:ext uri="{FF2B5EF4-FFF2-40B4-BE49-F238E27FC236}">
                <a16:creationId xmlns:a16="http://schemas.microsoft.com/office/drawing/2014/main" id="{F887A5C9-0E41-4523-8222-E1CE1002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200400"/>
            <a:ext cx="424815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王致远</a:t>
            </a:r>
          </a:p>
        </p:txBody>
      </p:sp>
      <p:sp>
        <p:nvSpPr>
          <p:cNvPr id="23" name="p14-22-B 模式">
            <a:extLst xmlns:a="http://schemas.openxmlformats.org/drawingml/2006/main">
              <a:ext uri="{FF2B5EF4-FFF2-40B4-BE49-F238E27FC236}">
                <a16:creationId xmlns:a16="http://schemas.microsoft.com/office/drawing/2014/main" id="{14E63400-A918-43E2-954B-C75FF293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648075"/>
            <a:ext cx="424815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B 模式</a:t>
            </a:r>
          </a:p>
        </p:txBody>
      </p:sp>
      <p:sp>
        <p:nvSpPr>
          <p:cNvPr id="24" name="p14-23-选择、拖动与排列">
            <a:extLst xmlns:a="http://schemas.openxmlformats.org/drawingml/2006/main">
              <a:ext uri="{FF2B5EF4-FFF2-40B4-BE49-F238E27FC236}">
                <a16:creationId xmlns:a16="http://schemas.microsoft.com/office/drawing/2014/main" id="{23EB7084-556A-4824-AA55-B7CE5FED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048125"/>
            <a:ext cx="42481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选择、拖动与排列</a:t>
            </a:r>
          </a:p>
        </p:txBody>
      </p:sp>
      <p:sp>
        <p:nvSpPr>
          <p:cNvPr id="25" name="p14-24-Inspector 与积木编辑">
            <a:extLst xmlns:a="http://schemas.openxmlformats.org/drawingml/2006/main">
              <a:ext uri="{FF2B5EF4-FFF2-40B4-BE49-F238E27FC236}">
                <a16:creationId xmlns:a16="http://schemas.microsoft.com/office/drawing/2014/main" id="{2C7E62FF-67AD-4718-8CBE-164D8A5D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338161"/>
            <a:ext cx="42481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Inspector 与积木编辑</a:t>
            </a:r>
          </a:p>
        </p:txBody>
      </p:sp>
      <p:sp>
        <p:nvSpPr>
          <p:cNvPr id="26" name="p14-25">
            <a:extLst xmlns:a="http://schemas.openxmlformats.org/drawingml/2006/main">
              <a:ext uri="{FF2B5EF4-FFF2-40B4-BE49-F238E27FC236}">
                <a16:creationId xmlns:a16="http://schemas.microsoft.com/office/drawing/2014/main" id="{0473D637-87F3-4143-B9EB-D6526FDE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000375"/>
            <a:ext cx="4695825" cy="1781175"/>
          </a:xfrm>
          <a:prstGeom xmlns:a="http://schemas.openxmlformats.org/drawingml/2006/main" prst="roundRect">
            <a:avLst>
              <a:gd name="adj" fmla="val 128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27" name="p14-26-干陆烃芸">
            <a:extLst xmlns:a="http://schemas.openxmlformats.org/drawingml/2006/main">
              <a:ext uri="{FF2B5EF4-FFF2-40B4-BE49-F238E27FC236}">
                <a16:creationId xmlns:a16="http://schemas.microsoft.com/office/drawing/2014/main" id="{B6D643D8-5532-451B-AF89-527C13DD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00400"/>
            <a:ext cx="424815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干陆烃芸</a:t>
            </a:r>
          </a:p>
        </p:txBody>
      </p:sp>
      <p:sp>
        <p:nvSpPr>
          <p:cNvPr id="28" name="p14-27-Mochi">
            <a:extLst xmlns:a="http://schemas.openxmlformats.org/drawingml/2006/main">
              <a:ext uri="{FF2B5EF4-FFF2-40B4-BE49-F238E27FC236}">
                <a16:creationId xmlns:a16="http://schemas.microsoft.com/office/drawing/2014/main" id="{78AAE159-99B2-45F3-AEF5-B4CF59CA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48075"/>
            <a:ext cx="424815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Mochi</a:t>
            </a:r>
          </a:p>
        </p:txBody>
      </p:sp>
      <p:sp>
        <p:nvSpPr>
          <p:cNvPr id="29" name="p14-28-像素猫反馈与选中对话">
            <a:extLst xmlns:a="http://schemas.openxmlformats.org/drawingml/2006/main">
              <a:ext uri="{FF2B5EF4-FFF2-40B4-BE49-F238E27FC236}">
                <a16:creationId xmlns:a16="http://schemas.microsoft.com/office/drawing/2014/main" id="{B5984394-478F-4456-9E7F-C4178D4D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48125"/>
            <a:ext cx="42481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像素猫反馈与选中对话</a:t>
            </a:r>
          </a:p>
        </p:txBody>
      </p:sp>
      <p:sp>
        <p:nvSpPr>
          <p:cNvPr id="30" name="p14-29-修改方案、确认及 Host 集成">
            <a:extLst xmlns:a="http://schemas.openxmlformats.org/drawingml/2006/main">
              <a:ext uri="{FF2B5EF4-FFF2-40B4-BE49-F238E27FC236}">
                <a16:creationId xmlns:a16="http://schemas.microsoft.com/office/drawing/2014/main" id="{48F61038-A397-41EA-BEA0-918B9300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38161"/>
            <a:ext cx="42481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修改方案、确认及 Host 集成</a:t>
            </a:r>
          </a:p>
        </p:txBody>
      </p:sp>
      <p:sp>
        <p:nvSpPr>
          <p:cNvPr id="31" name="p14-30">
            <a:extLst xmlns:a="http://schemas.openxmlformats.org/drawingml/2006/main">
              <a:ext uri="{FF2B5EF4-FFF2-40B4-BE49-F238E27FC236}">
                <a16:creationId xmlns:a16="http://schemas.microsoft.com/office/drawing/2014/main" id="{3C5896C7-F788-4619-9A48-04712E43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038725"/>
            <a:ext cx="4695825" cy="1781175"/>
          </a:xfrm>
          <a:prstGeom xmlns:a="http://schemas.openxmlformats.org/drawingml/2006/main" prst="roundRect">
            <a:avLst>
              <a:gd name="adj" fmla="val 128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2" name="p14-31-金运梓">
            <a:extLst xmlns:a="http://schemas.openxmlformats.org/drawingml/2006/main">
              <a:ext uri="{FF2B5EF4-FFF2-40B4-BE49-F238E27FC236}">
                <a16:creationId xmlns:a16="http://schemas.microsoft.com/office/drawing/2014/main" id="{9AD6F7C6-C6C0-46BD-9D68-8F4F8A58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238750"/>
            <a:ext cx="424815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金运梓</a:t>
            </a:r>
          </a:p>
        </p:txBody>
      </p:sp>
      <p:sp>
        <p:nvSpPr>
          <p:cNvPr id="33" name="p14-32-C 模式">
            <a:extLst xmlns:a="http://schemas.openxmlformats.org/drawingml/2006/main">
              <a:ext uri="{FF2B5EF4-FFF2-40B4-BE49-F238E27FC236}">
                <a16:creationId xmlns:a16="http://schemas.microsoft.com/office/drawing/2014/main" id="{54ABA339-2D6E-4CEF-BE1C-A5483249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686425"/>
            <a:ext cx="424815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C 模式</a:t>
            </a:r>
          </a:p>
        </p:txBody>
      </p:sp>
      <p:sp>
        <p:nvSpPr>
          <p:cNvPr id="34" name="p14-33-渲染与 CRUD">
            <a:extLst xmlns:a="http://schemas.openxmlformats.org/drawingml/2006/main">
              <a:ext uri="{FF2B5EF4-FFF2-40B4-BE49-F238E27FC236}">
                <a16:creationId xmlns:a16="http://schemas.microsoft.com/office/drawing/2014/main" id="{729ECFE6-0401-4FA8-B461-215C775D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86475"/>
            <a:ext cx="42481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渲染与 CRUD</a:t>
            </a:r>
          </a:p>
        </p:txBody>
      </p:sp>
      <p:sp>
        <p:nvSpPr>
          <p:cNvPr id="35" name="p14-34-B/C 状态一致与预览验收">
            <a:extLst xmlns:a="http://schemas.openxmlformats.org/drawingml/2006/main">
              <a:ext uri="{FF2B5EF4-FFF2-40B4-BE49-F238E27FC236}">
                <a16:creationId xmlns:a16="http://schemas.microsoft.com/office/drawing/2014/main" id="{B887A190-2807-4410-BEA4-1A1756F0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376511"/>
            <a:ext cx="42481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B/C 状态一致与预览验收</a:t>
            </a:r>
          </a:p>
        </p:txBody>
      </p:sp>
      <p:sp>
        <p:nvSpPr>
          <p:cNvPr id="36" name="p14-35">
            <a:extLst xmlns:a="http://schemas.openxmlformats.org/drawingml/2006/main">
              <a:ext uri="{FF2B5EF4-FFF2-40B4-BE49-F238E27FC236}">
                <a16:creationId xmlns:a16="http://schemas.microsoft.com/office/drawing/2014/main" id="{3FAD7BE6-014F-4938-99BF-4140AA86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038725"/>
            <a:ext cx="4695825" cy="1781175"/>
          </a:xfrm>
          <a:prstGeom xmlns:a="http://schemas.openxmlformats.org/drawingml/2006/main" prst="roundRect">
            <a:avLst>
              <a:gd name="adj" fmla="val 128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DAC9"/>
            </a:solidFill>
            <a:prstDash val="solid"/>
          </a:ln>
        </p:spPr>
      </p:sp>
      <p:sp>
        <p:nvSpPr>
          <p:cNvPr id="37" name="p14-36-郑相">
            <a:extLst xmlns:a="http://schemas.openxmlformats.org/drawingml/2006/main">
              <a:ext uri="{FF2B5EF4-FFF2-40B4-BE49-F238E27FC236}">
                <a16:creationId xmlns:a16="http://schemas.microsoft.com/office/drawing/2014/main" id="{8341ABDE-9499-4129-9C73-8D34531A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38750"/>
            <a:ext cx="424815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24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郑相</a:t>
            </a:r>
          </a:p>
        </p:txBody>
      </p:sp>
      <p:sp>
        <p:nvSpPr>
          <p:cNvPr id="38" name="p14-37-工程部署与系统交付">
            <a:extLst xmlns:a="http://schemas.openxmlformats.org/drawingml/2006/main">
              <a:ext uri="{FF2B5EF4-FFF2-40B4-BE49-F238E27FC236}">
                <a16:creationId xmlns:a16="http://schemas.microsoft.com/office/drawing/2014/main" id="{E4B9957F-2CD9-4D64-966F-398003DA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686425"/>
            <a:ext cx="4248150" cy="29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6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工程部署与系统交付</a:t>
            </a:r>
          </a:p>
        </p:txBody>
      </p:sp>
      <p:sp>
        <p:nvSpPr>
          <p:cNvPr id="39" name="p14-38-环境、构建与资源配置">
            <a:extLst xmlns:a="http://schemas.openxmlformats.org/drawingml/2006/main">
              <a:ext uri="{FF2B5EF4-FFF2-40B4-BE49-F238E27FC236}">
                <a16:creationId xmlns:a16="http://schemas.microsoft.com/office/drawing/2014/main" id="{54D3528D-BEE4-451A-BABB-E278C65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086475"/>
            <a:ext cx="42481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环境、构建与资源配置</a:t>
            </a:r>
          </a:p>
        </p:txBody>
      </p:sp>
      <p:sp>
        <p:nvSpPr>
          <p:cNvPr id="40" name="p14-39-文档及后续演示验证">
            <a:extLst xmlns:a="http://schemas.openxmlformats.org/drawingml/2006/main">
              <a:ext uri="{FF2B5EF4-FFF2-40B4-BE49-F238E27FC236}">
                <a16:creationId xmlns:a16="http://schemas.microsoft.com/office/drawing/2014/main" id="{188508AA-05CF-477E-AC51-75394EF7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76511"/>
            <a:ext cx="4248150" cy="284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575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文档及后续演示验证</a:t>
            </a:r>
          </a:p>
        </p:txBody>
      </p:sp>
      <p:sp>
        <p:nvSpPr>
          <p:cNvPr id="41" name="p14-40-模块负责人">
            <a:extLst xmlns:a="http://schemas.openxmlformats.org/drawingml/2006/main">
              <a:ext uri="{FF2B5EF4-FFF2-40B4-BE49-F238E27FC236}">
                <a16:creationId xmlns:a16="http://schemas.microsoft.com/office/drawing/2014/main" id="{08D95870-A51B-48BF-ABB1-C9B00BEF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219950"/>
            <a:ext cx="23812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模块负责人</a:t>
            </a:r>
          </a:p>
        </p:txBody>
      </p:sp>
      <p:sp>
        <p:nvSpPr>
          <p:cNvPr id="42" name="p14-41-→">
            <a:extLst xmlns:a="http://schemas.openxmlformats.org/drawingml/2006/main">
              <a:ext uri="{FF2B5EF4-FFF2-40B4-BE49-F238E27FC236}">
                <a16:creationId xmlns:a16="http://schemas.microsoft.com/office/drawing/2014/main" id="{208E70BE-7842-4C4B-BA77-6B05E202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058025"/>
            <a:ext cx="9525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43" name="p14-42-PR 评审">
            <a:extLst xmlns:a="http://schemas.openxmlformats.org/drawingml/2006/main">
              <a:ext uri="{FF2B5EF4-FFF2-40B4-BE49-F238E27FC236}">
                <a16:creationId xmlns:a16="http://schemas.microsoft.com/office/drawing/2014/main" id="{615E94CD-1DBE-4C4F-BE4C-549A32A5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7219950"/>
            <a:ext cx="23812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PR 评审</a:t>
            </a:r>
          </a:p>
        </p:txBody>
      </p:sp>
      <p:sp>
        <p:nvSpPr>
          <p:cNvPr id="44" name="p14-43-→">
            <a:extLst xmlns:a="http://schemas.openxmlformats.org/drawingml/2006/main">
              <a:ext uri="{FF2B5EF4-FFF2-40B4-BE49-F238E27FC236}">
                <a16:creationId xmlns:a16="http://schemas.microsoft.com/office/drawing/2014/main" id="{C31A7D74-1A45-48C5-BD82-60CFC0D4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7058025"/>
            <a:ext cx="9525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45" name="p14-44-独立 QA">
            <a:extLst xmlns:a="http://schemas.openxmlformats.org/drawingml/2006/main">
              <a:ext uri="{FF2B5EF4-FFF2-40B4-BE49-F238E27FC236}">
                <a16:creationId xmlns:a16="http://schemas.microsoft.com/office/drawing/2014/main" id="{E22BEB42-F044-48DD-810F-DA62A264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219950"/>
            <a:ext cx="238125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独立 QA</a:t>
            </a:r>
          </a:p>
        </p:txBody>
      </p:sp>
      <p:sp>
        <p:nvSpPr>
          <p:cNvPr id="46" name="p14-45-→">
            <a:extLst xmlns:a="http://schemas.openxmlformats.org/drawingml/2006/main">
              <a:ext uri="{FF2B5EF4-FFF2-40B4-BE49-F238E27FC236}">
                <a16:creationId xmlns:a16="http://schemas.microsoft.com/office/drawing/2014/main" id="{455EF693-4D83-45D4-8ECB-10F41AD5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058025"/>
            <a:ext cx="952500" cy="568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defPPr>
            <a:lvl1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1pPr>
            <a:lvl2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2pPr>
            <a:lvl3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3pPr>
            <a:lvl4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4pPr>
            <a:lvl5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5pPr>
            <a:lvl6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6pPr>
            <a:lvl7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7pPr>
            <a:lvl8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8pPr>
            <a:lvl9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E57C41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E57C41"/>
                </a:solidFill>
                <a:latin typeface="DengXian"/>
                <a:ea typeface="DengXian"/>
                <a:cs typeface="DengXian"/>
              </a:rPr>
              <a:t>→</a:t>
            </a:r>
          </a:p>
        </p:txBody>
      </p:sp>
      <p:sp>
        <p:nvSpPr>
          <p:cNvPr id="47" name="p14-46-演示口径对齐">
            <a:extLst xmlns:a="http://schemas.openxmlformats.org/drawingml/2006/main">
              <a:ext uri="{FF2B5EF4-FFF2-40B4-BE49-F238E27FC236}">
                <a16:creationId xmlns:a16="http://schemas.microsoft.com/office/drawing/2014/main" id="{F2EA6BD1-AEF6-4E29-AD91-FE6A9CFE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219950"/>
            <a:ext cx="3619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16653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416653"/>
                </a:solidFill>
                <a:latin typeface="DengXian"/>
                <a:ea typeface="DengXian"/>
                <a:cs typeface="DengXian"/>
              </a:rPr>
              <a:t>演示口径对齐</a:t>
            </a:r>
          </a:p>
        </p:txBody>
      </p:sp>
      <p:sp>
        <p:nvSpPr>
          <p:cNvPr id="48" name="p14-47-成员姓名与职责沿用原 BP 第14页；本">
            <a:extLst xmlns:a="http://schemas.openxmlformats.org/drawingml/2006/main">
              <a:ext uri="{FF2B5EF4-FFF2-40B4-BE49-F238E27FC236}">
                <a16:creationId xmlns:a16="http://schemas.microsoft.com/office/drawing/2014/main" id="{3DB53143-272E-40C3-B375-93E071C3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成员姓名与职责沿用原 BP 第14页；本轮未添加未经核实的履历、获奖或用户成绩。最新 main 的独立全量 QA 仍需单独确认。</a:t>
            </a:r>
          </a:p>
        </p:txBody>
      </p:sp>
    </p:spTree>
    <p:extLst>
      <p:ext uri="{BB962C8B-B14F-4D97-AF65-F5344CB8AC3E}">
        <p14:creationId xmlns:p14="http://schemas.microsoft.com/office/powerpoint/2010/main" val="4767643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15-0">
            <a:extLst xmlns:a="http://schemas.openxmlformats.org/drawingml/2006/main">
              <a:ext uri="{FF2B5EF4-FFF2-40B4-BE49-F238E27FC236}">
                <a16:creationId xmlns:a16="http://schemas.microsoft.com/office/drawing/2014/main" id="{170B8065-23FF-4308-B0CF-1FAC6079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7C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15-1">
            <a:extLst xmlns:a="http://schemas.openxmlformats.org/drawingml/2006/main">
              <a:ext uri="{FF2B5EF4-FFF2-40B4-BE49-F238E27FC236}">
                <a16:creationId xmlns:a16="http://schemas.microsoft.com/office/drawing/2014/main" id="{76D9FB75-D8AA-4AB7-9177-78D0E9F7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15-2">
            <a:extLst xmlns:a="http://schemas.openxmlformats.org/drawingml/2006/main">
              <a:ext uri="{FF2B5EF4-FFF2-40B4-BE49-F238E27FC236}">
                <a16:creationId xmlns:a16="http://schemas.microsoft.com/office/drawing/2014/main" id="{58E94BBA-5EAD-405E-9D58-BB740FB3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5-3">
            <a:extLst xmlns:a="http://schemas.openxmlformats.org/drawingml/2006/main">
              <a:ext uri="{FF2B5EF4-FFF2-40B4-BE49-F238E27FC236}">
                <a16:creationId xmlns:a16="http://schemas.microsoft.com/office/drawing/2014/main" id="{71D7B75E-9BF8-42A7-BF05-2557AAA4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"/>
            <a:ext cx="13335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5-4-BlockCraft AI">
            <a:extLst xmlns:a="http://schemas.openxmlformats.org/drawingml/2006/main">
              <a:ext uri="{FF2B5EF4-FFF2-40B4-BE49-F238E27FC236}">
                <a16:creationId xmlns:a16="http://schemas.microsoft.com/office/drawing/2014/main" id="{9CBF566D-8E17-4F91-9A78-24B3DA85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"/>
            <a:ext cx="2857500" cy="324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BlockCraft AI</a:t>
            </a:r>
          </a:p>
        </p:txBody>
      </p:sp>
      <p:sp>
        <p:nvSpPr>
          <p:cNvPr id="6" name="p15-5-BLOCKCRAFT AI  /  与 ">
            <a:extLst xmlns:a="http://schemas.openxmlformats.org/drawingml/2006/main">
              <a:ext uri="{FF2B5EF4-FFF2-40B4-BE49-F238E27FC236}">
                <a16:creationId xmlns:a16="http://schemas.microsoft.com/office/drawing/2014/main" id="{B4170344-FF70-4D56-A043-B0AC1765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143000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13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BLOCKCRAFT AI  /  与 MOCHI 一起创造</a:t>
            </a:r>
          </a:p>
        </p:txBody>
      </p:sp>
      <p:sp>
        <p:nvSpPr>
          <p:cNvPr id="7" name="p15-6">
            <a:extLst xmlns:a="http://schemas.openxmlformats.org/drawingml/2006/main">
              <a:ext uri="{FF2B5EF4-FFF2-40B4-BE49-F238E27FC236}">
                <a16:creationId xmlns:a16="http://schemas.microsoft.com/office/drawing/2014/main" id="{17FB853C-3413-472A-A092-E4385552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10525"/>
            <a:ext cx="1390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A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5-7-初赛商业计划书  /  2026.10.">
            <a:extLst xmlns:a="http://schemas.openxmlformats.org/drawingml/2006/main">
              <a:ext uri="{FF2B5EF4-FFF2-40B4-BE49-F238E27FC236}">
                <a16:creationId xmlns:a16="http://schemas.microsoft.com/office/drawing/2014/main" id="{7B293CFA-4268-4BCC-AFE4-324CA70E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53400"/>
            <a:ext cx="76200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初赛商业计划书  /  2026.10.19</a:t>
            </a:r>
          </a:p>
        </p:txBody>
      </p:sp>
      <p:sp>
        <p:nvSpPr>
          <p:cNvPr id="9" name="p15-8-15 / 15">
            <a:extLst xmlns:a="http://schemas.openxmlformats.org/drawingml/2006/main">
              <a:ext uri="{FF2B5EF4-FFF2-40B4-BE49-F238E27FC236}">
                <a16:creationId xmlns:a16="http://schemas.microsoft.com/office/drawing/2014/main" id="{1AC056CA-23B0-4122-B0F3-E5AFD2BC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134350"/>
            <a:ext cx="1238250" cy="243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35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15 / 15</a:t>
            </a:r>
          </a:p>
        </p:txBody>
      </p:sp>
      <p:sp>
        <p:nvSpPr>
          <p:cNvPr id="10" name="p15-9-让每一个想法，">
            <a:extLst xmlns:a="http://schemas.openxmlformats.org/drawingml/2006/main">
              <a:ext uri="{FF2B5EF4-FFF2-40B4-BE49-F238E27FC236}">
                <a16:creationId xmlns:a16="http://schemas.microsoft.com/office/drawing/2014/main" id="{D6D116BE-34C6-4C49-9344-86D7FFA0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9715500" cy="1027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57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让每一个想法，</a:t>
            </a:r>
          </a:p>
        </p:txBody>
      </p:sp>
      <p:sp>
        <p:nvSpPr>
          <p:cNvPr id="11" name="p15-10-都有自己的软件。">
            <a:extLst xmlns:a="http://schemas.openxmlformats.org/drawingml/2006/main">
              <a:ext uri="{FF2B5EF4-FFF2-40B4-BE49-F238E27FC236}">
                <a16:creationId xmlns:a16="http://schemas.microsoft.com/office/drawing/2014/main" id="{08BE7914-7AAE-4852-A0D0-1E0D2064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3517"/>
            <a:ext cx="9715500" cy="1027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570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都有自己的软件。</a:t>
            </a:r>
          </a:p>
        </p:txBody>
      </p:sp>
      <p:sp>
        <p:nvSpPr>
          <p:cNvPr id="12" name="p15-11-从一个适合自己的小工具开始，">
            <a:extLst xmlns:a="http://schemas.openxmlformats.org/drawingml/2006/main">
              <a:ext uri="{FF2B5EF4-FFF2-40B4-BE49-F238E27FC236}">
                <a16:creationId xmlns:a16="http://schemas.microsoft.com/office/drawing/2014/main" id="{1A9DD7B1-E340-4220-A894-FFF609EB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781050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24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从一个适合自己的小工具开始，</a:t>
            </a:r>
          </a:p>
        </p:txBody>
      </p:sp>
      <p:sp>
        <p:nvSpPr>
          <p:cNvPr id="13" name="p15-12-让创造软件变得直观、简单、有趣。">
            <a:extLst xmlns:a="http://schemas.openxmlformats.org/drawingml/2006/main">
              <a:ext uri="{FF2B5EF4-FFF2-40B4-BE49-F238E27FC236}">
                <a16:creationId xmlns:a16="http://schemas.microsoft.com/office/drawing/2014/main" id="{BA634920-76BE-4329-A625-5D392780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7810500" cy="432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24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让创造软件变得直观、简单、有趣。</a:t>
            </a:r>
          </a:p>
        </p:txBody>
      </p:sp>
      <p:sp>
        <p:nvSpPr>
          <p:cNvPr id="14" name="p15-13">
            <a:extLst xmlns:a="http://schemas.openxmlformats.org/drawingml/2006/main">
              <a:ext uri="{FF2B5EF4-FFF2-40B4-BE49-F238E27FC236}">
                <a16:creationId xmlns:a16="http://schemas.microsoft.com/office/drawing/2014/main" id="{EF0BEF6D-8E22-45B1-9D11-1D2E7CB1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7848600" cy="1276350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15-14-邀请零基础用户共创">
            <a:extLst xmlns:a="http://schemas.openxmlformats.org/drawingml/2006/main">
              <a:ext uri="{FF2B5EF4-FFF2-40B4-BE49-F238E27FC236}">
                <a16:creationId xmlns:a16="http://schemas.microsoft.com/office/drawing/2014/main" id="{5DFF5F80-BCA8-48D6-8FA1-0C819737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53150"/>
            <a:ext cx="7239000" cy="405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84B22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A84B22"/>
                </a:solidFill>
                <a:latin typeface="DengXian"/>
                <a:ea typeface="DengXian"/>
                <a:cs typeface="DengXian"/>
              </a:rPr>
              <a:t>邀请零基础用户共创</a:t>
            </a:r>
          </a:p>
        </p:txBody>
      </p:sp>
      <p:sp>
        <p:nvSpPr>
          <p:cNvPr id="16" name="p15-15-带来一个想法，一起验证第一次创建与持续修">
            <a:extLst xmlns:a="http://schemas.openxmlformats.org/drawingml/2006/main">
              <a:ext uri="{FF2B5EF4-FFF2-40B4-BE49-F238E27FC236}">
                <a16:creationId xmlns:a16="http://schemas.microsoft.com/office/drawing/2014/main" id="{5A7BFF8E-14AE-47FC-9133-9A8403E0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696075"/>
            <a:ext cx="72390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带来一个想法，一起验证第一次创建与持续修改。</a:t>
            </a:r>
          </a:p>
        </p:txBody>
      </p:sp>
      <p:sp>
        <p:nvSpPr>
          <p:cNvPr id="17" name="p15-16">
            <a:extLst xmlns:a="http://schemas.openxmlformats.org/drawingml/2006/main">
              <a:ext uri="{FF2B5EF4-FFF2-40B4-BE49-F238E27FC236}">
                <a16:creationId xmlns:a16="http://schemas.microsoft.com/office/drawing/2014/main" id="{8A2882C2-7FF7-4463-A50D-F4712E26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724150"/>
            <a:ext cx="3895725" cy="389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A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BA7DF-E90A-4820-8EAE-7267AFD328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461907c7540ce"/>
          <a:stretch xmlns:a="http://schemas.openxmlformats.org/drawingml/2006/main"/>
        </p:blipFill>
        <p:spPr>
          <a:xfrm xmlns:a="http://schemas.openxmlformats.org/drawingml/2006/main">
            <a:off x="10096500" y="3074802"/>
            <a:ext cx="3409950" cy="3051547"/>
          </a:xfrm>
          <a:prstGeom xmlns:a="http://schemas.openxmlformats.org/drawingml/2006/main" prst="rect">
            <a:avLst/>
          </a:prstGeom>
        </p:spPr>
      </p:pic>
      <p:sp>
        <p:nvSpPr>
          <p:cNvPr id="19" name="p15-18">
            <a:extLst xmlns:a="http://schemas.openxmlformats.org/drawingml/2006/main">
              <a:ext uri="{FF2B5EF4-FFF2-40B4-BE49-F238E27FC236}">
                <a16:creationId xmlns:a16="http://schemas.microsoft.com/office/drawing/2014/main" id="{2F0159D8-E836-4AE6-ABB7-7A2512F4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65735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5-19">
            <a:extLst xmlns:a="http://schemas.openxmlformats.org/drawingml/2006/main">
              <a:ext uri="{FF2B5EF4-FFF2-40B4-BE49-F238E27FC236}">
                <a16:creationId xmlns:a16="http://schemas.microsoft.com/office/drawing/2014/main" id="{584FED51-F4F5-45DC-868C-1B308DAF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657350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15-20">
            <a:extLst xmlns:a="http://schemas.openxmlformats.org/drawingml/2006/main">
              <a:ext uri="{FF2B5EF4-FFF2-40B4-BE49-F238E27FC236}">
                <a16:creationId xmlns:a16="http://schemas.microsoft.com/office/drawing/2014/main" id="{B7BE461B-E4E2-4B24-8AD5-AAFE5BFD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752600"/>
            <a:ext cx="16954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E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15-21">
            <a:extLst xmlns:a="http://schemas.openxmlformats.org/drawingml/2006/main">
              <a:ext uri="{FF2B5EF4-FFF2-40B4-BE49-F238E27FC236}">
                <a16:creationId xmlns:a16="http://schemas.microsoft.com/office/drawing/2014/main" id="{97997475-8AD3-4F92-BA11-7BE5E094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276" y="1924050"/>
            <a:ext cx="2571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15-22">
            <a:extLst xmlns:a="http://schemas.openxmlformats.org/drawingml/2006/main">
              <a:ext uri="{FF2B5EF4-FFF2-40B4-BE49-F238E27FC236}">
                <a16:creationId xmlns:a16="http://schemas.microsoft.com/office/drawing/2014/main" id="{1CE3D408-66B9-427C-AE9E-1607D46E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042350"/>
            <a:ext cx="257175" cy="257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15-23-想法">
            <a:extLst xmlns:a="http://schemas.openxmlformats.org/drawingml/2006/main">
              <a:ext uri="{FF2B5EF4-FFF2-40B4-BE49-F238E27FC236}">
                <a16:creationId xmlns:a16="http://schemas.microsoft.com/office/drawing/2014/main" id="{E8DE75C0-9ACE-486D-BB21-D5072300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305050"/>
            <a:ext cx="135255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想法</a:t>
            </a:r>
          </a:p>
        </p:txBody>
      </p:sp>
      <p:sp>
        <p:nvSpPr>
          <p:cNvPr id="25" name="p15-24">
            <a:extLst xmlns:a="http://schemas.openxmlformats.org/drawingml/2006/main">
              <a:ext uri="{FF2B5EF4-FFF2-40B4-BE49-F238E27FC236}">
                <a16:creationId xmlns:a16="http://schemas.microsoft.com/office/drawing/2014/main" id="{AEDFA49D-67D4-4941-BF08-6C5310D4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819775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15-25">
            <a:extLst xmlns:a="http://schemas.openxmlformats.org/drawingml/2006/main">
              <a:ext uri="{FF2B5EF4-FFF2-40B4-BE49-F238E27FC236}">
                <a16:creationId xmlns:a16="http://schemas.microsoft.com/office/drawing/2014/main" id="{02E44B49-B7CD-44F5-ACB4-0BE49DA1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5819775"/>
            <a:ext cx="304800" cy="161925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15-26">
            <a:extLst xmlns:a="http://schemas.openxmlformats.org/drawingml/2006/main">
              <a:ext uri="{FF2B5EF4-FFF2-40B4-BE49-F238E27FC236}">
                <a16:creationId xmlns:a16="http://schemas.microsoft.com/office/drawing/2014/main" id="{4CBFE36E-03D9-4BEE-8D9E-7239A285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915025"/>
            <a:ext cx="169545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E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15-27">
            <a:extLst xmlns:a="http://schemas.openxmlformats.org/drawingml/2006/main">
              <a:ext uri="{FF2B5EF4-FFF2-40B4-BE49-F238E27FC236}">
                <a16:creationId xmlns:a16="http://schemas.microsoft.com/office/drawing/2014/main" id="{F24A1034-251D-4225-94D9-6E8AED15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086475"/>
            <a:ext cx="102870" cy="102870"/>
          </a:xfrm>
          <a:prstGeom xmlns:a="http://schemas.openxmlformats.org/drawingml/2006/main" prst="roundRect">
            <a:avLst>
              <a:gd name="adj" fmla="val 3703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29" name="p15-28">
            <a:extLst xmlns:a="http://schemas.openxmlformats.org/drawingml/2006/main">
              <a:ext uri="{FF2B5EF4-FFF2-40B4-BE49-F238E27FC236}">
                <a16:creationId xmlns:a16="http://schemas.microsoft.com/office/drawing/2014/main" id="{D31C714F-BAB1-4B7A-9563-9773B48B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1646" y="6086475"/>
            <a:ext cx="102870" cy="102870"/>
          </a:xfrm>
          <a:prstGeom xmlns:a="http://schemas.openxmlformats.org/drawingml/2006/main" prst="roundRect">
            <a:avLst>
              <a:gd name="adj" fmla="val 3703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0" name="p15-29">
            <a:extLst xmlns:a="http://schemas.openxmlformats.org/drawingml/2006/main">
              <a:ext uri="{FF2B5EF4-FFF2-40B4-BE49-F238E27FC236}">
                <a16:creationId xmlns:a16="http://schemas.microsoft.com/office/drawing/2014/main" id="{41D89E2B-2B89-42CF-B863-BCE34305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227921"/>
            <a:ext cx="102870" cy="102870"/>
          </a:xfrm>
          <a:prstGeom xmlns:a="http://schemas.openxmlformats.org/drawingml/2006/main" prst="roundRect">
            <a:avLst>
              <a:gd name="adj" fmla="val 3703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416653"/>
            </a:solidFill>
            <a:prstDash val="solid"/>
          </a:ln>
        </p:spPr>
      </p:sp>
      <p:sp>
        <p:nvSpPr>
          <p:cNvPr id="31" name="p15-30-积木">
            <a:extLst xmlns:a="http://schemas.openxmlformats.org/drawingml/2006/main">
              <a:ext uri="{FF2B5EF4-FFF2-40B4-BE49-F238E27FC236}">
                <a16:creationId xmlns:a16="http://schemas.microsoft.com/office/drawing/2014/main" id="{517B24A3-A2CE-4FF5-B6CD-EB90BE06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467475"/>
            <a:ext cx="1352550" cy="35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D332E"/>
                </a:solidFill>
                <a:latin typeface="DengXian"/>
                <a:ea typeface="DengXian"/>
                <a:cs typeface="DengXian"/>
              </a:defRPr>
            </a:pPr>
            <a:r>
              <a:rPr sz="1950" b="1">
                <a:solidFill>
                  <a:srgbClr val="2D332E"/>
                </a:solidFill>
                <a:latin typeface="DengXian"/>
                <a:ea typeface="DengXian"/>
                <a:cs typeface="DengXian"/>
              </a:rPr>
              <a:t>积木</a:t>
            </a:r>
          </a:p>
        </p:txBody>
      </p:sp>
      <p:sp>
        <p:nvSpPr>
          <p:cNvPr id="32" name="p15-31-现阶段：工程基础已可验证，完整 AI 原">
            <a:extLst xmlns:a="http://schemas.openxmlformats.org/drawingml/2006/main">
              <a:ext uri="{FF2B5EF4-FFF2-40B4-BE49-F238E27FC236}">
                <a16:creationId xmlns:a16="http://schemas.microsoft.com/office/drawing/2014/main" id="{CA9A4A09-1226-4723-A761-0F2633BE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86675"/>
            <a:ext cx="138684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defPPr>
            <a:lvl1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1pPr>
            <a:lvl2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2pPr>
            <a:lvl3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3pPr>
            <a:lvl4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4pPr>
            <a:lvl5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5pPr>
            <a:lvl6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6pPr>
            <a:lvl7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7pPr>
            <a:lvl8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8pPr>
            <a:lvl9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97168"/>
                </a:solidFill>
                <a:latin typeface="DengXian"/>
                <a:ea typeface="DengXian"/>
                <a:cs typeface="DengXian"/>
              </a:defRPr>
            </a:pPr>
            <a:r>
              <a:rPr sz="1200" b="0">
                <a:solidFill>
                  <a:srgbClr val="697168"/>
                </a:solidFill>
                <a:latin typeface="DengXian"/>
                <a:ea typeface="DengXian"/>
                <a:cs typeface="DengXian"/>
              </a:rPr>
              <a:t>现阶段：工程基础已可验证，完整 AI 原生创造体验持续研发。  |  试用入口将在部署与安全验收后确认。</a:t>
            </a:r>
          </a:p>
        </p:txBody>
      </p:sp>
    </p:spTree>
    <p:extLst>
      <p:ext uri="{BB962C8B-B14F-4D97-AF65-F5344CB8AC3E}">
        <p14:creationId xmlns:p14="http://schemas.microsoft.com/office/powerpoint/2010/main" val="1081736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2026-10-19T11:54:55.8920000Z</dcterms:created>
  <dcterms:modified xsi:type="dcterms:W3CDTF">2026-10-19T11:54:55.8920000Z</dcterms:modified>
</coreProperties>
</file>