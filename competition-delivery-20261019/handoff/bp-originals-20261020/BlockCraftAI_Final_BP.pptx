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6d1dd8ebbd4b9b" /><Relationship Type="http://schemas.openxmlformats.org/officeDocument/2006/relationships/extended-properties" Target="/docProps/app.xml" Id="Rc225ecebdcd649dc" /><Relationship Type="http://schemas.openxmlformats.org/officeDocument/2006/relationships/officeDocument" Target="/ppt/presentation.xml" Id="R67d66930906747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d0d1c28b99406b"/>
  </p:sldMasterIdLst>
  <p:notesMasterIdLst>
    <p:notesMasterId xmlns:r="http://schemas.openxmlformats.org/officeDocument/2006/relationships" r:id="R5ca77615fa8d4c58"/>
  </p:notesMasterIdLst>
  <p:sldIdLst>
    <p:sldId xmlns:r="http://schemas.openxmlformats.org/officeDocument/2006/relationships" id="256" r:id="Rba21711b3cf74a67"/>
    <p:sldId xmlns:r="http://schemas.openxmlformats.org/officeDocument/2006/relationships" id="257" r:id="R40726e60d8ec4e62"/>
    <p:sldId xmlns:r="http://schemas.openxmlformats.org/officeDocument/2006/relationships" id="258" r:id="R0354bbf59f244553"/>
    <p:sldId xmlns:r="http://schemas.openxmlformats.org/officeDocument/2006/relationships" id="259" r:id="R83bf9bf5b67248ed"/>
    <p:sldId xmlns:r="http://schemas.openxmlformats.org/officeDocument/2006/relationships" id="260" r:id="R761378d6ab834eb8"/>
    <p:sldId xmlns:r="http://schemas.openxmlformats.org/officeDocument/2006/relationships" id="261" r:id="Re58dcf2241bf4643"/>
    <p:sldId xmlns:r="http://schemas.openxmlformats.org/officeDocument/2006/relationships" id="262" r:id="R7c6cb2ed106c4af0"/>
    <p:sldId xmlns:r="http://schemas.openxmlformats.org/officeDocument/2006/relationships" id="263" r:id="R7ce29d029da04545"/>
    <p:sldId xmlns:r="http://schemas.openxmlformats.org/officeDocument/2006/relationships" id="264" r:id="R11a0a4a9bd84499b"/>
    <p:sldId xmlns:r="http://schemas.openxmlformats.org/officeDocument/2006/relationships" id="265" r:id="Rb6cc0864d6c24ab6"/>
    <p:sldId xmlns:r="http://schemas.openxmlformats.org/officeDocument/2006/relationships" id="266" r:id="Rcfacc2882adc400f"/>
    <p:sldId xmlns:r="http://schemas.openxmlformats.org/officeDocument/2006/relationships" id="267" r:id="R335c56f1a9c5461e"/>
    <p:sldId xmlns:r="http://schemas.openxmlformats.org/officeDocument/2006/relationships" id="268" r:id="R01196c11d9af44ce"/>
    <p:sldId xmlns:r="http://schemas.openxmlformats.org/officeDocument/2006/relationships" id="269" r:id="Rcdbd7c483ede4d8e"/>
    <p:sldId xmlns:r="http://schemas.openxmlformats.org/officeDocument/2006/relationships" id="270" r:id="R7ed54736c85d4b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81e5ac4c0649d0" /><Relationship Type="http://schemas.openxmlformats.org/officeDocument/2006/relationships/slideMaster" Target="/ppt/slideMasters/slideMaster1.xml" Id="Rfbd0d1c28b99406b" /><Relationship Type="http://schemas.openxmlformats.org/officeDocument/2006/relationships/notesMaster" Target="/ppt/notesMasters/notesMaster1.xml" Id="R5ca77615fa8d4c58" /><Relationship Type="http://schemas.openxmlformats.org/officeDocument/2006/relationships/presProps" Target="/ppt/presProps.xml" Id="Rba18d8d6e05b4773" /><Relationship Type="http://schemas.openxmlformats.org/officeDocument/2006/relationships/tableStyles" Target="/ppt/tableStyles.xml" Id="Rd3cccf802d004c71" /><Relationship Type="http://schemas.openxmlformats.org/officeDocument/2006/relationships/slide" Target="/ppt/slides/slide1.xml" Id="Rba21711b3cf74a67" /><Relationship Type="http://schemas.openxmlformats.org/officeDocument/2006/relationships/slide" Target="/ppt/slides/slide2.xml" Id="R40726e60d8ec4e62" /><Relationship Type="http://schemas.openxmlformats.org/officeDocument/2006/relationships/slide" Target="/ppt/slides/slide3.xml" Id="R0354bbf59f244553" /><Relationship Type="http://schemas.openxmlformats.org/officeDocument/2006/relationships/slide" Target="/ppt/slides/slide4.xml" Id="R83bf9bf5b67248ed" /><Relationship Type="http://schemas.openxmlformats.org/officeDocument/2006/relationships/slide" Target="/ppt/slides/slide5.xml" Id="R761378d6ab834eb8" /><Relationship Type="http://schemas.openxmlformats.org/officeDocument/2006/relationships/slide" Target="/ppt/slides/slide6.xml" Id="Re58dcf2241bf4643" /><Relationship Type="http://schemas.openxmlformats.org/officeDocument/2006/relationships/slide" Target="/ppt/slides/slide7.xml" Id="R7c6cb2ed106c4af0" /><Relationship Type="http://schemas.openxmlformats.org/officeDocument/2006/relationships/slide" Target="/ppt/slides/slide8.xml" Id="R7ce29d029da04545" /><Relationship Type="http://schemas.openxmlformats.org/officeDocument/2006/relationships/slide" Target="/ppt/slides/slide9.xml" Id="R11a0a4a9bd84499b" /><Relationship Type="http://schemas.openxmlformats.org/officeDocument/2006/relationships/slide" Target="/ppt/slides/slide10.xml" Id="Rb6cc0864d6c24ab6" /><Relationship Type="http://schemas.openxmlformats.org/officeDocument/2006/relationships/slide" Target="/ppt/slides/slide11.xml" Id="Rcfacc2882adc400f" /><Relationship Type="http://schemas.openxmlformats.org/officeDocument/2006/relationships/slide" Target="/ppt/slides/slide12.xml" Id="R335c56f1a9c5461e" /><Relationship Type="http://schemas.openxmlformats.org/officeDocument/2006/relationships/slide" Target="/ppt/slides/slide13.xml" Id="R01196c11d9af44ce" /><Relationship Type="http://schemas.openxmlformats.org/officeDocument/2006/relationships/slide" Target="/ppt/slides/slide14.xml" Id="Rcdbd7c483ede4d8e" /><Relationship Type="http://schemas.openxmlformats.org/officeDocument/2006/relationships/slide" Target="/ppt/slides/slide15.xml" Id="R7ed54736c85d4b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a57e8650004d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4102adcb944362" /><Relationship Type="http://schemas.openxmlformats.org/officeDocument/2006/relationships/notesMaster" Target="/ppt/notesMasters/notesMaster1.xml" Id="R005375a3ce8c4a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8fe85c2314850" /><Relationship Type="http://schemas.openxmlformats.org/officeDocument/2006/relationships/notesMaster" Target="/ppt/notesMasters/notesMaster1.xml" Id="R8f52c4f983dd40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4ddc00fc5242a5" /><Relationship Type="http://schemas.openxmlformats.org/officeDocument/2006/relationships/notesMaster" Target="/ppt/notesMasters/notesMaster1.xml" Id="R04c4665cf1534a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f2ee24be64c81" /><Relationship Type="http://schemas.openxmlformats.org/officeDocument/2006/relationships/notesMaster" Target="/ppt/notesMasters/notesMaster1.xml" Id="R13e09eed51284c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6cec284ea74ed5" /><Relationship Type="http://schemas.openxmlformats.org/officeDocument/2006/relationships/notesMaster" Target="/ppt/notesMasters/notesMaster1.xml" Id="R0b123cd60ba848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d6dc072f9c4ef2" /><Relationship Type="http://schemas.openxmlformats.org/officeDocument/2006/relationships/notesMaster" Target="/ppt/notesMasters/notesMaster1.xml" Id="R386ad93ee6e84a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2765b886a48f4" /><Relationship Type="http://schemas.openxmlformats.org/officeDocument/2006/relationships/notesMaster" Target="/ppt/notesMasters/notesMaster1.xml" Id="R2cc289d9c74c42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5cd0439b31491a" /><Relationship Type="http://schemas.openxmlformats.org/officeDocument/2006/relationships/notesMaster" Target="/ppt/notesMasters/notesMaster1.xml" Id="R73ba9b696e884f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014d83b72344be" /><Relationship Type="http://schemas.openxmlformats.org/officeDocument/2006/relationships/notesMaster" Target="/ppt/notesMasters/notesMaster1.xml" Id="R8e725bda239f46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ef5960baf447ce" /><Relationship Type="http://schemas.openxmlformats.org/officeDocument/2006/relationships/notesMaster" Target="/ppt/notesMasters/notesMaster1.xml" Id="Rc0842df9cd2a4b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d2fd54e2e641c1" /><Relationship Type="http://schemas.openxmlformats.org/officeDocument/2006/relationships/notesMaster" Target="/ppt/notesMasters/notesMaster1.xml" Id="R5760e300c1cd44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45d6f938074491" /><Relationship Type="http://schemas.openxmlformats.org/officeDocument/2006/relationships/notesMaster" Target="/ppt/notesMasters/notesMaster1.xml" Id="Rd2ebfc98e8e14c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7c4dfbd9b9407a" /><Relationship Type="http://schemas.openxmlformats.org/officeDocument/2006/relationships/notesMaster" Target="/ppt/notesMasters/notesMaster1.xml" Id="R2fcbe2d8462b49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8acb60d1374253" /><Relationship Type="http://schemas.openxmlformats.org/officeDocument/2006/relationships/notesMaster" Target="/ppt/notesMasters/notesMaster1.xml" Id="Re8f4169d5c5e43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8f8854cb4c497e" /><Relationship Type="http://schemas.openxmlformats.org/officeDocument/2006/relationships/notesMaster" Target="/ppt/notesMasters/notesMaster1.xml" Id="R44507487a53c48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技术更新 2026-10-19，main 8cfa37f5112adaab1e0adbb4cb4086240111d436。#49/#52 已合并；正式 Workshop 使用 unavailablePlanProvider，未交付在线自然语言修改。#54 fe7f1ec 为未合并 Draft，Mock 安全 QA GO 仅限代码契约，真实授权租约、生产接线、容器闭环未验收。v1 Form/List/Metric；v2 可信番茄钟正式入口是固定离线配置，由可信组件运行，非模型自由代码生成。历史真实番茄钟 TSX 仅准入/绑定，任意 TSX 仍 pending-build/unavailable，隔离 Spike NO-GO。离线制品正式安装 UI 已接，不授予运行许可。受支持本机 React ZIP CRUD 已有独立验收，既有 SHA 报告不冒称本轮重测；presentation 文案/颜色/圆角保真存在 P1。Docker 基础 GO 仅指镜像构建、ESM、健康、匿名 API 拒绝，非公网部署或正式 AI GO。魔塔公开 URL：待确认；实时模型生成原响应/验收：待确认。现有截图全部保持离线来源，未调用付费 API、未部署。商业数字均为假设。官方格式和大小待确认。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https://github.com/Nanmuxxx/BlockCraft-AI/tree/8cfa37f5112adaab1e0adbb4cb4086240111d436</a:t>
            </a:r>
          </a:p>
          <a:p xmlns:a="http://schemas.openxmlformats.org/drawingml/2006/main">
            <a:r>
              <a:t>https://github.com/Nanmuxxx/BlockCraft-AI/pull/49</a:t>
            </a:r>
          </a:p>
          <a:p xmlns:a="http://schemas.openxmlformats.org/drawingml/2006/main">
            <a:r>
              <a:t>https://github.com/Nanmuxxx/BlockCraft-AI/pull/52</a:t>
            </a:r>
          </a:p>
          <a:p xmlns:a="http://schemas.openxmlformats.org/drawingml/2006/main">
            <a:r>
              <a:t>https://github.com/Nanmuxxx/BlockCraft-AI/pull/54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84d258bc240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e2361123e43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4af13c4744a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399143f2043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592e09a7540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65c98ac134f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51338F-C3C2-4046-95A5-2AF8CD55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42172A-6695-47BE-9725-BA4C20786F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15D54E-D55C-47D4-ABC9-642016F5D5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3C45EE-A6C4-43BC-BC01-562AD480F7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805629-3705-4838-9D41-F7CD0C0E0C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7D98A9-7386-4CFF-A146-89B93EE643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836B47-7216-46B0-A76E-7057ABBE98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651E4D-F5B6-442B-97CA-0B8CE885C4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3FBBE1-D57F-4B0E-8A53-7EDF05FA95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5F8F56-52DF-439C-AB04-0C8F80778A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2e1ff33c7141df" /><Relationship Type="http://schemas.openxmlformats.org/officeDocument/2006/relationships/slideLayout" Target="/ppt/slideLayouts/slideLayout1.xml" Id="Rd2182865469a47d0" /><Relationship Type="http://schemas.openxmlformats.org/officeDocument/2006/relationships/slideLayout" Target="/ppt/slideLayouts/slideLayout2.xml" Id="Rf1cc7bf828d44600" /><Relationship Type="http://schemas.openxmlformats.org/officeDocument/2006/relationships/slideLayout" Target="/ppt/slideLayouts/slideLayout3.xml" Id="R2dfc7aeabbe54e43" /><Relationship Type="http://schemas.openxmlformats.org/officeDocument/2006/relationships/slideLayout" Target="/ppt/slideLayouts/slideLayout4.xml" Id="R03c1d2ba2db040d4" /><Relationship Type="http://schemas.openxmlformats.org/officeDocument/2006/relationships/slideLayout" Target="/ppt/slideLayouts/slideLayout5.xml" Id="R5fd72f61023c4f3d" /><Relationship Type="http://schemas.openxmlformats.org/officeDocument/2006/relationships/slideLayout" Target="/ppt/slideLayouts/slideLayout6.xml" Id="Rd1f64cb52c744e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182865469a47d0"/>
    <p:sldLayoutId xmlns:r="http://schemas.openxmlformats.org/officeDocument/2006/relationships" id="2147483650" r:id="Rf1cc7bf828d44600"/>
    <p:sldLayoutId xmlns:r="http://schemas.openxmlformats.org/officeDocument/2006/relationships" id="2147483651" r:id="R2dfc7aeabbe54e43"/>
    <p:sldLayoutId xmlns:r="http://schemas.openxmlformats.org/officeDocument/2006/relationships" id="2147483652" r:id="R03c1d2ba2db040d4"/>
    <p:sldLayoutId xmlns:r="http://schemas.openxmlformats.org/officeDocument/2006/relationships" id="2147483653" r:id="R5fd72f61023c4f3d"/>
    <p:sldLayoutId xmlns:r="http://schemas.openxmlformats.org/officeDocument/2006/relationships" id="2147483654" r:id="Rd1f64cb52c744e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4ecafa66f4b18" /><Relationship Type="http://schemas.openxmlformats.org/officeDocument/2006/relationships/image" Target="/ppt/media/image.png" Id="R3208e7eea0a143a6" /><Relationship Type="http://schemas.openxmlformats.org/officeDocument/2006/relationships/image" Target="/ppt/media/image2.png" Id="R89232256fe5d4bee" /><Relationship Type="http://schemas.openxmlformats.org/officeDocument/2006/relationships/notesSlide" Target="/ppt/notesSlides/notesSlide1.xml" Id="Rb4b10e6d4d024e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e1fde01a2475d" /><Relationship Type="http://schemas.openxmlformats.org/officeDocument/2006/relationships/notesSlide" Target="/ppt/notesSlides/notesSlide2.xml" Id="Ra62a78386bed4f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49fe9305a48bb" /><Relationship Type="http://schemas.openxmlformats.org/officeDocument/2006/relationships/notesSlide" Target="/ppt/notesSlides/notesSlide3.xml" Id="R13316f08cfc74b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be110c66c44a6" /><Relationship Type="http://schemas.openxmlformats.org/officeDocument/2006/relationships/notesSlide" Target="/ppt/notesSlides/notesSlide4.xml" Id="Rc8a017f5e3d146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dee158211640d7" /><Relationship Type="http://schemas.openxmlformats.org/officeDocument/2006/relationships/notesSlide" Target="/ppt/notesSlides/notesSlide5.xml" Id="R99e90e2184a14d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d5f7996d34bee" /><Relationship Type="http://schemas.openxmlformats.org/officeDocument/2006/relationships/image" Target="/ppt/media/image3.png" Id="Rf742e8da9e634f9f" /><Relationship Type="http://schemas.openxmlformats.org/officeDocument/2006/relationships/image" Target="/ppt/media/image4.png" Id="R0789ee9351bd4469" /><Relationship Type="http://schemas.openxmlformats.org/officeDocument/2006/relationships/notesSlide" Target="/ppt/notesSlides/notesSlide6.xml" Id="Re296f3cabb1f40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9f483f8a04454" /><Relationship Type="http://schemas.openxmlformats.org/officeDocument/2006/relationships/notesSlide" Target="/ppt/notesSlides/notesSlide7.xml" Id="Rf3e4ed2ae38549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b66a19f764030" /><Relationship Type="http://schemas.openxmlformats.org/officeDocument/2006/relationships/notesSlide" Target="/ppt/notesSlides/notesSlide8.xml" Id="R5c66cd34a11442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98939d1f84273" /><Relationship Type="http://schemas.openxmlformats.org/officeDocument/2006/relationships/image" Target="/ppt/media/image5.png" Id="R4a8a636295a84fb5" /><Relationship Type="http://schemas.openxmlformats.org/officeDocument/2006/relationships/notesSlide" Target="/ppt/notesSlides/notesSlide9.xml" Id="R93771b35c90a4f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0c9d2321a477e" /><Relationship Type="http://schemas.openxmlformats.org/officeDocument/2006/relationships/notesSlide" Target="/ppt/notesSlides/notesSlide10.xml" Id="Rc481989159df4b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e6242bd714415" /><Relationship Type="http://schemas.openxmlformats.org/officeDocument/2006/relationships/notesSlide" Target="/ppt/notesSlides/notesSlide11.xml" Id="R7e52798e99974c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05486470ae4e2b" /><Relationship Type="http://schemas.openxmlformats.org/officeDocument/2006/relationships/notesSlide" Target="/ppt/notesSlides/notesSlide12.xml" Id="R7c1ad4d275e947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7f14c5ab54abb" /><Relationship Type="http://schemas.openxmlformats.org/officeDocument/2006/relationships/notesSlide" Target="/ppt/notesSlides/notesSlide13.xml" Id="Rf6e93df6359f45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060438fbd4768" /><Relationship Type="http://schemas.openxmlformats.org/officeDocument/2006/relationships/notesSlide" Target="/ppt/notesSlides/notesSlide14.xml" Id="R67c44586337f47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bab5f33544e47" /><Relationship Type="http://schemas.openxmlformats.org/officeDocument/2006/relationships/image" Target="/ppt/media/image6.png" Id="R95a5d4c0b8064134" /><Relationship Type="http://schemas.openxmlformats.org/officeDocument/2006/relationships/notesSlide" Target="/ppt/notesSlides/notesSlide15.xml" Id="Rb6d3ed793dbf47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CE3C3-7E7F-4AE5-8112-593BEFF90E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8e7eea0a143a6"/>
          <a:stretch xmlns:a="http://schemas.openxmlformats.org/drawingml/2006/main"/>
        </p:blipFill>
        <p:spPr>
          <a:xfrm xmlns:a="http://schemas.openxmlformats.org/drawingml/2006/main">
            <a:off x="609600" y="495300"/>
            <a:ext cx="3095625" cy="476250"/>
          </a:xfrm>
          <a:prstGeom xmlns:a="http://schemas.openxmlformats.org/drawingml/2006/main" prst="rect">
            <a:avLst/>
          </a:prstGeom>
        </p:spPr>
      </p:pic>
      <p:sp>
        <p:nvSpPr>
          <p:cNvPr id="2" name="把想法，&#10;搭成现实。">
            <a:extLst xmlns:a="http://schemas.openxmlformats.org/drawingml/2006/main">
              <a:ext uri="{FF2B5EF4-FFF2-40B4-BE49-F238E27FC236}">
                <a16:creationId xmlns:a16="http://schemas.microsoft.com/office/drawing/2014/main" id="{C3CA671A-6F23-4F95-A211-39C1447C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47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把想法，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搭成现实。</a:t>
            </a:r>
          </a:p>
        </p:txBody>
      </p:sp>
      <p:sp>
        <p:nvSpPr>
          <p:cNvPr id="3" name="AI 原生的可视化功能积木&#10;软件创造平台">
            <a:extLst xmlns:a="http://schemas.openxmlformats.org/drawingml/2006/main">
              <a:ext uri="{FF2B5EF4-FFF2-40B4-BE49-F238E27FC236}">
                <a16:creationId xmlns:a16="http://schemas.microsoft.com/office/drawing/2014/main" id="{1D75E352-9803-4F37-9665-773E583E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AI 原生的可视化功能积木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软件创造平台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6BA3B-F854-42C1-8127-37EB318D88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32256fe5d4bee"/>
          <a:stretch xmlns:a="http://schemas.openxmlformats.org/drawingml/2006/main"/>
        </p:blipFill>
        <p:spPr>
          <a:xfrm xmlns:a="http://schemas.openxmlformats.org/drawingml/2006/main">
            <a:off x="7905750" y="2200275"/>
            <a:ext cx="3171825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浙客松 · 天猫 OPC 孵化赛道">
            <a:extLst xmlns:a="http://schemas.openxmlformats.org/drawingml/2006/main">
              <a:ext uri="{FF2B5EF4-FFF2-40B4-BE49-F238E27FC236}">
                <a16:creationId xmlns:a16="http://schemas.microsoft.com/office/drawing/2014/main" id="{898DE65C-E7C9-4EFC-80B2-F86EFB5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浙客松 · 天猫 OPC 孵化赛道</a:t>
            </a:r>
          </a:p>
        </p:txBody>
      </p:sp>
      <p:sp>
        <p:nvSpPr>
          <p:cNvPr id="6" name="初赛商业计划书">
            <a:extLst xmlns:a="http://schemas.openxmlformats.org/drawingml/2006/main">
              <a:ext uri="{FF2B5EF4-FFF2-40B4-BE49-F238E27FC236}">
                <a16:creationId xmlns:a16="http://schemas.microsoft.com/office/drawing/2014/main" id="{AFDEC25A-FE6C-4EAD-BA1E-9C499596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初赛商业计划书</a:t>
            </a:r>
          </a:p>
        </p:txBody>
      </p:sp>
      <p:sp>
        <p:nvSpPr>
          <p:cNvPr id="7" name="v0.4&#10;2026.10.18">
            <a:extLst xmlns:a="http://schemas.openxmlformats.org/drawingml/2006/main">
              <a:ext uri="{FF2B5EF4-FFF2-40B4-BE49-F238E27FC236}">
                <a16:creationId xmlns:a16="http://schemas.microsoft.com/office/drawing/2014/main" id="{3C30F7EE-ECDD-4087-8670-C1BA1AA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10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2026.10.19</a:t>
            </a:r>
          </a:p>
        </p:txBody>
      </p:sp>
    </p:spTree>
    <p:extLst>
      <p:ext uri="{BB962C8B-B14F-4D97-AF65-F5344CB8AC3E}">
        <p14:creationId xmlns:p14="http://schemas.microsoft.com/office/powerpoint/2010/main" val="559239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01 用户痛点">
            <a:extLst xmlns:a="http://schemas.openxmlformats.org/drawingml/2006/main">
              <a:ext uri="{FF2B5EF4-FFF2-40B4-BE49-F238E27FC236}">
                <a16:creationId xmlns:a16="http://schemas.microsoft.com/office/drawing/2014/main" id="{88E846E7-B7EC-441E-A007-B412FBD3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01 用户痛点</a:t>
            </a:r>
          </a:p>
        </p:txBody>
      </p:sp>
      <p:sp>
        <p:nvSpPr>
          <p:cNvPr id="2" name="报名工具做好后，需求才刚开始变化">
            <a:extLst xmlns:a="http://schemas.openxmlformats.org/drawingml/2006/main">
              <a:ext uri="{FF2B5EF4-FFF2-40B4-BE49-F238E27FC236}">
                <a16:creationId xmlns:a16="http://schemas.microsoft.com/office/drawing/2014/main" id="{F5218B34-E256-4027-B47D-D2329D0C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报名工具做好后，需求才刚开始变化</a:t>
            </a:r>
          </a:p>
        </p:txBody>
      </p:sp>
      <p:sp>
        <p:nvSpPr>
          <p:cNvPr id="3" name="校园组织的典型场景假设，待真实访谈与任务测试">
            <a:extLst xmlns:a="http://schemas.openxmlformats.org/drawingml/2006/main">
              <a:ext uri="{FF2B5EF4-FFF2-40B4-BE49-F238E27FC236}">
                <a16:creationId xmlns:a16="http://schemas.microsoft.com/office/drawing/2014/main" id="{49DAEBD9-F10A-48B4-9DBD-39ED103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校园组织的典型场景假设，待真实访谈与任务测试验证。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75D3A-E41B-4133-A0C3-E63CF189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EF9D325E-BC47-47A0-9EC0-2ADB3ED5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BA3B1091-80AE-4DB9-97A1-BD97B09F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A59C3AB9-5395-46EC-A10A-8E5597CD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活动前">
            <a:extLst xmlns:a="http://schemas.openxmlformats.org/drawingml/2006/main">
              <a:ext uri="{FF2B5EF4-FFF2-40B4-BE49-F238E27FC236}">
                <a16:creationId xmlns:a16="http://schemas.microsoft.com/office/drawing/2014/main" id="{18874810-932D-4B53-9A31-F4A8E5B7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活动前</a:t>
            </a:r>
          </a:p>
        </p:txBody>
      </p:sp>
      <p:sp>
        <p:nvSpPr>
          <p:cNvPr id="9" name="先做报名表">
            <a:extLst xmlns:a="http://schemas.openxmlformats.org/drawingml/2006/main">
              <a:ext uri="{FF2B5EF4-FFF2-40B4-BE49-F238E27FC236}">
                <a16:creationId xmlns:a16="http://schemas.microsoft.com/office/drawing/2014/main" id="{E9268252-CF14-4568-AFD5-BFC11241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先做报名表</a:t>
            </a:r>
          </a:p>
        </p:txBody>
      </p:sp>
      <p:sp>
        <p:nvSpPr>
          <p:cNvPr id="10" name="姓名、部门、联系方式&#10;需要能填写、能查名单。">
            <a:extLst xmlns:a="http://schemas.openxmlformats.org/drawingml/2006/main">
              <a:ext uri="{FF2B5EF4-FFF2-40B4-BE49-F238E27FC236}">
                <a16:creationId xmlns:a16="http://schemas.microsoft.com/office/drawing/2014/main" id="{E13E624E-FB9D-4EC6-9810-E4814CD5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姓名、部门、联系方式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需要能填写、能查名单。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4132B-1901-4F46-A6E0-90AB460D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12" name="活动中">
            <a:extLst xmlns:a="http://schemas.openxmlformats.org/drawingml/2006/main">
              <a:ext uri="{FF2B5EF4-FFF2-40B4-BE49-F238E27FC236}">
                <a16:creationId xmlns:a16="http://schemas.microsoft.com/office/drawing/2014/main" id="{03FBF9D9-C661-49A7-9301-F3487828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5742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活动中</a:t>
            </a:r>
          </a:p>
        </p:txBody>
      </p:sp>
      <p:sp>
        <p:nvSpPr>
          <p:cNvPr id="13" name="再改报名规则">
            <a:extLst xmlns:a="http://schemas.openxmlformats.org/drawingml/2006/main">
              <a:ext uri="{FF2B5EF4-FFF2-40B4-BE49-F238E27FC236}">
                <a16:creationId xmlns:a16="http://schemas.microsoft.com/office/drawing/2014/main" id="{2D46D693-54C1-496F-8843-4715F8EC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再改报名规则</a:t>
            </a:r>
          </a:p>
        </p:txBody>
      </p:sp>
      <p:sp>
        <p:nvSpPr>
          <p:cNvPr id="14" name="增加可面试时间，&#10;调整字段与展示顺序。">
            <a:extLst xmlns:a="http://schemas.openxmlformats.org/drawingml/2006/main">
              <a:ext uri="{FF2B5EF4-FFF2-40B4-BE49-F238E27FC236}">
                <a16:creationId xmlns:a16="http://schemas.microsoft.com/office/drawing/2014/main" id="{6CB1D9B4-12F5-4B05-B59E-00198F6B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5282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增加可面试时间，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调整字段与展示顺序。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143FF-28AC-4F67-8D02-65D3001F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95825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16" name="下一次活动">
            <a:extLst xmlns:a="http://schemas.openxmlformats.org/drawingml/2006/main">
              <a:ext uri="{FF2B5EF4-FFF2-40B4-BE49-F238E27FC236}">
                <a16:creationId xmlns:a16="http://schemas.microsoft.com/office/drawing/2014/main" id="{42A4E1E2-9432-4488-AA03-2D48E9CA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5742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下一次活动</a:t>
            </a:r>
          </a:p>
        </p:txBody>
      </p:sp>
      <p:sp>
        <p:nvSpPr>
          <p:cNvPr id="17" name="继续用同一个工具">
            <a:extLst xmlns:a="http://schemas.openxmlformats.org/drawingml/2006/main">
              <a:ext uri="{FF2B5EF4-FFF2-40B4-BE49-F238E27FC236}">
                <a16:creationId xmlns:a16="http://schemas.microsoft.com/office/drawing/2014/main" id="{3B94DD6E-A3CB-4F14-8351-30F60982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38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继续用同一个工具</a:t>
            </a:r>
          </a:p>
        </p:txBody>
      </p:sp>
      <p:sp>
        <p:nvSpPr>
          <p:cNvPr id="18" name="保留已有名单与配置，&#10;新增功能，继续维护。">
            <a:extLst xmlns:a="http://schemas.openxmlformats.org/drawingml/2006/main">
              <a:ext uri="{FF2B5EF4-FFF2-40B4-BE49-F238E27FC236}">
                <a16:creationId xmlns:a16="http://schemas.microsoft.com/office/drawing/2014/main" id="{1ED8F2B2-BD4F-46FF-81CF-BDBA377E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5282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保留已有名单与配置，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新增功能，继续维护。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C5E47-78CC-467A-8BD5-1D064634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95825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20" name="用户真正需要">
            <a:extLst xmlns:a="http://schemas.openxmlformats.org/drawingml/2006/main">
              <a:ext uri="{FF2B5EF4-FFF2-40B4-BE49-F238E27FC236}">
                <a16:creationId xmlns:a16="http://schemas.microsoft.com/office/drawing/2014/main" id="{FFF487E7-5840-46E1-A066-5F11CE31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用户真正需要</a:t>
            </a:r>
          </a:p>
        </p:txBody>
      </p:sp>
      <p:sp>
        <p:nvSpPr>
          <p:cNvPr id="21" name="每次改动，都能选对位置、确认方案，继续用原来">
            <a:extLst xmlns:a="http://schemas.openxmlformats.org/drawingml/2006/main">
              <a:ext uri="{FF2B5EF4-FFF2-40B4-BE49-F238E27FC236}">
                <a16:creationId xmlns:a16="http://schemas.microsoft.com/office/drawing/2014/main" id="{C89946E9-81D7-4B97-B807-B408351B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每次改动，都能选对位置、确认方案，继续用原来的软件。</a:t>
            </a:r>
          </a:p>
        </p:txBody>
      </p:sp>
    </p:spTree>
    <p:extLst>
      <p:ext uri="{BB962C8B-B14F-4D97-AF65-F5344CB8AC3E}">
        <p14:creationId xmlns:p14="http://schemas.microsoft.com/office/powerpoint/2010/main" val="175956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02 完整产品愿景">
            <a:extLst xmlns:a="http://schemas.openxmlformats.org/drawingml/2006/main">
              <a:ext uri="{FF2B5EF4-FFF2-40B4-BE49-F238E27FC236}">
                <a16:creationId xmlns:a16="http://schemas.microsoft.com/office/drawing/2014/main" id="{B54FBD7E-7963-45A9-B380-BD0748E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02 完整产品愿景</a:t>
            </a:r>
          </a:p>
        </p:txBody>
      </p:sp>
      <p:sp>
        <p:nvSpPr>
          <p:cNvPr id="2" name="围绕功能积木，持续创造自己的软件">
            <a:extLst xmlns:a="http://schemas.openxmlformats.org/drawingml/2006/main">
              <a:ext uri="{FF2B5EF4-FFF2-40B4-BE49-F238E27FC236}">
                <a16:creationId xmlns:a16="http://schemas.microsoft.com/office/drawing/2014/main" id="{5C063B37-68E2-487A-81E5-D807AFC8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围绕功能积木，持续创造自己的软件</a:t>
            </a:r>
          </a:p>
        </p:txBody>
      </p:sp>
      <p:sp>
        <p:nvSpPr>
          <p:cNvPr id="3" name="生成可用功能只是起点。用户还能指定修改、反复">
            <a:extLst xmlns:a="http://schemas.openxmlformats.org/drawingml/2006/main">
              <a:ext uri="{FF2B5EF4-FFF2-40B4-BE49-F238E27FC236}">
                <a16:creationId xmlns:a16="http://schemas.microsoft.com/office/drawing/2014/main" id="{29D64993-B76D-461E-BA4F-42DA78F0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目标体验：围绕功能积木指定修改、反复预览，最终带走项目源码。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5D3DF-D240-413C-B098-E5FBC5EC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F13C0B04-FF5A-4207-84AD-9D39EBE9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80C96D40-199B-484C-BF51-CBC23BDD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8A4940CB-DEE4-4988-BC43-AB807364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511F8-61D7-4911-B152-14C5F3CB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BC"/>
          </a:solidFill>
          <a:ln xmlns:a="http://schemas.openxmlformats.org/drawingml/2006/main" w="0">
            <a:noFill/>
          </a:ln>
        </p:spPr>
      </p:sp>
      <p:sp>
        <p:nvSpPr>
          <p:cNvPr id="9" name="创造新功能">
            <a:extLst xmlns:a="http://schemas.openxmlformats.org/drawingml/2006/main">
              <a:ext uri="{FF2B5EF4-FFF2-40B4-BE49-F238E27FC236}">
                <a16:creationId xmlns:a16="http://schemas.microsoft.com/office/drawing/2014/main" id="{1630C334-62FE-44C5-A21E-8EFA720C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创造新功能</a:t>
            </a:r>
          </a:p>
        </p:txBody>
      </p:sp>
      <p:sp>
        <p:nvSpPr>
          <p:cNvPr id="10" name="用自然语言表达需求，&#10;AI 编写新的 Rea">
            <a:extLst xmlns:a="http://schemas.openxmlformats.org/drawingml/2006/main">
              <a:ext uri="{FF2B5EF4-FFF2-40B4-BE49-F238E27FC236}">
                <a16:creationId xmlns:a16="http://schemas.microsoft.com/office/drawing/2014/main" id="{DDA723E8-82F5-491A-ABEC-64C56CB6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333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用自然语言表达需求，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目标由 AI 编写新的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React/TSX 功能积木。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D7DA0-B4B4-4101-8742-8852011E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F2"/>
          </a:solidFill>
          <a:ln xmlns:a="http://schemas.openxmlformats.org/drawingml/2006/main" w="0">
            <a:noFill/>
          </a:ln>
        </p:spPr>
      </p:sp>
      <p:sp>
        <p:nvSpPr>
          <p:cNvPr id="12" name="生成基础模块已开发">
            <a:extLst xmlns:a="http://schemas.openxmlformats.org/drawingml/2006/main">
              <a:ext uri="{FF2B5EF4-FFF2-40B4-BE49-F238E27FC236}">
                <a16:creationId xmlns:a16="http://schemas.microsoft.com/office/drawing/2014/main" id="{D8498E77-DF72-43B0-A2A6-C5B3E4E7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05375"/>
            <a:ext cx="320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rPr>
              <a:t>单例准入与绑定已验，运行待验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D10CD-030F-4949-B946-7DB3CB6E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F2"/>
          </a:solidFill>
          <a:ln xmlns:a="http://schemas.openxmlformats.org/drawingml/2006/main" w="0">
            <a:noFill/>
          </a:ln>
        </p:spPr>
      </p:sp>
      <p:sp>
        <p:nvSpPr>
          <p:cNvPr id="14" name="与 Mochi 一起修改">
            <a:extLst xmlns:a="http://schemas.openxmlformats.org/drawingml/2006/main">
              <a:ext uri="{FF2B5EF4-FFF2-40B4-BE49-F238E27FC236}">
                <a16:creationId xmlns:a16="http://schemas.microsoft.com/office/drawing/2014/main" id="{2B3363B4-12F6-4ADA-9B53-9AD1453E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与 Mochi 一起修改</a:t>
            </a:r>
          </a:p>
        </p:txBody>
      </p:sp>
      <p:sp>
        <p:nvSpPr>
          <p:cNvPr id="15" name="选中一个积木，说清变化。&#10;查看修改方案并确认">
            <a:extLst xmlns:a="http://schemas.openxmlformats.org/drawingml/2006/main">
              <a:ext uri="{FF2B5EF4-FFF2-40B4-BE49-F238E27FC236}">
                <a16:creationId xmlns:a16="http://schemas.microsoft.com/office/drawing/2014/main" id="{0520723A-A038-4986-A48B-2894180D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24225"/>
            <a:ext cx="3333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选中一个积木，说清变化。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查看修改方案并确认，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在 B/C 间反复调整。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8EE73-27FE-4222-80C8-8E4B6167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BC"/>
          </a:solidFill>
          <a:ln xmlns:a="http://schemas.openxmlformats.org/drawingml/2006/main" w="0">
            <a:noFill/>
          </a:ln>
        </p:spPr>
      </p:sp>
      <p:sp>
        <p:nvSpPr>
          <p:cNvPr id="17" name="源码修改正在研发">
            <a:extLst xmlns:a="http://schemas.openxmlformats.org/drawingml/2006/main">
              <a:ext uri="{FF2B5EF4-FFF2-40B4-BE49-F238E27FC236}">
                <a16:creationId xmlns:a16="http://schemas.microsoft.com/office/drawing/2014/main" id="{C6172974-4EF1-41A7-8C65-85C1EF20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05375"/>
            <a:ext cx="320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Engine 已验，正式 Provider 禁用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8E0F3-CB8D-415B-B5FC-8CA5B9FD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BCE"/>
          </a:solidFill>
          <a:ln xmlns:a="http://schemas.openxmlformats.org/drawingml/2006/main" w="0">
            <a:noFill/>
          </a:ln>
        </p:spPr>
      </p:sp>
      <p:sp>
        <p:nvSpPr>
          <p:cNvPr id="19" name="真正拥有软件">
            <a:extLst xmlns:a="http://schemas.openxmlformats.org/drawingml/2006/main">
              <a:ext uri="{FF2B5EF4-FFF2-40B4-BE49-F238E27FC236}">
                <a16:creationId xmlns:a16="http://schemas.microsoft.com/office/drawing/2014/main" id="{90331719-56FD-4D9E-AF9B-C00067AC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真正拥有软件</a:t>
            </a:r>
          </a:p>
        </p:txBody>
      </p:sp>
      <p:sp>
        <p:nvSpPr>
          <p:cNvPr id="20" name="导出组件、配置和依赖，&#10;在自己的环境里继续&#10;">
            <a:extLst xmlns:a="http://schemas.openxmlformats.org/drawingml/2006/main">
              <a:ext uri="{FF2B5EF4-FFF2-40B4-BE49-F238E27FC236}">
                <a16:creationId xmlns:a16="http://schemas.microsoft.com/office/drawing/2014/main" id="{2692B9B7-E689-4B5A-8A41-B5B2C95B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24225"/>
            <a:ext cx="3333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导出组件、配置和依赖，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在自己的环境里继续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开发、维护与部署。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9B4109-8DB1-4334-BA24-EEDC51E9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1490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F2"/>
          </a:solidFill>
          <a:ln xmlns:a="http://schemas.openxmlformats.org/drawingml/2006/main" w="0">
            <a:noFill/>
          </a:ln>
        </p:spPr>
      </p:sp>
      <p:sp>
        <p:nvSpPr>
          <p:cNvPr id="22" name="完整项目导出为后续目标">
            <a:extLst xmlns:a="http://schemas.openxmlformats.org/drawingml/2006/main">
              <a:ext uri="{FF2B5EF4-FFF2-40B4-BE49-F238E27FC236}">
                <a16:creationId xmlns:a16="http://schemas.microsoft.com/office/drawing/2014/main" id="{9F730301-B77C-4B66-A9D2-B4947EB5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05375"/>
            <a:ext cx="320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E6590"/>
                </a:solidFill>
                <a:latin typeface="PingFang SC"/>
                <a:ea typeface="PingFang SC"/>
                <a:cs typeface="PingFang SC"/>
              </a:rPr>
              <a:t>本机 CRUD 导出已验，外观待补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82CAB-569A-48B4-8F46-1F130988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BC"/>
          </a:solidFill>
          <a:ln xmlns:a="http://schemas.openxmlformats.org/drawingml/2006/main" w="0">
            <a:noFill/>
          </a:ln>
        </p:spPr>
      </p:sp>
      <p:sp>
        <p:nvSpPr>
          <p:cNvPr id="24" name="当前证据：AppSpec 的表单、列表与统计">
            <a:extLst xmlns:a="http://schemas.openxmlformats.org/drawingml/2006/main">
              <a:ext uri="{FF2B5EF4-FFF2-40B4-BE49-F238E27FC236}">
                <a16:creationId xmlns:a16="http://schemas.microsoft.com/office/drawing/2014/main" id="{1E9796D0-3B77-425C-9EF3-D1E4814F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00725"/>
            <a:ext cx="1062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当前：#49 Engine/CAS、#52 B/C 外观展示已合并；正式 PlanProvider 未启用</a:t>
            </a:r>
          </a:p>
        </p:txBody>
      </p:sp>
    </p:spTree>
    <p:extLst>
      <p:ext uri="{BB962C8B-B14F-4D97-AF65-F5344CB8AC3E}">
        <p14:creationId xmlns:p14="http://schemas.microsoft.com/office/powerpoint/2010/main" val="1786007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03 产品流程与能力状态">
            <a:extLst xmlns:a="http://schemas.openxmlformats.org/drawingml/2006/main">
              <a:ext uri="{FF2B5EF4-FFF2-40B4-BE49-F238E27FC236}">
                <a16:creationId xmlns:a16="http://schemas.microsoft.com/office/drawing/2014/main" id="{AB442055-524E-4B2B-A3FB-D0912F15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03 产品流程与能力状态</a:t>
            </a:r>
          </a:p>
        </p:txBody>
      </p:sp>
      <p:sp>
        <p:nvSpPr>
          <p:cNvPr id="2" name="七步软件创造闭环">
            <a:extLst xmlns:a="http://schemas.openxmlformats.org/drawingml/2006/main">
              <a:ext uri="{FF2B5EF4-FFF2-40B4-BE49-F238E27FC236}">
                <a16:creationId xmlns:a16="http://schemas.microsoft.com/office/drawing/2014/main" id="{E3D6747F-AE94-4E11-BFA9-302242A7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七步软件创造闭环</a:t>
            </a:r>
          </a:p>
        </p:txBody>
      </p:sp>
      <p:sp>
        <p:nvSpPr>
          <p:cNvPr id="3" name="完整愿景分阶段推进。状态只覆盖下方说明中的范">
            <a:extLst xmlns:a="http://schemas.openxmlformats.org/drawingml/2006/main">
              <a:ext uri="{FF2B5EF4-FFF2-40B4-BE49-F238E27FC236}">
                <a16:creationId xmlns:a16="http://schemas.microsoft.com/office/drawing/2014/main" id="{431D9C84-CED6-4C05-8A58-179BEAB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完整愿景分阶段推进。状态只覆盖下方说明中的范围。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395CB-F66A-4373-A2B0-AF0C3C52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EDA636CC-932E-4F5F-9EDB-C67AB0E4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F7B63BD4-95CB-46CE-ABA1-3D8EE03F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4">
            <a:extLst xmlns:a="http://schemas.openxmlformats.org/drawingml/2006/main">
              <a:ext uri="{FF2B5EF4-FFF2-40B4-BE49-F238E27FC236}">
                <a16:creationId xmlns:a16="http://schemas.microsoft.com/office/drawing/2014/main" id="{F48644CB-F648-49D9-8BFB-A69CE639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3D943-DA18-43FE-BC98-5B8F4329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BCE"/>
          </a:solidFill>
          <a:ln xmlns:a="http://schemas.openxmlformats.org/drawingml/2006/main" w="0">
            <a:noFill/>
          </a:ln>
        </p:spPr>
      </p:sp>
      <p:sp>
        <p:nvSpPr>
          <p:cNvPr id="9" name="已实现并经过验证">
            <a:extLst xmlns:a="http://schemas.openxmlformats.org/drawingml/2006/main">
              <a:ext uri="{FF2B5EF4-FFF2-40B4-BE49-F238E27FC236}">
                <a16:creationId xmlns:a16="http://schemas.microsoft.com/office/drawing/2014/main" id="{BC57F9C9-B14B-45E5-900E-DA2F9721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383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9775F"/>
                </a:solidFill>
                <a:latin typeface="PingFang SC"/>
                <a:ea typeface="PingFang SC"/>
                <a:cs typeface="PingFang SC"/>
              </a:rPr>
              <a:t>已实现并经过验证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3FD2A-53F9-45ED-863F-30023760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47875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F2"/>
          </a:solidFill>
          <a:ln xmlns:a="http://schemas.openxmlformats.org/drawingml/2006/main" w="0">
            <a:noFill/>
          </a:ln>
        </p:spPr>
      </p:sp>
      <p:sp>
        <p:nvSpPr>
          <p:cNvPr id="11" name="已完成基础模块、正在接线">
            <a:extLst xmlns:a="http://schemas.openxmlformats.org/drawingml/2006/main">
              <a:ext uri="{FF2B5EF4-FFF2-40B4-BE49-F238E27FC236}">
                <a16:creationId xmlns:a16="http://schemas.microsoft.com/office/drawing/2014/main" id="{08144C09-C29F-406A-ABD6-70D6D024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383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E6590"/>
                </a:solidFill>
                <a:latin typeface="PingFang SC"/>
                <a:ea typeface="PingFang SC"/>
                <a:cs typeface="PingFang SC"/>
              </a:rPr>
              <a:t>已完成基础模块、正在接线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8B9F7-F6DC-4B25-A6E0-D9AA6234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47875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BC"/>
          </a:solidFill>
          <a:ln xmlns:a="http://schemas.openxmlformats.org/drawingml/2006/main" w="0">
            <a:noFill/>
          </a:ln>
        </p:spPr>
      </p:sp>
      <p:sp>
        <p:nvSpPr>
          <p:cNvPr id="13" name="正在研发">
            <a:extLst xmlns:a="http://schemas.openxmlformats.org/drawingml/2006/main">
              <a:ext uri="{FF2B5EF4-FFF2-40B4-BE49-F238E27FC236}">
                <a16:creationId xmlns:a16="http://schemas.microsoft.com/office/drawing/2014/main" id="{EEE86C2F-7E01-43F4-9624-B7D1134F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383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正在研发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AEABB-9081-40A7-8C5B-2C224785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DE"/>
          </a:solidFill>
          <a:ln xmlns:a="http://schemas.openxmlformats.org/drawingml/2006/main" w="0">
            <a:noFill/>
          </a:ln>
        </p:spPr>
      </p:sp>
      <p:sp>
        <p:nvSpPr>
          <p:cNvPr id="15" name="后续目标">
            <a:extLst xmlns:a="http://schemas.openxmlformats.org/drawingml/2006/main">
              <a:ext uri="{FF2B5EF4-FFF2-40B4-BE49-F238E27FC236}">
                <a16:creationId xmlns:a16="http://schemas.microsoft.com/office/drawing/2014/main" id="{D4737884-FF97-4E3B-AA2F-54420421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后续目标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C2BD3-C586-4564-A30A-844581F6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25431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17" name="01">
            <a:extLst xmlns:a="http://schemas.openxmlformats.org/drawingml/2006/main">
              <a:ext uri="{FF2B5EF4-FFF2-40B4-BE49-F238E27FC236}">
                <a16:creationId xmlns:a16="http://schemas.microsoft.com/office/drawing/2014/main" id="{F1DDB1E7-7186-45E6-AB66-771AA623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527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8" name="描述需求">
            <a:extLst xmlns:a="http://schemas.openxmlformats.org/drawingml/2006/main">
              <a:ext uri="{FF2B5EF4-FFF2-40B4-BE49-F238E27FC236}">
                <a16:creationId xmlns:a16="http://schemas.microsoft.com/office/drawing/2014/main" id="{A6015371-005F-4605-AAE5-1C1A0037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描述需求</a:t>
            </a:r>
          </a:p>
        </p:txBody>
      </p:sp>
      <p:sp>
        <p:nvSpPr>
          <p:cNvPr id="19" name="番茄钟&#10;开始、暂停、重置">
            <a:extLst xmlns:a="http://schemas.openxmlformats.org/drawingml/2006/main">
              <a:ext uri="{FF2B5EF4-FFF2-40B4-BE49-F238E27FC236}">
                <a16:creationId xmlns:a16="http://schemas.microsoft.com/office/drawing/2014/main" id="{A0237A8B-94C6-4591-AA44-1C13B64A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81350"/>
            <a:ext cx="2257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社团报名工具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表单、名单、人数统计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DD117-F5B1-46E4-8DA5-812FA87B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6715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BCE"/>
          </a:solidFill>
          <a:ln xmlns:a="http://schemas.openxmlformats.org/drawingml/2006/main" w="0">
            <a:noFill/>
          </a:ln>
        </p:spPr>
      </p:sp>
      <p:sp>
        <p:nvSpPr>
          <p:cNvPr id="21" name="AppSpec 输入流程已验证">
            <a:extLst xmlns:a="http://schemas.openxmlformats.org/drawingml/2006/main">
              <a:ext uri="{FF2B5EF4-FFF2-40B4-BE49-F238E27FC236}">
                <a16:creationId xmlns:a16="http://schemas.microsoft.com/office/drawing/2014/main" id="{7A19CF4A-E8A7-44B6-A775-9BCA9FA5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rPr>
              <a:t>AppSpec 输入流程已验证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B0B7E-6DAF-4104-AC8E-895D1472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38425"/>
            <a:ext cx="25431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6D54B734-6269-4702-B908-432DB7C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527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4" name="AI 生成新积木">
            <a:extLst xmlns:a="http://schemas.openxmlformats.org/drawingml/2006/main">
              <a:ext uri="{FF2B5EF4-FFF2-40B4-BE49-F238E27FC236}">
                <a16:creationId xmlns:a16="http://schemas.microsoft.com/office/drawing/2014/main" id="{FCF0F94B-C27B-4BDC-8E08-FF4527BD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2250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AI 生成新积木</a:t>
            </a:r>
          </a:p>
        </p:txBody>
      </p:sp>
      <p:sp>
        <p:nvSpPr>
          <p:cNvPr id="25" name="DeepSeek 编写 React/TSX ">
            <a:extLst xmlns:a="http://schemas.openxmlformats.org/drawingml/2006/main">
              <a:ext uri="{FF2B5EF4-FFF2-40B4-BE49-F238E27FC236}">
                <a16:creationId xmlns:a16="http://schemas.microsoft.com/office/drawing/2014/main" id="{F044F37F-0864-4430-AD1B-9D9E997A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257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目标由 DeepSeek 编写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新的 React/TSX 源码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B3EA06-C10C-468A-B319-4BE8864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6715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F2"/>
          </a:solidFill>
          <a:ln xmlns:a="http://schemas.openxmlformats.org/drawingml/2006/main" w="0">
            <a:noFill/>
          </a:ln>
        </p:spPr>
      </p:sp>
      <p:sp>
        <p:nvSpPr>
          <p:cNvPr id="27" name="生成管线已有，模型待验">
            <a:extLst xmlns:a="http://schemas.openxmlformats.org/drawingml/2006/main">
              <a:ext uri="{FF2B5EF4-FFF2-40B4-BE49-F238E27FC236}">
                <a16:creationId xmlns:a16="http://schemas.microsoft.com/office/drawing/2014/main" id="{808B61C0-E20F-4591-96E6-601C967D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857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rPr>
              <a:t>单例准入与绑定，运行待验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3EFC0F-ABD9-4EF7-BAED-D29EA6A8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38425"/>
            <a:ext cx="25431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29" name="03">
            <a:extLst xmlns:a="http://schemas.openxmlformats.org/drawingml/2006/main">
              <a:ext uri="{FF2B5EF4-FFF2-40B4-BE49-F238E27FC236}">
                <a16:creationId xmlns:a16="http://schemas.microsoft.com/office/drawing/2014/main" id="{75DF756C-2996-4FF8-A785-532EB55F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527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0" name="B 模式编辑">
            <a:extLst xmlns:a="http://schemas.openxmlformats.org/drawingml/2006/main">
              <a:ext uri="{FF2B5EF4-FFF2-40B4-BE49-F238E27FC236}">
                <a16:creationId xmlns:a16="http://schemas.microsoft.com/office/drawing/2014/main" id="{D31747AE-E793-449A-958D-30126063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B 模式编辑</a:t>
            </a:r>
          </a:p>
        </p:txBody>
      </p:sp>
      <p:sp>
        <p:nvSpPr>
          <p:cNvPr id="31" name="拖动、排列、选择、配置参数">
            <a:extLst xmlns:a="http://schemas.openxmlformats.org/drawingml/2006/main">
              <a:ext uri="{FF2B5EF4-FFF2-40B4-BE49-F238E27FC236}">
                <a16:creationId xmlns:a16="http://schemas.microsoft.com/office/drawing/2014/main" id="{E8C25CC7-0607-4886-AFA0-B62B1DA9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81350"/>
            <a:ext cx="2257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拖动、排列、选择、配置参数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C45765-7DBE-4D35-BF7F-3036D33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6715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BCE"/>
          </a:solidFill>
          <a:ln xmlns:a="http://schemas.openxmlformats.org/drawingml/2006/main" w="0">
            <a:noFill/>
          </a:ln>
        </p:spPr>
      </p:sp>
      <p:sp>
        <p:nvSpPr>
          <p:cNvPr id="33" name="自定义积木统一接线中">
            <a:extLst xmlns:a="http://schemas.openxmlformats.org/drawingml/2006/main">
              <a:ext uri="{FF2B5EF4-FFF2-40B4-BE49-F238E27FC236}">
                <a16:creationId xmlns:a16="http://schemas.microsoft.com/office/drawing/2014/main" id="{D1F5A935-FF3E-4C92-BBAA-FF63B150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57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775F"/>
                </a:solidFill>
                <a:latin typeface="PingFang SC"/>
                <a:ea typeface="PingFang SC"/>
                <a:cs typeface="PingFang SC"/>
              </a:rPr>
              <a:t>B/C 文案与有界样式展示已验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39ABA0-6C42-4C8E-AE82-4E750045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38425"/>
            <a:ext cx="25431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35" name="04">
            <a:extLst xmlns:a="http://schemas.openxmlformats.org/drawingml/2006/main">
              <a:ext uri="{FF2B5EF4-FFF2-40B4-BE49-F238E27FC236}">
                <a16:creationId xmlns:a16="http://schemas.microsoft.com/office/drawing/2014/main" id="{B1294A0B-7F68-4C9D-ABF7-B3642D0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527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6" name="与 Mochi 对话">
            <a:extLst xmlns:a="http://schemas.openxmlformats.org/drawingml/2006/main">
              <a:ext uri="{FF2B5EF4-FFF2-40B4-BE49-F238E27FC236}">
                <a16:creationId xmlns:a16="http://schemas.microsoft.com/office/drawing/2014/main" id="{B9E719AD-2320-4AE8-AA00-6B0269C2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62250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与 Mochi 对话</a:t>
            </a:r>
          </a:p>
        </p:txBody>
      </p:sp>
      <p:sp>
        <p:nvSpPr>
          <p:cNvPr id="37" name="选中积木：改成45分钟&#10;并增加完成提示">
            <a:extLst xmlns:a="http://schemas.openxmlformats.org/drawingml/2006/main">
              <a:ext uri="{FF2B5EF4-FFF2-40B4-BE49-F238E27FC236}">
                <a16:creationId xmlns:a16="http://schemas.microsoft.com/office/drawing/2014/main" id="{E99E315C-EB38-464B-B072-0BFE78B2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81350"/>
            <a:ext cx="2257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聊天 UI 与路由已接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真实 AI 默认关闭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6CDA9E-D122-4073-BD53-298DF63A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6715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F2"/>
          </a:solidFill>
          <a:ln xmlns:a="http://schemas.openxmlformats.org/drawingml/2006/main" w="0">
            <a:noFill/>
          </a:ln>
        </p:spPr>
      </p:sp>
      <p:sp>
        <p:nvSpPr>
          <p:cNvPr id="39" name="UI/确认已有，AI 接线中">
            <a:extLst xmlns:a="http://schemas.openxmlformats.org/drawingml/2006/main">
              <a:ext uri="{FF2B5EF4-FFF2-40B4-BE49-F238E27FC236}">
                <a16:creationId xmlns:a16="http://schemas.microsoft.com/office/drawing/2014/main" id="{32A9C24D-E9FB-4EE8-A2AE-F029EB4A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8576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rPr>
              <a:t>正式 PlanProvider 尚未启用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74A78C-3A1F-4727-A9A6-77E5F9F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3718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41" name="05">
            <a:extLst xmlns:a="http://schemas.openxmlformats.org/drawingml/2006/main">
              <a:ext uri="{FF2B5EF4-FFF2-40B4-BE49-F238E27FC236}">
                <a16:creationId xmlns:a16="http://schemas.microsoft.com/office/drawing/2014/main" id="{0DCD285F-7C2B-426E-9D44-DB9DFDA7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053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2" name="AI 修改积木">
            <a:extLst xmlns:a="http://schemas.openxmlformats.org/drawingml/2006/main">
              <a:ext uri="{FF2B5EF4-FFF2-40B4-BE49-F238E27FC236}">
                <a16:creationId xmlns:a16="http://schemas.microsoft.com/office/drawing/2014/main" id="{55566F68-1CA0-4482-BD15-5D5D67F7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AI 修改积木</a:t>
            </a:r>
          </a:p>
        </p:txBody>
      </p:sp>
      <p:sp>
        <p:nvSpPr>
          <p:cNvPr id="43" name="新版本与修改方案，确认后应用&#10;目标：保留数据">
            <a:extLst xmlns:a="http://schemas.openxmlformats.org/drawingml/2006/main">
              <a:ext uri="{FF2B5EF4-FFF2-40B4-BE49-F238E27FC236}">
                <a16:creationId xmlns:a16="http://schemas.microsoft.com/office/drawing/2014/main" id="{84D25790-66B6-4DC0-9FB5-2BE5589B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33950"/>
            <a:ext cx="3086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受控外观方案经预览与确认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Engine / CAS 基础模块已验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ADEFA3-4493-465C-BDE1-1E10DA85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1975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BC"/>
          </a:solidFill>
          <a:ln xmlns:a="http://schemas.openxmlformats.org/drawingml/2006/main" w="0">
            <a:noFill/>
          </a:ln>
        </p:spPr>
      </p:sp>
      <p:sp>
        <p:nvSpPr>
          <p:cNvPr id="45" name="真实源码修改正在研发">
            <a:extLst xmlns:a="http://schemas.openxmlformats.org/drawingml/2006/main">
              <a:ext uri="{FF2B5EF4-FFF2-40B4-BE49-F238E27FC236}">
                <a16:creationId xmlns:a16="http://schemas.microsoft.com/office/drawing/2014/main" id="{486AF005-A105-4413-A68A-34804DDD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2962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Mock 链路已验，真实租约未完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34C0C1-6BA1-4196-A03E-475D80D0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91025"/>
            <a:ext cx="33718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47" name="06">
            <a:extLst xmlns:a="http://schemas.openxmlformats.org/drawingml/2006/main">
              <a:ext uri="{FF2B5EF4-FFF2-40B4-BE49-F238E27FC236}">
                <a16:creationId xmlns:a16="http://schemas.microsoft.com/office/drawing/2014/main" id="{2AADCEB8-FA4B-486E-99AE-B7FA31EE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053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8" name="C 模式预览与再调整">
            <a:extLst xmlns:a="http://schemas.openxmlformats.org/drawingml/2006/main">
              <a:ext uri="{FF2B5EF4-FFF2-40B4-BE49-F238E27FC236}">
                <a16:creationId xmlns:a16="http://schemas.microsoft.com/office/drawing/2014/main" id="{E62BA820-F142-4B1E-8978-3E86D56D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148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C 模式预览与再调整</a:t>
            </a:r>
          </a:p>
        </p:txBody>
      </p:sp>
      <p:sp>
        <p:nvSpPr>
          <p:cNvPr id="49" name="测试交互，再返回 B 模式&#10;AppSpec ">
            <a:extLst xmlns:a="http://schemas.openxmlformats.org/drawingml/2006/main">
              <a:ext uri="{FF2B5EF4-FFF2-40B4-BE49-F238E27FC236}">
                <a16:creationId xmlns:a16="http://schemas.microsoft.com/office/drawing/2014/main" id="{FB5C7569-C944-4076-87D2-7E15255D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3086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内置 CRUD、离线番茄钟已验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任意 AI 源码仍不可执行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891DB4-6E94-4093-A515-4C0F4DC9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61975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BC"/>
          </a:solidFill>
          <a:ln xmlns:a="http://schemas.openxmlformats.org/drawingml/2006/main" w="0">
            <a:noFill/>
          </a:ln>
        </p:spPr>
      </p:sp>
      <p:sp>
        <p:nvSpPr>
          <p:cNvPr id="51" name="自定义运行正在研发">
            <a:extLst xmlns:a="http://schemas.openxmlformats.org/drawingml/2006/main">
              <a:ext uri="{FF2B5EF4-FFF2-40B4-BE49-F238E27FC236}">
                <a16:creationId xmlns:a16="http://schemas.microsoft.com/office/drawing/2014/main" id="{8E212514-3496-4F26-9FC6-38AC8A70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10225"/>
            <a:ext cx="2962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安全 Spike：NO-GO，禁止接入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629382-E326-49B6-97B5-89B65C4A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91025"/>
            <a:ext cx="33718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53" name="07">
            <a:extLst xmlns:a="http://schemas.openxmlformats.org/drawingml/2006/main">
              <a:ext uri="{FF2B5EF4-FFF2-40B4-BE49-F238E27FC236}">
                <a16:creationId xmlns:a16="http://schemas.microsoft.com/office/drawing/2014/main" id="{D73B4BD2-050F-4A51-9696-61CAEF4B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5053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4" name="导出完整 React 项目">
            <a:extLst xmlns:a="http://schemas.openxmlformats.org/drawingml/2006/main">
              <a:ext uri="{FF2B5EF4-FFF2-40B4-BE49-F238E27FC236}">
                <a16:creationId xmlns:a16="http://schemas.microsoft.com/office/drawing/2014/main" id="{FE53B353-2A98-4969-872C-15B5479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148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导出完整 React 项目</a:t>
            </a:r>
          </a:p>
        </p:txBody>
      </p:sp>
      <p:sp>
        <p:nvSpPr>
          <p:cNvPr id="55" name="带走组件、配置与依赖&#10;在自己的环境继续开发部">
            <a:extLst xmlns:a="http://schemas.openxmlformats.org/drawingml/2006/main">
              <a:ext uri="{FF2B5EF4-FFF2-40B4-BE49-F238E27FC236}">
                <a16:creationId xmlns:a16="http://schemas.microsoft.com/office/drawing/2014/main" id="{2C4608D1-95FF-490E-9A62-C64ACA5B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933950"/>
            <a:ext cx="3086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受支持本机 ZIP CRUD 已验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外观文案、颜色、圆角待补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E7ABEF-831C-4E90-A80D-0E286163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61975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F2"/>
          </a:solidFill>
          <a:ln xmlns:a="http://schemas.openxmlformats.org/drawingml/2006/main" w="0">
            <a:noFill/>
          </a:ln>
        </p:spPr>
      </p:sp>
      <p:sp>
        <p:nvSpPr>
          <p:cNvPr id="57" name="完整源码导出为后续目标">
            <a:extLst xmlns:a="http://schemas.openxmlformats.org/drawingml/2006/main">
              <a:ext uri="{FF2B5EF4-FFF2-40B4-BE49-F238E27FC236}">
                <a16:creationId xmlns:a16="http://schemas.microsoft.com/office/drawing/2014/main" id="{2A1B3D3B-12A4-421C-BEC5-8E065EB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10225"/>
            <a:ext cx="2962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6590"/>
                </a:solidFill>
                <a:latin typeface="PingFang SC"/>
                <a:ea typeface="PingFang SC"/>
                <a:cs typeface="PingFang SC"/>
              </a:rPr>
              <a:t>外观保真 P1；公网尚待验收</a:t>
            </a:r>
          </a:p>
        </p:txBody>
      </p:sp>
    </p:spTree>
    <p:extLst>
      <p:ext uri="{BB962C8B-B14F-4D97-AF65-F5344CB8AC3E}">
        <p14:creationId xmlns:p14="http://schemas.microsoft.com/office/powerpoint/2010/main" val="476426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04 为什么选择功能积木">
            <a:extLst xmlns:a="http://schemas.openxmlformats.org/drawingml/2006/main">
              <a:ext uri="{FF2B5EF4-FFF2-40B4-BE49-F238E27FC236}">
                <a16:creationId xmlns:a16="http://schemas.microsoft.com/office/drawing/2014/main" id="{5CBE52A2-1361-4E0B-BEC3-EC4412F5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04 为什么选择功能积木</a:t>
            </a:r>
          </a:p>
        </p:txBody>
      </p:sp>
      <p:sp>
        <p:nvSpPr>
          <p:cNvPr id="2" name="产品创新：新功能代码与持续局部修改">
            <a:extLst xmlns:a="http://schemas.openxmlformats.org/drawingml/2006/main">
              <a:ext uri="{FF2B5EF4-FFF2-40B4-BE49-F238E27FC236}">
                <a16:creationId xmlns:a16="http://schemas.microsoft.com/office/drawing/2014/main" id="{95A0F06C-C8DC-4BBB-BCFA-2F68DBAB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产品创新：新功能代码与持续局部修改</a:t>
            </a:r>
          </a:p>
        </p:txBody>
      </p:sp>
      <p:sp>
        <p:nvSpPr>
          <p:cNvPr id="3" name="以下是产品价值主张与研发目标，尚待真实模型与">
            <a:extLst xmlns:a="http://schemas.openxmlformats.org/drawingml/2006/main">
              <a:ext uri="{FF2B5EF4-FFF2-40B4-BE49-F238E27FC236}">
                <a16:creationId xmlns:a16="http://schemas.microsoft.com/office/drawing/2014/main" id="{DC76917A-B010-4F75-9EB3-26B08162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以下是产品价值主张与研发目标，尚待真实模型与用户任务验证。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414CA-D727-4C63-92F1-9C9A677E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FDD01BAE-358A-415A-9A72-7FD8CC7E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DB6E56BD-7E13-4305-850C-45D7C246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82F94077-9523-4600-9C4F-7B9A10D2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1B723C16-BC68-40E5-A53F-FED4787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AI 创造新功能">
            <a:extLst xmlns:a="http://schemas.openxmlformats.org/drawingml/2006/main">
              <a:ext uri="{FF2B5EF4-FFF2-40B4-BE49-F238E27FC236}">
                <a16:creationId xmlns:a16="http://schemas.microsoft.com/office/drawing/2014/main" id="{819A2DCE-852E-4796-A0E2-B3755AD8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AI 创造新功能</a:t>
            </a:r>
          </a:p>
        </p:txBody>
      </p:sp>
      <p:sp>
        <p:nvSpPr>
          <p:cNvPr id="10" name="目标是为新需求写代码，&#10;突破现有 form ">
            <a:extLst xmlns:a="http://schemas.openxmlformats.org/drawingml/2006/main">
              <a:ext uri="{FF2B5EF4-FFF2-40B4-BE49-F238E27FC236}">
                <a16:creationId xmlns:a16="http://schemas.microsoft.com/office/drawing/2014/main" id="{CB0BE97B-540B-4D5A-B99D-26C189CF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333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目标是为新需求写代码，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超越内置 CRUD 与可信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组件的固定能力范围。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AD4F4-6072-4EA8-A03C-433D1393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12" name="用户价值：表达更多个性需求">
            <a:extLst xmlns:a="http://schemas.openxmlformats.org/drawingml/2006/main">
              <a:ext uri="{FF2B5EF4-FFF2-40B4-BE49-F238E27FC236}">
                <a16:creationId xmlns:a16="http://schemas.microsoft.com/office/drawing/2014/main" id="{66592F91-5541-492D-B7E8-AFCEA8C6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用户价值：表达更多个性需求</a:t>
            </a:r>
          </a:p>
        </p:txBody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D65F450F-0B92-4DAE-B999-D136FD3A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193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修改一个功能">
            <a:extLst xmlns:a="http://schemas.openxmlformats.org/drawingml/2006/main">
              <a:ext uri="{FF2B5EF4-FFF2-40B4-BE49-F238E27FC236}">
                <a16:creationId xmlns:a16="http://schemas.microsoft.com/office/drawing/2014/main" id="{1C0AE787-7FC8-4F06-90BD-9F150FF2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修改一个功能</a:t>
            </a:r>
          </a:p>
        </p:txBody>
      </p:sp>
      <p:sp>
        <p:nvSpPr>
          <p:cNvPr id="15" name="选中积木，与 Mochi 对话。&#10;查看新版本">
            <a:extLst xmlns:a="http://schemas.openxmlformats.org/drawingml/2006/main">
              <a:ext uri="{FF2B5EF4-FFF2-40B4-BE49-F238E27FC236}">
                <a16:creationId xmlns:a16="http://schemas.microsoft.com/office/drawing/2014/main" id="{49EC72B2-99F5-408D-A3DA-AA09859E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3333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目标：选中积木表达变化，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查看新版本的修改方案，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经确认后应用。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010D8-4EC3-4400-86B2-D6B01825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816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17" name="用户价值：看得懂修改范围">
            <a:extLst xmlns:a="http://schemas.openxmlformats.org/drawingml/2006/main">
              <a:ext uri="{FF2B5EF4-FFF2-40B4-BE49-F238E27FC236}">
                <a16:creationId xmlns:a16="http://schemas.microsoft.com/office/drawing/2014/main" id="{744AEAC8-A32C-4A01-B565-96EA92EF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用户价值：看得懂修改范围</a:t>
            </a:r>
          </a:p>
        </p:txBody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B588EAA6-2FDC-4D28-8153-509281D3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193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持续拥有项目">
            <a:extLst xmlns:a="http://schemas.openxmlformats.org/drawingml/2006/main">
              <a:ext uri="{FF2B5EF4-FFF2-40B4-BE49-F238E27FC236}">
                <a16:creationId xmlns:a16="http://schemas.microsoft.com/office/drawing/2014/main" id="{666FA8FC-953D-4066-B36A-6544B913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337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持续拥有项目</a:t>
            </a:r>
          </a:p>
        </p:txBody>
      </p:sp>
      <p:sp>
        <p:nvSpPr>
          <p:cNvPr id="20" name="配置与源码随项目导出，&#10;用户可以自主维护部署">
            <a:extLst xmlns:a="http://schemas.openxmlformats.org/drawingml/2006/main">
              <a:ext uri="{FF2B5EF4-FFF2-40B4-BE49-F238E27FC236}">
                <a16:creationId xmlns:a16="http://schemas.microsoft.com/office/drawing/2014/main" id="{0CBDFF69-B6C6-435C-AE9F-D8FB8F5A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3333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受支持项目可本机导出，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CRUD 已有独立验收。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外观保真与公网仍待完善。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3EF55-AB62-4FD2-8B52-188F139C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816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22" name="用户价值：软件能长期使用">
            <a:extLst xmlns:a="http://schemas.openxmlformats.org/drawingml/2006/main">
              <a:ext uri="{FF2B5EF4-FFF2-40B4-BE49-F238E27FC236}">
                <a16:creationId xmlns:a16="http://schemas.microsoft.com/office/drawing/2014/main" id="{0930A19C-B63B-4A15-8130-021DC251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292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用户价值：软件能长期使用</a:t>
            </a:r>
          </a:p>
        </p:txBody>
      </p:sp>
    </p:spTree>
    <p:extLst>
      <p:ext uri="{BB962C8B-B14F-4D97-AF65-F5344CB8AC3E}">
        <p14:creationId xmlns:p14="http://schemas.microsoft.com/office/powerpoint/2010/main" val="204797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5 可验证产品证据">
            <a:extLst xmlns:a="http://schemas.openxmlformats.org/drawingml/2006/main">
              <a:ext uri="{FF2B5EF4-FFF2-40B4-BE49-F238E27FC236}">
                <a16:creationId xmlns:a16="http://schemas.microsoft.com/office/drawing/2014/main" id="{E11F1CA6-F591-4E2C-95AC-51BE7C26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05 可验证产品证据</a:t>
            </a:r>
          </a:p>
        </p:txBody>
      </p:sp>
      <p:sp>
        <p:nvSpPr>
          <p:cNvPr id="2" name="现有原型：社团迎新报名">
            <a:extLst xmlns:a="http://schemas.openxmlformats.org/drawingml/2006/main">
              <a:ext uri="{FF2B5EF4-FFF2-40B4-BE49-F238E27FC236}">
                <a16:creationId xmlns:a16="http://schemas.microsoft.com/office/drawing/2014/main" id="{33E9E362-F266-4221-8BB3-77B22B2D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现有原型：社团迎新报名</a:t>
            </a:r>
          </a:p>
        </p:txBody>
      </p:sp>
      <p:sp>
        <p:nvSpPr>
          <p:cNvPr id="3" name="离线验收截图：AppSpec 表单、名单与人">
            <a:extLst xmlns:a="http://schemas.openxmlformats.org/drawingml/2006/main">
              <a:ext uri="{FF2B5EF4-FFF2-40B4-BE49-F238E27FC236}">
                <a16:creationId xmlns:a16="http://schemas.microsoft.com/office/drawing/2014/main" id="{CD3596D3-9482-4C5B-BEB6-4276CEE3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离线验收截图：AppSpec 表单、名单与人数统计，使用 Mock 上游。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D9A80-1BAC-4D44-9042-8A0BF60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A421C9AF-B613-4C89-A24E-A9C5E297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4DFE325A-E09C-43FE-B544-FC8825A7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EF3B5687-3184-43F5-9269-D2B0E5E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8" name="B 模式">
            <a:extLst xmlns:a="http://schemas.openxmlformats.org/drawingml/2006/main">
              <a:ext uri="{FF2B5EF4-FFF2-40B4-BE49-F238E27FC236}">
                <a16:creationId xmlns:a16="http://schemas.microsoft.com/office/drawing/2014/main" id="{6EE642F0-5D7A-4607-A500-6D1CFC4D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B 模式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60800-7D84-4F9A-9991-3CF7F8CD26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2e8da9e634f9f"/>
          <a:stretch xmlns:a="http://schemas.openxmlformats.org/drawingml/2006/main"/>
        </p:blipFill>
        <p:spPr>
          <a:xfrm xmlns:a="http://schemas.openxmlformats.org/drawingml/2006/main">
            <a:off x="609600" y="2541588"/>
            <a:ext cx="7000875" cy="255587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29577-EBDC-45E0-B0A1-71213D9450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9ee9351bd4469"/>
          <a:stretch xmlns:a="http://schemas.openxmlformats.org/drawingml/2006/main"/>
        </p:blipFill>
        <p:spPr>
          <a:xfrm xmlns:a="http://schemas.openxmlformats.org/drawingml/2006/main">
            <a:off x="8020050" y="2173947"/>
            <a:ext cx="1600200" cy="3595955"/>
          </a:xfrm>
          <a:prstGeom xmlns:a="http://schemas.openxmlformats.org/drawingml/2006/main" prst="rect">
            <a:avLst/>
          </a:prstGeom>
        </p:spPr>
      </p:pic>
      <p:sp>
        <p:nvSpPr>
          <p:cNvPr id="11" name="字段配置">
            <a:extLst xmlns:a="http://schemas.openxmlformats.org/drawingml/2006/main">
              <a:ext uri="{FF2B5EF4-FFF2-40B4-BE49-F238E27FC236}">
                <a16:creationId xmlns:a16="http://schemas.microsoft.com/office/drawing/2014/main" id="{B135433F-809F-4E6C-AE24-F1EAC87B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336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字段配置</a:t>
            </a:r>
          </a:p>
        </p:txBody>
      </p:sp>
      <p:sp>
        <p:nvSpPr>
          <p:cNvPr id="12" name="选择展示字段，&#10;新增实体字段。">
            <a:extLst xmlns:a="http://schemas.openxmlformats.org/drawingml/2006/main">
              <a:ext uri="{FF2B5EF4-FFF2-40B4-BE49-F238E27FC236}">
                <a16:creationId xmlns:a16="http://schemas.microsoft.com/office/drawing/2014/main" id="{E1A552F5-734B-4733-A5EB-146ED25A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14650"/>
            <a:ext cx="161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选择展示字段，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新增实体字段。</a:t>
            </a:r>
          </a:p>
        </p:txBody>
      </p:sp>
      <p:sp>
        <p:nvSpPr>
          <p:cNvPr id="13" name="C 模式">
            <a:extLst xmlns:a="http://schemas.openxmlformats.org/drawingml/2006/main">
              <a:ext uri="{FF2B5EF4-FFF2-40B4-BE49-F238E27FC236}">
                <a16:creationId xmlns:a16="http://schemas.microsoft.com/office/drawing/2014/main" id="{F6017F35-C8DB-4184-9680-2B48E3BF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C 模式</a:t>
            </a:r>
          </a:p>
        </p:txBody>
      </p:sp>
      <p:sp>
        <p:nvSpPr>
          <p:cNvPr id="14" name="可操作记录并查看统计；&#10;B/C 切换共享会话">
            <a:extLst xmlns:a="http://schemas.openxmlformats.org/drawingml/2006/main">
              <a:ext uri="{FF2B5EF4-FFF2-40B4-BE49-F238E27FC236}">
                <a16:creationId xmlns:a16="http://schemas.microsoft.com/office/drawing/2014/main" id="{32C9D12C-55CD-4F75-8073-FD8B4237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504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可操作记录并查看统计；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B/C 切换共享会话内状态。</a:t>
            </a:r>
          </a:p>
        </p:txBody>
      </p:sp>
    </p:spTree>
    <p:extLst>
      <p:ext uri="{BB962C8B-B14F-4D97-AF65-F5344CB8AC3E}">
        <p14:creationId xmlns:p14="http://schemas.microsoft.com/office/powerpoint/2010/main" val="704718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06 当前链路与目标设计">
            <a:extLst xmlns:a="http://schemas.openxmlformats.org/drawingml/2006/main">
              <a:ext uri="{FF2B5EF4-FFF2-40B4-BE49-F238E27FC236}">
                <a16:creationId xmlns:a16="http://schemas.microsoft.com/office/drawing/2014/main" id="{71E80CCC-4011-4FF5-A358-E7ACAD35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06 当前链路与目标设计</a:t>
            </a:r>
          </a:p>
        </p:txBody>
      </p:sp>
      <p:sp>
        <p:nvSpPr>
          <p:cNvPr id="2" name="技术架构：让生成、编辑与运行衔接">
            <a:extLst xmlns:a="http://schemas.openxmlformats.org/drawingml/2006/main">
              <a:ext uri="{FF2B5EF4-FFF2-40B4-BE49-F238E27FC236}">
                <a16:creationId xmlns:a16="http://schemas.microsoft.com/office/drawing/2014/main" id="{5980BB18-3A60-4427-A17A-2A03A308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技术架构：让生成、编辑与运行衔接</a:t>
            </a:r>
          </a:p>
        </p:txBody>
      </p:sp>
      <p:sp>
        <p:nvSpPr>
          <p:cNvPr id="3" name="实线表示已有模块，虚线表示尚未通过的执行关卡">
            <a:extLst xmlns:a="http://schemas.openxmlformats.org/drawingml/2006/main">
              <a:ext uri="{FF2B5EF4-FFF2-40B4-BE49-F238E27FC236}">
                <a16:creationId xmlns:a16="http://schemas.microsoft.com/office/drawing/2014/main" id="{DEA179B3-C8D8-4529-8D5E-7C0BA868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实线表示已有模块，虚线表示待验收或待接线环节；整条链路尚未闭环。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FEBF5-EF1A-4FD1-8FF8-728F8C65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A0847B42-6650-4301-B73B-2C10C4CA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720F9F77-1248-47D5-8B99-90F93566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7BC5DE78-0EED-466F-9C3B-BF468BCD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8" name="当前可验证路径">
            <a:extLst xmlns:a="http://schemas.openxmlformats.org/drawingml/2006/main">
              <a:ext uri="{FF2B5EF4-FFF2-40B4-BE49-F238E27FC236}">
                <a16:creationId xmlns:a16="http://schemas.microsoft.com/office/drawing/2014/main" id="{7C7AF5A6-AF3B-434C-A5EC-0BC2FC62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9775F"/>
                </a:solidFill>
                <a:latin typeface="PingFang SC"/>
                <a:ea typeface="PingFang SC"/>
                <a:cs typeface="PingFang SC"/>
              </a:rPr>
              <a:t>当前可验证路径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F68A2-6F9F-486D-9562-E6EEDB68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5431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E4D8"/>
            </a:solidFill>
            <a:prstDash val="solid"/>
          </a:ln>
        </p:spPr>
      </p:sp>
      <p:sp>
        <p:nvSpPr>
          <p:cNvPr id="10" name="需求与 DeepSeek">
            <a:extLst xmlns:a="http://schemas.openxmlformats.org/drawingml/2006/main">
              <a:ext uri="{FF2B5EF4-FFF2-40B4-BE49-F238E27FC236}">
                <a16:creationId xmlns:a16="http://schemas.microsoft.com/office/drawing/2014/main" id="{DBF07253-1BF4-45A9-977F-2B19D526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需求与 DeepSeek</a:t>
            </a:r>
          </a:p>
        </p:txBody>
      </p:sp>
      <p:sp>
        <p:nvSpPr>
          <p:cNvPr id="11" name="API 已接入&#10;线上模型质量待验证">
            <a:extLst xmlns:a="http://schemas.openxmlformats.org/drawingml/2006/main">
              <a:ext uri="{FF2B5EF4-FFF2-40B4-BE49-F238E27FC236}">
                <a16:creationId xmlns:a16="http://schemas.microsoft.com/office/drawing/2014/main" id="{9BA17C5C-8FFC-40A8-B33B-68703B49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2200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已接接口与 JSON 校验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在线生成效果仍待核验</a:t>
            </a:r>
          </a:p>
        </p:txBody>
      </p:sp>
      <p:sp>
        <p:nvSpPr>
          <p:cNvPr id="12" name="›">
            <a:extLst xmlns:a="http://schemas.openxmlformats.org/drawingml/2006/main">
              <a:ext uri="{FF2B5EF4-FFF2-40B4-BE49-F238E27FC236}">
                <a16:creationId xmlns:a16="http://schemas.microsoft.com/office/drawing/2014/main" id="{C70050AE-81E1-4B41-8C94-73178FBD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14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3D8EE-A7C4-44AB-83EA-DFB54404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95550"/>
            <a:ext cx="25431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E4D8"/>
            </a:solidFill>
            <a:prstDash val="solid"/>
          </a:ln>
        </p:spPr>
      </p:sp>
      <p:sp>
        <p:nvSpPr>
          <p:cNvPr id="14" name="AppSpec 功能定义">
            <a:extLst xmlns:a="http://schemas.openxmlformats.org/drawingml/2006/main">
              <a:ext uri="{FF2B5EF4-FFF2-40B4-BE49-F238E27FC236}">
                <a16:creationId xmlns:a16="http://schemas.microsoft.com/office/drawing/2014/main" id="{EFB7D087-35D4-409F-9AA4-668AA154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28900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AppSpec 功能定义</a:t>
            </a:r>
          </a:p>
        </p:txBody>
      </p:sp>
      <p:sp>
        <p:nvSpPr>
          <p:cNvPr id="15" name="表单、列表、统计&#10;已有渲染器支持">
            <a:extLst xmlns:a="http://schemas.openxmlformats.org/drawingml/2006/main">
              <a:ext uri="{FF2B5EF4-FFF2-40B4-BE49-F238E27FC236}">
                <a16:creationId xmlns:a16="http://schemas.microsoft.com/office/drawing/2014/main" id="{EA4D4B67-7F44-4A24-B629-93F8B1F5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19425"/>
            <a:ext cx="2200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v1 三类 CRUD 积木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v2 可信番茄钟离线入口</a:t>
            </a:r>
          </a:p>
        </p:txBody>
      </p:sp>
      <p:sp>
        <p:nvSpPr>
          <p:cNvPr id="16" name="›">
            <a:extLst xmlns:a="http://schemas.openxmlformats.org/drawingml/2006/main">
              <a:ext uri="{FF2B5EF4-FFF2-40B4-BE49-F238E27FC236}">
                <a16:creationId xmlns:a16="http://schemas.microsoft.com/office/drawing/2014/main" id="{0AD5C7CA-9789-488A-9732-0CAB0BED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14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65F42-FBC9-4942-BBE4-0A774253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25431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BCE"/>
          </a:solidFill>
          <a:ln xmlns:a="http://schemas.openxmlformats.org/drawingml/2006/main" w="19050">
            <a:solidFill>
              <a:srgbClr val="EFE4D8"/>
            </a:solidFill>
            <a:prstDash val="solid"/>
          </a:ln>
        </p:spPr>
      </p:sp>
      <p:sp>
        <p:nvSpPr>
          <p:cNvPr id="18" name="B / C 工作坊">
            <a:extLst xmlns:a="http://schemas.openxmlformats.org/drawingml/2006/main">
              <a:ext uri="{FF2B5EF4-FFF2-40B4-BE49-F238E27FC236}">
                <a16:creationId xmlns:a16="http://schemas.microsoft.com/office/drawing/2014/main" id="{D857CCC1-86CC-4C8D-9781-AF8B7E0D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B / C 工作坊</a:t>
            </a:r>
          </a:p>
        </p:txBody>
      </p:sp>
      <p:sp>
        <p:nvSpPr>
          <p:cNvPr id="19" name="编辑字段与布局&#10;操作会话内数据">
            <a:extLst xmlns:a="http://schemas.openxmlformats.org/drawingml/2006/main">
              <a:ext uri="{FF2B5EF4-FFF2-40B4-BE49-F238E27FC236}">
                <a16:creationId xmlns:a16="http://schemas.microsoft.com/office/drawing/2014/main" id="{063E3560-B425-4DB1-9B70-D2ADE724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19425"/>
            <a:ext cx="2200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#52 B/C 外观展示已接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固定 Fixture 验收通过</a:t>
            </a:r>
          </a:p>
        </p:txBody>
      </p:sp>
      <p:sp>
        <p:nvSpPr>
          <p:cNvPr id="20" name="›">
            <a:extLst xmlns:a="http://schemas.openxmlformats.org/drawingml/2006/main">
              <a:ext uri="{FF2B5EF4-FFF2-40B4-BE49-F238E27FC236}">
                <a16:creationId xmlns:a16="http://schemas.microsoft.com/office/drawing/2014/main" id="{62D17C27-5DBA-48B6-890D-ADFFCD14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9F9E7-1A21-4BC8-BD13-6D048C83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95550"/>
            <a:ext cx="25431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E4D8"/>
            </a:solidFill>
            <a:prstDash val="solid"/>
          </a:ln>
        </p:spPr>
      </p:sp>
      <p:sp>
        <p:nvSpPr>
          <p:cNvPr id="22" name="Mochi 可信交互">
            <a:extLst xmlns:a="http://schemas.openxmlformats.org/drawingml/2006/main">
              <a:ext uri="{FF2B5EF4-FFF2-40B4-BE49-F238E27FC236}">
                <a16:creationId xmlns:a16="http://schemas.microsoft.com/office/drawing/2014/main" id="{7A9AA353-F48D-4E8E-A5FB-2E3B839F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28900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Mochi 可信交互</a:t>
            </a:r>
          </a:p>
        </p:txBody>
      </p:sp>
      <p:sp>
        <p:nvSpPr>
          <p:cNvPr id="23" name="UI、确认与动作已验&#10;真实源码修改未完成">
            <a:extLst xmlns:a="http://schemas.openxmlformats.org/drawingml/2006/main">
              <a:ext uri="{FF2B5EF4-FFF2-40B4-BE49-F238E27FC236}">
                <a16:creationId xmlns:a16="http://schemas.microsoft.com/office/drawing/2014/main" id="{F0231C4C-9D7D-42E7-8BBE-D5441161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19425"/>
            <a:ext cx="2200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#49 Engine/CAS 已接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Provider 禁用</a:t>
            </a:r>
          </a:p>
        </p:txBody>
      </p:sp>
      <p:sp>
        <p:nvSpPr>
          <p:cNvPr id="24" name="新功能积木的研发路径">
            <a:extLst xmlns:a="http://schemas.openxmlformats.org/drawingml/2006/main">
              <a:ext uri="{FF2B5EF4-FFF2-40B4-BE49-F238E27FC236}">
                <a16:creationId xmlns:a16="http://schemas.microsoft.com/office/drawing/2014/main" id="{7E2FBE23-C415-48BC-819D-E9F6FBB7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33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新功能积木的研发路径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750B3-836F-4881-AB57-A782AC54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5431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E4D8"/>
            </a:solidFill>
            <a:prstDash val="solid"/>
          </a:ln>
        </p:spPr>
      </p:sp>
      <p:sp>
        <p:nvSpPr>
          <p:cNvPr id="26" name="React/TSX 生成">
            <a:extLst xmlns:a="http://schemas.openxmlformats.org/drawingml/2006/main">
              <a:ext uri="{FF2B5EF4-FFF2-40B4-BE49-F238E27FC236}">
                <a16:creationId xmlns:a16="http://schemas.microsoft.com/office/drawing/2014/main" id="{EC4D7A30-5E90-4767-A675-B5AB00C6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React/TSX 生成</a:t>
            </a:r>
          </a:p>
        </p:txBody>
      </p:sp>
      <p:sp>
        <p:nvSpPr>
          <p:cNvPr id="27" name="生成适配已开发&#10;模型效果仍需实测">
            <a:extLst xmlns:a="http://schemas.openxmlformats.org/drawingml/2006/main">
              <a:ext uri="{FF2B5EF4-FFF2-40B4-BE49-F238E27FC236}">
                <a16:creationId xmlns:a16="http://schemas.microsoft.com/office/drawing/2014/main" id="{A69738BE-17CE-401B-AA87-E05B71C7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2002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单例准入、离线安装已验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UI 已接，源码未运行</a:t>
            </a:r>
          </a:p>
        </p:txBody>
      </p:sp>
      <p:sp>
        <p:nvSpPr>
          <p:cNvPr id="28" name="›">
            <a:extLst xmlns:a="http://schemas.openxmlformats.org/drawingml/2006/main">
              <a:ext uri="{FF2B5EF4-FFF2-40B4-BE49-F238E27FC236}">
                <a16:creationId xmlns:a16="http://schemas.microsoft.com/office/drawing/2014/main" id="{05CC2E63-6F18-4DAB-95AC-282F5576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149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0E018-F17C-45DF-951D-E4F785F8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76750"/>
            <a:ext cx="25431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F2"/>
          </a:solidFill>
          <a:ln xmlns:a="http://schemas.openxmlformats.org/drawingml/2006/main" w="19050">
            <a:solidFill>
              <a:srgbClr val="EFE4D8"/>
            </a:solidFill>
            <a:prstDash val="solid"/>
          </a:ln>
        </p:spPr>
      </p:sp>
      <p:sp>
        <p:nvSpPr>
          <p:cNvPr id="30" name="版本化源码制品">
            <a:extLst xmlns:a="http://schemas.openxmlformats.org/drawingml/2006/main">
              <a:ext uri="{FF2B5EF4-FFF2-40B4-BE49-F238E27FC236}">
                <a16:creationId xmlns:a16="http://schemas.microsoft.com/office/drawing/2014/main" id="{9D556463-2854-481E-9D3E-731EC4EB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610100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版本化源码制品</a:t>
            </a:r>
          </a:p>
        </p:txBody>
      </p:sp>
      <p:sp>
        <p:nvSpPr>
          <p:cNvPr id="31" name="SourceArtifact 保存&#10;源码、配">
            <a:extLst xmlns:a="http://schemas.openxmlformats.org/drawingml/2006/main">
              <a:ext uri="{FF2B5EF4-FFF2-40B4-BE49-F238E27FC236}">
                <a16:creationId xmlns:a16="http://schemas.microsoft.com/office/drawing/2014/main" id="{FFAF7236-1D96-4C55-A15E-B79A706C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000625"/>
            <a:ext cx="22002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SourceArtifact 与摘要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唯一 owner / CAS</a:t>
            </a:r>
          </a:p>
        </p:txBody>
      </p:sp>
      <p:sp>
        <p:nvSpPr>
          <p:cNvPr id="32" name="›">
            <a:extLst xmlns:a="http://schemas.openxmlformats.org/drawingml/2006/main">
              <a:ext uri="{FF2B5EF4-FFF2-40B4-BE49-F238E27FC236}">
                <a16:creationId xmlns:a16="http://schemas.microsoft.com/office/drawing/2014/main" id="{BB717040-BE2D-4285-A16C-02C7A11D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9149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EB32BE-57A0-4110-B23E-DA163CB5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76750"/>
            <a:ext cx="25431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C52"/>
            </a:solidFill>
            <a:prstDash val="dash"/>
          </a:ln>
        </p:spPr>
      </p:sp>
      <p:sp>
        <p:nvSpPr>
          <p:cNvPr id="34" name="隔离编译与 Viewer">
            <a:extLst xmlns:a="http://schemas.openxmlformats.org/drawingml/2006/main">
              <a:ext uri="{FF2B5EF4-FFF2-40B4-BE49-F238E27FC236}">
                <a16:creationId xmlns:a16="http://schemas.microsoft.com/office/drawing/2014/main" id="{9A9C356A-4FD0-4EBF-99A0-BC9ACCB9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隔离编译与 Viewer</a:t>
            </a:r>
          </a:p>
        </p:txBody>
      </p:sp>
      <p:sp>
        <p:nvSpPr>
          <p:cNvPr id="35" name="仅可信手写样本编译&#10;安全运行尚未通过">
            <a:extLst xmlns:a="http://schemas.openxmlformats.org/drawingml/2006/main">
              <a:ext uri="{FF2B5EF4-FFF2-40B4-BE49-F238E27FC236}">
                <a16:creationId xmlns:a16="http://schemas.microsoft.com/office/drawing/2014/main" id="{75D47E59-785B-4C24-B328-95036313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00625"/>
            <a:ext cx="22002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安全 Spike：NO-GO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正式 C 模式禁止集成</a:t>
            </a:r>
          </a:p>
        </p:txBody>
      </p:sp>
      <p:sp>
        <p:nvSpPr>
          <p:cNvPr id="36" name="›">
            <a:extLst xmlns:a="http://schemas.openxmlformats.org/drawingml/2006/main">
              <a:ext uri="{FF2B5EF4-FFF2-40B4-BE49-F238E27FC236}">
                <a16:creationId xmlns:a16="http://schemas.microsoft.com/office/drawing/2014/main" id="{F23339BB-623C-4133-8864-D1CB0B21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149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B77C33-F2B3-4486-BCE8-5C6EEDCA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76750"/>
            <a:ext cx="25431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C52"/>
            </a:solidFill>
            <a:prstDash val="dash"/>
          </a:ln>
        </p:spPr>
      </p:sp>
      <p:sp>
        <p:nvSpPr>
          <p:cNvPr id="38" name="运行与完整源码导出">
            <a:extLst xmlns:a="http://schemas.openxmlformats.org/drawingml/2006/main">
              <a:ext uri="{FF2B5EF4-FFF2-40B4-BE49-F238E27FC236}">
                <a16:creationId xmlns:a16="http://schemas.microsoft.com/office/drawing/2014/main" id="{7969E993-D120-4EE2-94C1-71EEC6EA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610100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ZIP 独立交付路径</a:t>
            </a:r>
          </a:p>
        </p:txBody>
      </p:sp>
      <p:sp>
        <p:nvSpPr>
          <p:cNvPr id="39" name="接入 Runtime 与 B/C&#10;导出为后续">
            <a:extLst xmlns:a="http://schemas.openxmlformats.org/drawingml/2006/main">
              <a:ext uri="{FF2B5EF4-FFF2-40B4-BE49-F238E27FC236}">
                <a16:creationId xmlns:a16="http://schemas.microsoft.com/office/drawing/2014/main" id="{E93BA87D-DC39-4DD0-9745-FF2F4B7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000625"/>
            <a:ext cx="22002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本机 CRUD 导出已验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外观保真 P1，公网待验</a:t>
            </a:r>
          </a:p>
        </p:txBody>
      </p:sp>
    </p:spTree>
    <p:extLst>
      <p:ext uri="{BB962C8B-B14F-4D97-AF65-F5344CB8AC3E}">
        <p14:creationId xmlns:p14="http://schemas.microsoft.com/office/powerpoint/2010/main" val="16322382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7 2026.10.18 技术快照">
            <a:extLst xmlns:a="http://schemas.openxmlformats.org/drawingml/2006/main">
              <a:ext uri="{FF2B5EF4-FFF2-40B4-BE49-F238E27FC236}">
                <a16:creationId xmlns:a16="http://schemas.microsoft.com/office/drawing/2014/main" id="{82C9117C-471D-4FE2-A6F0-4FF9BCB7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07 2026.10.19 技术快照</a:t>
            </a:r>
          </a:p>
        </p:txBody>
      </p:sp>
      <p:sp>
        <p:nvSpPr>
          <p:cNvPr id="2" name="真实研发进度与证据边界">
            <a:extLst xmlns:a="http://schemas.openxmlformats.org/drawingml/2006/main">
              <a:ext uri="{FF2B5EF4-FFF2-40B4-BE49-F238E27FC236}">
                <a16:creationId xmlns:a16="http://schemas.microsoft.com/office/drawing/2014/main" id="{605E1318-790C-4DC6-9B4A-4294E4DF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真实研发进度与证据边界</a:t>
            </a:r>
          </a:p>
        </p:txBody>
      </p:sp>
      <p:sp>
        <p:nvSpPr>
          <p:cNvPr id="3" name="最新主线 2678c5e；代码合并、分支验收">
            <a:extLst xmlns:a="http://schemas.openxmlformats.org/drawingml/2006/main">
              <a:ext uri="{FF2B5EF4-FFF2-40B4-BE49-F238E27FC236}">
                <a16:creationId xmlns:a16="http://schemas.microsoft.com/office/drawing/2014/main" id="{09678C7E-629A-4E0F-9C09-F3BDD1A8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快照 8cfa37f；Mock 验收、真实 AI 和公开部署分别判断。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13002-E9C7-4BCF-94C2-47B48884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DDCE0F2E-233A-49FB-969B-30EC0957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F1269FB1-5251-4695-9F58-D6DC6205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0BEC4021-DC80-4DFB-A5F9-0ECBAD1B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2492C-13B3-48B0-BAE0-B9F329E8C17D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4533900"/>
                <a:gridCol w="4133850"/>
              </a:tblGrid>
              <a:tr h="5937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模块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T w="9525">
                      <a:solidFill>
                        <a:srgbClr val="EFE4D8"/>
                      </a:solidFill>
                      <a:prstDash val="solid"/>
                    </a:lnT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30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可核查进度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T w="9525">
                      <a:solidFill>
                        <a:srgbClr val="EFE4D8"/>
                      </a:solidFill>
                      <a:prstDash val="solid"/>
                    </a:lnT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30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尚未完成的部分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T w="9525">
                      <a:solidFill>
                        <a:srgbClr val="EFE4D8"/>
                      </a:solidFill>
                      <a:prstDash val="solid"/>
                    </a:lnT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302B29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AppSpec / 原 B/C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v1 CRUD、离线番茄钟、B/C 外观已验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Fixture 非在线生成；实时效果待验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Mochi 受控修改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#49 Engine/CAS、#52 展示合并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Provider 禁用；真实租约未完成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自定义积木生成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 TSX 单例准入；离线安装 UI 已接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TSX 未运行；#54 Mock 已验未合并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ZIP 项目导出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受支持 React ZIP CRUD 已有独立验收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外观 P1；v2/任意 TSX 不予放行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容器与公开部署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 基础 GO：构建/健康/匿名拒绝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魔塔地址待确认；公网与正式 AI 未验收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</a:tr>
            </a:tbl>
          </a:graphicData>
        </a:graphic>
      </p:graphicFrame>
      <p:sp>
        <p:nvSpPr>
          <p:cNvPr id="9" name="开放 PR：#24 授权补强、#25 统一 ">
            <a:extLst xmlns:a="http://schemas.openxmlformats.org/drawingml/2006/main">
              <a:ext uri="{FF2B5EF4-FFF2-40B4-BE49-F238E27FC236}">
                <a16:creationId xmlns:a16="http://schemas.microsoft.com/office/drawing/2014/main" id="{B9A44CB4-E2FB-4395-B580-E9F2FE33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离线 / Mock 不等于在线模型；任意 TSX 隔离 Spike NO-GO，继续拒绝执行。</a:t>
            </a:r>
          </a:p>
        </p:txBody>
      </p:sp>
    </p:spTree>
    <p:extLst>
      <p:ext uri="{BB962C8B-B14F-4D97-AF65-F5344CB8AC3E}">
        <p14:creationId xmlns:p14="http://schemas.microsoft.com/office/powerpoint/2010/main" val="6831082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8 用户与场景假设">
            <a:extLst xmlns:a="http://schemas.openxmlformats.org/drawingml/2006/main">
              <a:ext uri="{FF2B5EF4-FFF2-40B4-BE49-F238E27FC236}">
                <a16:creationId xmlns:a16="http://schemas.microsoft.com/office/drawing/2014/main" id="{C9CB8E3D-698C-400A-8552-C1BCEE04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08 用户与场景假设</a:t>
            </a:r>
          </a:p>
        </p:txBody>
      </p:sp>
      <p:sp>
        <p:nvSpPr>
          <p:cNvPr id="2" name="首批测试对象：会反复修改小工具的人">
            <a:extLst xmlns:a="http://schemas.openxmlformats.org/drawingml/2006/main">
              <a:ext uri="{FF2B5EF4-FFF2-40B4-BE49-F238E27FC236}">
                <a16:creationId xmlns:a16="http://schemas.microsoft.com/office/drawing/2014/main" id="{89693421-705D-4073-9403-6D73D69F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首批测试对象：会反复修改小工具的人</a:t>
            </a:r>
          </a:p>
        </p:txBody>
      </p:sp>
      <p:sp>
        <p:nvSpPr>
          <p:cNvPr id="3" name="优先接触校园组织负责人和学生项目小组，验证持">
            <a:extLst xmlns:a="http://schemas.openxmlformats.org/drawingml/2006/main">
              <a:ext uri="{FF2B5EF4-FFF2-40B4-BE49-F238E27FC236}">
                <a16:creationId xmlns:a16="http://schemas.microsoft.com/office/drawing/2014/main" id="{1BE55E0C-8C61-4D62-96C6-6A58C49D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优先接触校园组织负责人和学生项目小组，验证持续编辑的实际需求。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B4B61-9BEE-4B7C-AD15-A3DD1245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8B014521-ADC8-48E5-B214-3A742CB7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6D276F3D-FB0E-494A-9880-9631B2FE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9">
            <a:extLst xmlns:a="http://schemas.openxmlformats.org/drawingml/2006/main">
              <a:ext uri="{FF2B5EF4-FFF2-40B4-BE49-F238E27FC236}">
                <a16:creationId xmlns:a16="http://schemas.microsoft.com/office/drawing/2014/main" id="{DC50DFDD-9D23-41FE-8D53-1CDAB23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8" name="校园组织负责人">
            <a:extLst xmlns:a="http://schemas.openxmlformats.org/drawingml/2006/main">
              <a:ext uri="{FF2B5EF4-FFF2-40B4-BE49-F238E27FC236}">
                <a16:creationId xmlns:a16="http://schemas.microsoft.com/office/drawing/2014/main" id="{5A01D4EB-9371-46D9-A10D-87389C4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校园组织负责人</a:t>
            </a:r>
          </a:p>
        </p:txBody>
      </p:sp>
      <p:sp>
        <p:nvSpPr>
          <p:cNvPr id="9" name="报名、名单与活动记录。&#10;关注规则变化后是否还">
            <a:extLst xmlns:a="http://schemas.openxmlformats.org/drawingml/2006/main">
              <a:ext uri="{FF2B5EF4-FFF2-40B4-BE49-F238E27FC236}">
                <a16:creationId xmlns:a16="http://schemas.microsoft.com/office/drawing/2014/main" id="{6C65269C-87E5-429E-917D-AD7FF274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报名、名单与活动记录。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关注规则变化后是否还能继续用。</a:t>
            </a:r>
          </a:p>
        </p:txBody>
      </p:sp>
      <p:sp>
        <p:nvSpPr>
          <p:cNvPr id="10" name="学生项目小组与个人">
            <a:extLst xmlns:a="http://schemas.openxmlformats.org/drawingml/2006/main">
              <a:ext uri="{FF2B5EF4-FFF2-40B4-BE49-F238E27FC236}">
                <a16:creationId xmlns:a16="http://schemas.microsoft.com/office/drawing/2014/main" id="{2B54A0D3-0C92-484E-B102-CBB5045B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学生项目小组与个人</a:t>
            </a:r>
          </a:p>
        </p:txBody>
      </p:sp>
      <p:sp>
        <p:nvSpPr>
          <p:cNvPr id="11" name="课程项目、个人记录或专注工具。&#10;关注能否自行">
            <a:extLst xmlns:a="http://schemas.openxmlformats.org/drawingml/2006/main">
              <a:ext uri="{FF2B5EF4-FFF2-40B4-BE49-F238E27FC236}">
                <a16:creationId xmlns:a16="http://schemas.microsoft.com/office/drawing/2014/main" id="{093F75B7-75C1-4D17-8E25-A89515D9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课程项目与个人记录工具。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可信番茄钟已验，仅离线配置。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ECA94-1866-4A5C-9BA2-951CFCC50B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a636295a84fb5"/>
          <a:stretch xmlns:a="http://schemas.openxmlformats.org/drawingml/2006/main"/>
        </p:blipFill>
        <p:spPr>
          <a:xfrm xmlns:a="http://schemas.openxmlformats.org/drawingml/2006/main">
            <a:off x="6248400" y="2390775"/>
            <a:ext cx="5334000" cy="2667000"/>
          </a:xfrm>
          <a:prstGeom xmlns:a="http://schemas.openxmlformats.org/drawingml/2006/main" prst="rect">
            <a:avLst/>
          </a:prstGeom>
        </p:spPr>
      </p:pic>
      <p:sp>
        <p:nvSpPr>
          <p:cNvPr id="13" name="已有 AppSpec 离线原型，不代表客户使">
            <a:extLst xmlns:a="http://schemas.openxmlformats.org/drawingml/2006/main">
              <a:ext uri="{FF2B5EF4-FFF2-40B4-BE49-F238E27FC236}">
                <a16:creationId xmlns:a16="http://schemas.microsoft.com/office/drawing/2014/main" id="{9A10F7E3-698B-49D8-9FC7-28ED4B95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已有 AppSpec 离线原型，不代表客户使用</a:t>
            </a:r>
          </a:p>
        </p:txBody>
      </p:sp>
    </p:spTree>
    <p:extLst>
      <p:ext uri="{BB962C8B-B14F-4D97-AF65-F5344CB8AC3E}">
        <p14:creationId xmlns:p14="http://schemas.microsoft.com/office/powerpoint/2010/main" val="713981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9 官方资料比较与待验证差异">
            <a:extLst xmlns:a="http://schemas.openxmlformats.org/drawingml/2006/main">
              <a:ext uri="{FF2B5EF4-FFF2-40B4-BE49-F238E27FC236}">
                <a16:creationId xmlns:a16="http://schemas.microsoft.com/office/drawing/2014/main" id="{C0527E38-D183-4A0E-AA9D-3F92333A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09 官方资料比较与待验证差异</a:t>
            </a:r>
          </a:p>
        </p:txBody>
      </p:sp>
      <p:sp>
        <p:nvSpPr>
          <p:cNvPr id="2" name="竞争定位：以独立功能作为持续修改单元">
            <a:extLst xmlns:a="http://schemas.openxmlformats.org/drawingml/2006/main">
              <a:ext uri="{FF2B5EF4-FFF2-40B4-BE49-F238E27FC236}">
                <a16:creationId xmlns:a16="http://schemas.microsoft.com/office/drawing/2014/main" id="{789F054B-10B5-48A9-8FAD-A5B0C550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竞争定位：以独立功能作为持续修改单元</a:t>
            </a:r>
          </a:p>
        </p:txBody>
      </p:sp>
      <p:sp>
        <p:nvSpPr>
          <p:cNvPr id="3" name="视觉修改、持续迭代和代码导出已有成熟产品支持">
            <a:extLst xmlns:a="http://schemas.openxmlformats.org/drawingml/2006/main">
              <a:ext uri="{FF2B5EF4-FFF2-40B4-BE49-F238E27FC236}">
                <a16:creationId xmlns:a16="http://schemas.microsoft.com/office/drawing/2014/main" id="{F71070A4-D91D-4F87-99BD-8E5ECCA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视觉修改、持续迭代和代码导出已有成熟产品支持，差异需要真实任务对比。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BF40F-A37C-4FA9-8390-C88C3ABB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6F90D9A7-99A6-4610-9BEE-07F862BB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8D454AB5-4BE5-4AB3-9E40-49D1BD09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10">
            <a:extLst xmlns:a="http://schemas.openxmlformats.org/drawingml/2006/main">
              <a:ext uri="{FF2B5EF4-FFF2-40B4-BE49-F238E27FC236}">
                <a16:creationId xmlns:a16="http://schemas.microsoft.com/office/drawing/2014/main" id="{7F716D29-FF56-4436-B993-EE7DD030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291B9-960D-49F3-A0CC-BF51701AD006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95425"/>
                <a:gridCol w="2752725"/>
                <a:gridCol w="2752725"/>
                <a:gridCol w="3971925"/>
              </a:tblGrid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T w="9525">
                      <a:solidFill>
                        <a:srgbClr val="EFE4D8"/>
                      </a:solidFill>
                      <a:prstDash val="solid"/>
                    </a:lnT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30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Lovable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T w="9525">
                      <a:solidFill>
                        <a:srgbClr val="EFE4D8"/>
                      </a:solidFill>
                      <a:prstDash val="solid"/>
                    </a:lnT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30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Bubble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T w="9525">
                      <a:solidFill>
                        <a:srgbClr val="EFE4D8"/>
                      </a:solidFill>
                      <a:prstDash val="solid"/>
                    </a:lnT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30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BlockCraft AI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T w="9525">
                      <a:solidFill>
                        <a:srgbClr val="EFE4D8"/>
                      </a:solidFill>
                      <a:prstDash val="solid"/>
                    </a:lnT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302B2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创造单元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自然语言生成应用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支持代码编辑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页面、工作流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插件与 API 扩展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现有 AppSpec；目标由 AI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编写新 React/TSX 积木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选中目标修改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选中页面元素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提示或视觉修改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在编辑器中修改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元素与工作流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目标：选中功能积木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经 Mochi 确认局部改写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持续迭代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对话、视觉及代码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继续修改项目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持续编辑应用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与业务逻辑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Engine/CAS 与 B/C 外观已接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正式 AI Provider 尚未启用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项目导出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GitHub 同步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及源码导出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支持数据导出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不提供应用源码导出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受支持本机 CRUD 导出已验</a:t>
                      </a:r>
                    </a:p>
                    <a:p>
                      <a:r>
                        <a:rPr sz="1575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外观保真 P1，公网待验收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</a:tr>
            </a:tbl>
          </a:graphicData>
        </a:graphic>
      </p:graphicFrame>
      <p:sp>
        <p:nvSpPr>
          <p:cNvPr id="9" name="待证明：功能积木能否让普通用户更清楚地表达修">
            <a:extLst xmlns:a="http://schemas.openxmlformats.org/drawingml/2006/main">
              <a:ext uri="{FF2B5EF4-FFF2-40B4-BE49-F238E27FC236}">
                <a16:creationId xmlns:a16="http://schemas.microsoft.com/office/drawing/2014/main" id="{3B5674B9-DCA6-445A-9333-79516FF7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待证明：功能积木能否让普通用户更清楚地表达修改范围，并持续完成真实任务。</a:t>
            </a:r>
          </a:p>
        </p:txBody>
      </p:sp>
    </p:spTree>
    <p:extLst>
      <p:ext uri="{BB962C8B-B14F-4D97-AF65-F5344CB8AC3E}">
        <p14:creationId xmlns:p14="http://schemas.microsoft.com/office/powerpoint/2010/main" val="1853106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10 待测试的商业假设">
            <a:extLst xmlns:a="http://schemas.openxmlformats.org/drawingml/2006/main">
              <a:ext uri="{FF2B5EF4-FFF2-40B4-BE49-F238E27FC236}">
                <a16:creationId xmlns:a16="http://schemas.microsoft.com/office/drawing/2014/main" id="{E36C4CA5-BB64-4FDD-96B9-AD554785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10 待测试的商业假设</a:t>
            </a:r>
          </a:p>
        </p:txBody>
      </p:sp>
      <p:sp>
        <p:nvSpPr>
          <p:cNvPr id="2" name="商业模式：为持续创造与维护付费">
            <a:extLst xmlns:a="http://schemas.openxmlformats.org/drawingml/2006/main">
              <a:ext uri="{FF2B5EF4-FFF2-40B4-BE49-F238E27FC236}">
                <a16:creationId xmlns:a16="http://schemas.microsoft.com/office/drawing/2014/main" id="{871D8FC5-E0CD-470D-813C-9A755550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商业模式：为持续创造与维护付费</a:t>
            </a:r>
          </a:p>
        </p:txBody>
      </p:sp>
      <p:sp>
        <p:nvSpPr>
          <p:cNvPr id="3" name="主要付费价值：持续生成、局部修改、运行预览，">
            <a:extLst xmlns:a="http://schemas.openxmlformats.org/drawingml/2006/main">
              <a:ext uri="{FF2B5EF4-FFF2-40B4-BE49-F238E27FC236}">
                <a16:creationId xmlns:a16="http://schemas.microsoft.com/office/drawing/2014/main" id="{329890F9-F73F-424A-A110-1326571F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付费价值假设：持续生成、局部修改、预览、受支持的项目导出与维护。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1CE8E-01D6-4D27-AE1E-C2E411F0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83917DD4-459B-458A-ABA6-6603F808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28681253-923A-438C-BF8F-919BA8F0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11">
            <a:extLst xmlns:a="http://schemas.openxmlformats.org/drawingml/2006/main">
              <a:ext uri="{FF2B5EF4-FFF2-40B4-BE49-F238E27FC236}">
                <a16:creationId xmlns:a16="http://schemas.microsoft.com/office/drawing/2014/main" id="{554A00A5-FD2B-43F4-9083-762C7AA1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免费基础额度 + 额外 AI 能力">
            <a:extLst xmlns:a="http://schemas.openxmlformats.org/drawingml/2006/main">
              <a:ext uri="{FF2B5EF4-FFF2-40B4-BE49-F238E27FC236}">
                <a16:creationId xmlns:a16="http://schemas.microsoft.com/office/drawing/2014/main" id="{F5836612-081E-46C8-AB93-21B2D141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免费基础额度 + 额外 AI 能力</a:t>
            </a:r>
          </a:p>
        </p:txBody>
      </p:sp>
      <p:sp>
        <p:nvSpPr>
          <p:cNvPr id="9" name="订阅测试价：¥19–49 / 月">
            <a:extLst xmlns:a="http://schemas.openxmlformats.org/drawingml/2006/main">
              <a:ext uri="{FF2B5EF4-FFF2-40B4-BE49-F238E27FC236}">
                <a16:creationId xmlns:a16="http://schemas.microsoft.com/office/drawing/2014/main" id="{2DD47355-6AD9-407D-B156-2C31350A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访谈测试区间：¥19–49 / 月</a:t>
            </a:r>
          </a:p>
        </p:txBody>
      </p:sp>
      <p:sp>
        <p:nvSpPr>
          <p:cNvPr id="10" name="或按量购买额外生成能力。&#10;额度须按成功率与真">
            <a:extLst xmlns:a="http://schemas.openxmlformats.org/drawingml/2006/main">
              <a:ext uri="{FF2B5EF4-FFF2-40B4-BE49-F238E27FC236}">
                <a16:creationId xmlns:a16="http://schemas.microsoft.com/office/drawing/2014/main" id="{FF2C7277-3515-43FC-A130-E361CC5F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23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非实际定价或付费结果。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额度须按成功率与真实成本测算。</a:t>
            </a:r>
          </a:p>
        </p:txBody>
      </p:sp>
      <p:sp>
        <p:nvSpPr>
          <p:cNvPr id="11" name="教学与工作坊服务">
            <a:extLst xmlns:a="http://schemas.openxmlformats.org/drawingml/2006/main">
              <a:ext uri="{FF2B5EF4-FFF2-40B4-BE49-F238E27FC236}">
                <a16:creationId xmlns:a16="http://schemas.microsoft.com/office/drawing/2014/main" id="{6DCA833D-4C56-4F43-AB46-6A945CB1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教学与工作坊服务</a:t>
            </a:r>
          </a:p>
        </p:txBody>
      </p:sp>
      <p:sp>
        <p:nvSpPr>
          <p:cNvPr id="12" name="后续候选：团队套餐、积木市场。">
            <a:extLst xmlns:a="http://schemas.openxmlformats.org/drawingml/2006/main">
              <a:ext uri="{FF2B5EF4-FFF2-40B4-BE49-F238E27FC236}">
                <a16:creationId xmlns:a16="http://schemas.microsoft.com/office/drawing/2014/main" id="{09AABAFD-556B-4AB3-8ADF-FC153BF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后续候选：团队套餐、积木市场。</a:t>
            </a:r>
          </a:p>
        </p:txBody>
      </p:sp>
      <p:sp>
        <p:nvSpPr>
          <p:cNvPr id="13" name="每个成功项目的综合成本">
            <a:extLst xmlns:a="http://schemas.openxmlformats.org/drawingml/2006/main">
              <a:ext uri="{FF2B5EF4-FFF2-40B4-BE49-F238E27FC236}">
                <a16:creationId xmlns:a16="http://schemas.microsoft.com/office/drawing/2014/main" id="{C7849421-745A-43C1-9317-B8FDE47F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193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每个成功项目的综合成本</a:t>
            </a:r>
          </a:p>
        </p:txBody>
      </p:sp>
      <p:sp>
        <p:nvSpPr>
          <p:cNvPr id="14" name="模型 token + 隔离构建与运行&#10;+ 存">
            <a:extLst xmlns:a="http://schemas.openxmlformats.org/drawingml/2006/main">
              <a:ext uri="{FF2B5EF4-FFF2-40B4-BE49-F238E27FC236}">
                <a16:creationId xmlns:a16="http://schemas.microsoft.com/office/drawing/2014/main" id="{F011EB0C-6FA3-45F0-8717-0306A6E2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模型 token + 隔离构建与运行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+ 存储流量 + 技术支持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A50C8-97D7-4120-927E-ED7E2D31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481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16" name="全部试点成本 ÷ 成功项目数&#10;计入失败、重试">
            <a:extLst xmlns:a="http://schemas.openxmlformats.org/drawingml/2006/main">
              <a:ext uri="{FF2B5EF4-FFF2-40B4-BE49-F238E27FC236}">
                <a16:creationId xmlns:a16="http://schemas.microsoft.com/office/drawing/2014/main" id="{DFE6F586-FBC7-4C7B-A35F-A8E33BE2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全部试点成本 ÷ 成功项目数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计入失败、重试与后续修改成本。</a:t>
            </a:r>
          </a:p>
        </p:txBody>
      </p:sp>
      <p:sp>
        <p:nvSpPr>
          <p:cNvPr id="17" name="验证：使用与修改能否留存，&#10;付费意愿能否覆盖">
            <a:extLst xmlns:a="http://schemas.openxmlformats.org/drawingml/2006/main">
              <a:ext uri="{FF2B5EF4-FFF2-40B4-BE49-F238E27FC236}">
                <a16:creationId xmlns:a16="http://schemas.microsoft.com/office/drawing/2014/main" id="{F9509ACD-FACD-456D-A952-DBBA7E1B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197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验证：使用与修改能否留存，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付费意愿能否覆盖成本。</a:t>
            </a:r>
          </a:p>
        </p:txBody>
      </p:sp>
    </p:spTree>
    <p:extLst>
      <p:ext uri="{BB962C8B-B14F-4D97-AF65-F5344CB8AC3E}">
        <p14:creationId xmlns:p14="http://schemas.microsoft.com/office/powerpoint/2010/main" val="3382214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11 拟议的两周验证方案">
            <a:extLst xmlns:a="http://schemas.openxmlformats.org/drawingml/2006/main">
              <a:ext uri="{FF2B5EF4-FFF2-40B4-BE49-F238E27FC236}">
                <a16:creationId xmlns:a16="http://schemas.microsoft.com/office/drawing/2014/main" id="{9C55E702-396F-4308-AA4A-7F864A4C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11 拟议的两周验证方案</a:t>
            </a:r>
          </a:p>
        </p:txBody>
      </p:sp>
      <p:sp>
        <p:nvSpPr>
          <p:cNvPr id="2" name="校园试点：观察一次真实需求变化">
            <a:extLst xmlns:a="http://schemas.openxmlformats.org/drawingml/2006/main">
              <a:ext uri="{FF2B5EF4-FFF2-40B4-BE49-F238E27FC236}">
                <a16:creationId xmlns:a16="http://schemas.microsoft.com/office/drawing/2014/main" id="{2B37FA8E-C7AD-4EEC-99DD-F14322D9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校园试点：观察一次真实需求变化</a:t>
            </a:r>
          </a:p>
        </p:txBody>
      </p:sp>
      <p:sp>
        <p:nvSpPr>
          <p:cNvPr id="3" name="拟招募 6–10 位组织者或学生，以实际任务">
            <a:extLst xmlns:a="http://schemas.openxmlformats.org/drawingml/2006/main">
              <a:ext uri="{FF2B5EF4-FFF2-40B4-BE49-F238E27FC236}">
                <a16:creationId xmlns:a16="http://schemas.microsoft.com/office/drawing/2014/main" id="{A63A454E-C9CD-46B7-B3B4-BA129A5C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拟招募 6–10 位组织者或学生，以实际任务验证持续使用，再决定推广范围。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D76EE-B9F3-4C8A-ABA2-B94EA4A9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29A7483F-95E6-4B63-9339-3E3429FA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98DF94BF-A4A8-46FC-BA34-A17D04DB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12">
            <a:extLst xmlns:a="http://schemas.openxmlformats.org/drawingml/2006/main">
              <a:ext uri="{FF2B5EF4-FFF2-40B4-BE49-F238E27FC236}">
                <a16:creationId xmlns:a16="http://schemas.microsoft.com/office/drawing/2014/main" id="{4A1AF925-F82E-4540-9252-D5760DBA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第1–2天">
            <a:extLst xmlns:a="http://schemas.openxmlformats.org/drawingml/2006/main">
              <a:ext uri="{FF2B5EF4-FFF2-40B4-BE49-F238E27FC236}">
                <a16:creationId xmlns:a16="http://schemas.microsoft.com/office/drawing/2014/main" id="{F6943C12-C861-4E19-BEFE-6730B916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543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第1–2天</a:t>
            </a:r>
          </a:p>
        </p:txBody>
      </p:sp>
      <p:sp>
        <p:nvSpPr>
          <p:cNvPr id="9" name="招募与定义任务">
            <a:extLst xmlns:a="http://schemas.openxmlformats.org/drawingml/2006/main">
              <a:ext uri="{FF2B5EF4-FFF2-40B4-BE49-F238E27FC236}">
                <a16:creationId xmlns:a16="http://schemas.microsoft.com/office/drawing/2014/main" id="{B7BF503C-542A-4C78-ACCC-8B490CA9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招募与定义任务</a:t>
            </a:r>
          </a:p>
        </p:txBody>
      </p:sp>
      <p:sp>
        <p:nvSpPr>
          <p:cNvPr id="10" name="校园社群邀请&#10;记录现用流程&#10;定义必须功能">
            <a:extLst xmlns:a="http://schemas.openxmlformats.org/drawingml/2006/main">
              <a:ext uri="{FF2B5EF4-FFF2-40B4-BE49-F238E27FC236}">
                <a16:creationId xmlns:a16="http://schemas.microsoft.com/office/drawing/2014/main" id="{181F9A74-FB50-4932-AAB2-4DCD13DE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2543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校园社群邀请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记录现用流程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定义必须功能</a:t>
            </a:r>
          </a:p>
        </p:txBody>
      </p:sp>
      <p:sp>
        <p:nvSpPr>
          <p:cNvPr id="11" name="第3–5天">
            <a:extLst xmlns:a="http://schemas.openxmlformats.org/drawingml/2006/main">
              <a:ext uri="{FF2B5EF4-FFF2-40B4-BE49-F238E27FC236}">
                <a16:creationId xmlns:a16="http://schemas.microsoft.com/office/drawing/2014/main" id="{CA435328-847E-4DB0-8077-B112649D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66950"/>
            <a:ext cx="2543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第3–5天</a:t>
            </a:r>
          </a:p>
        </p:txBody>
      </p:sp>
      <p:sp>
        <p:nvSpPr>
          <p:cNvPr id="12" name="完成首个项目">
            <a:extLst xmlns:a="http://schemas.openxmlformats.org/drawingml/2006/main">
              <a:ext uri="{FF2B5EF4-FFF2-40B4-BE49-F238E27FC236}">
                <a16:creationId xmlns:a16="http://schemas.microsoft.com/office/drawing/2014/main" id="{6868026B-2D92-48CF-8823-3D00E83E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47975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完成首个项目</a:t>
            </a:r>
          </a:p>
        </p:txBody>
      </p:sp>
      <p:sp>
        <p:nvSpPr>
          <p:cNvPr id="13" name="使用已验 AppSpec&#10;记录任务完成情况&#10;">
            <a:extLst xmlns:a="http://schemas.openxmlformats.org/drawingml/2006/main">
              <a:ext uri="{FF2B5EF4-FFF2-40B4-BE49-F238E27FC236}">
                <a16:creationId xmlns:a16="http://schemas.microsoft.com/office/drawing/2014/main" id="{68A6CC07-19B7-448E-A808-BB106BF9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14725"/>
            <a:ext cx="2543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使用已验 AppSpec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记录任务完成情况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归因失败</a:t>
            </a:r>
          </a:p>
        </p:txBody>
      </p:sp>
      <p:sp>
        <p:nvSpPr>
          <p:cNvPr id="14" name="第6–10天">
            <a:extLst xmlns:a="http://schemas.openxmlformats.org/drawingml/2006/main">
              <a:ext uri="{FF2B5EF4-FFF2-40B4-BE49-F238E27FC236}">
                <a16:creationId xmlns:a16="http://schemas.microsoft.com/office/drawing/2014/main" id="{94359CFA-9173-4473-8AED-DC762E55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2543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第6–10天</a:t>
            </a:r>
          </a:p>
        </p:txBody>
      </p:sp>
      <p:sp>
        <p:nvSpPr>
          <p:cNvPr id="15" name="返回修改与继续用">
            <a:extLst xmlns:a="http://schemas.openxmlformats.org/drawingml/2006/main">
              <a:ext uri="{FF2B5EF4-FFF2-40B4-BE49-F238E27FC236}">
                <a16:creationId xmlns:a16="http://schemas.microsoft.com/office/drawing/2014/main" id="{26756F0C-F522-4811-8E42-88AF8C45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47975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返回修改与继续用</a:t>
            </a:r>
          </a:p>
        </p:txBody>
      </p:sp>
      <p:sp>
        <p:nvSpPr>
          <p:cNvPr id="16" name="提出一次真实变化&#10;观察修改是否成功&#10;记录7天">
            <a:extLst xmlns:a="http://schemas.openxmlformats.org/drawingml/2006/main">
              <a:ext uri="{FF2B5EF4-FFF2-40B4-BE49-F238E27FC236}">
                <a16:creationId xmlns:a16="http://schemas.microsoft.com/office/drawing/2014/main" id="{B1C46E2F-6D1E-4C51-8919-B29132FD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14725"/>
            <a:ext cx="2543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提出一次真实变化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观察修改是否成功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记录7天内再次使用</a:t>
            </a:r>
          </a:p>
        </p:txBody>
      </p:sp>
      <p:sp>
        <p:nvSpPr>
          <p:cNvPr id="17" name="第11–14天">
            <a:extLst xmlns:a="http://schemas.openxmlformats.org/drawingml/2006/main">
              <a:ext uri="{FF2B5EF4-FFF2-40B4-BE49-F238E27FC236}">
                <a16:creationId xmlns:a16="http://schemas.microsoft.com/office/drawing/2014/main" id="{1291409B-F035-4DBF-8F38-A2294192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66950"/>
            <a:ext cx="2543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第11–14天</a:t>
            </a:r>
          </a:p>
        </p:txBody>
      </p:sp>
      <p:sp>
        <p:nvSpPr>
          <p:cNvPr id="18" name="回访与价格测试">
            <a:extLst xmlns:a="http://schemas.openxmlformats.org/drawingml/2006/main">
              <a:ext uri="{FF2B5EF4-FFF2-40B4-BE49-F238E27FC236}">
                <a16:creationId xmlns:a16="http://schemas.microsoft.com/office/drawing/2014/main" id="{8BF1C5E2-E8F7-4467-A070-92FFBB0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47975"/>
            <a:ext cx="2543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回访与价格测试</a:t>
            </a:r>
          </a:p>
        </p:txBody>
      </p:sp>
      <p:sp>
        <p:nvSpPr>
          <p:cNvPr id="19" name="访谈愿意付费的功能&#10;比较候选测试价格&#10;核算成">
            <a:extLst xmlns:a="http://schemas.openxmlformats.org/drawingml/2006/main">
              <a:ext uri="{FF2B5EF4-FFF2-40B4-BE49-F238E27FC236}">
                <a16:creationId xmlns:a16="http://schemas.microsoft.com/office/drawing/2014/main" id="{4E5B07F3-EE10-44DA-AAAB-6077E2AD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14725"/>
            <a:ext cx="2543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访谈愿意付费的功能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比较候选测试价格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核算成功项目成本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15809-20A6-4B5A-A83C-BE79F557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21" name="核心验证指标">
            <a:extLst xmlns:a="http://schemas.openxmlformats.org/drawingml/2006/main">
              <a:ext uri="{FF2B5EF4-FFF2-40B4-BE49-F238E27FC236}">
                <a16:creationId xmlns:a16="http://schemas.microsoft.com/office/drawing/2014/main" id="{F632BFB2-B1D8-49F8-B0FE-D2D4D5B4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核心验证指标</a:t>
            </a:r>
          </a:p>
        </p:txBody>
      </p:sp>
      <p:sp>
        <p:nvSpPr>
          <p:cNvPr id="22" name="真实任务完成率、修改成功率、重复使用率&#10;每个">
            <a:extLst xmlns:a="http://schemas.openxmlformats.org/drawingml/2006/main">
              <a:ext uri="{FF2B5EF4-FFF2-40B4-BE49-F238E27FC236}">
                <a16:creationId xmlns:a16="http://schemas.microsoft.com/office/drawing/2014/main" id="{4BFBDF5B-27D7-46B1-85B5-70B10FDB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67325"/>
            <a:ext cx="8286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真实任务完成率、修改成功率、重复使用率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每个成功项目的综合成本、付费意愿</a:t>
            </a:r>
          </a:p>
        </p:txBody>
      </p:sp>
    </p:spTree>
    <p:extLst>
      <p:ext uri="{BB962C8B-B14F-4D97-AF65-F5344CB8AC3E}">
        <p14:creationId xmlns:p14="http://schemas.microsoft.com/office/powerpoint/2010/main" val="1385996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2 以可验证的结果推进">
            <a:extLst xmlns:a="http://schemas.openxmlformats.org/drawingml/2006/main">
              <a:ext uri="{FF2B5EF4-FFF2-40B4-BE49-F238E27FC236}">
                <a16:creationId xmlns:a16="http://schemas.microsoft.com/office/drawing/2014/main" id="{EEC51CBF-0421-4F28-A6F9-4140E3C2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12 以可验证的结果推进</a:t>
            </a:r>
          </a:p>
        </p:txBody>
      </p:sp>
      <p:sp>
        <p:nvSpPr>
          <p:cNvPr id="2" name="产品路线图与验收里程碑">
            <a:extLst xmlns:a="http://schemas.openxmlformats.org/drawingml/2006/main">
              <a:ext uri="{FF2B5EF4-FFF2-40B4-BE49-F238E27FC236}">
                <a16:creationId xmlns:a16="http://schemas.microsoft.com/office/drawing/2014/main" id="{AECE8C69-D2E2-430F-9EC8-0AC2AF27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产品路线图与验收里程碑</a:t>
            </a:r>
          </a:p>
        </p:txBody>
      </p:sp>
      <p:sp>
        <p:nvSpPr>
          <p:cNvPr id="3" name="10 月 20 日前先确认材料与演示边界，后">
            <a:extLst xmlns:a="http://schemas.openxmlformats.org/drawingml/2006/main">
              <a:ext uri="{FF2B5EF4-FFF2-40B4-BE49-F238E27FC236}">
                <a16:creationId xmlns:a16="http://schemas.microsoft.com/office/drawing/2014/main" id="{68C96EC4-6A6F-4810-8755-5C48EE6A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10 月 19 日冻结材料；正式 AI、ZIP 外观与魔塔部署分别验收。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5145C-0EB7-48AB-943E-65BB487E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FD23E817-4FC0-4859-8A0C-E0BE9F4F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21BA29D9-C267-49CF-B952-0CB79C1F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13">
            <a:extLst xmlns:a="http://schemas.openxmlformats.org/drawingml/2006/main">
              <a:ext uri="{FF2B5EF4-FFF2-40B4-BE49-F238E27FC236}">
                <a16:creationId xmlns:a16="http://schemas.microsoft.com/office/drawing/2014/main" id="{6B3FB7BD-FDD4-4FEA-8FDA-D78437E1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2A8D9-6823-4FE3-8F50-1458409797D8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52600"/>
                <a:gridCol w="4572000"/>
                <a:gridCol w="4648200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T w="9525">
                      <a:solidFill>
                        <a:srgbClr val="EFE4D8"/>
                      </a:solidFill>
                      <a:prstDash val="solid"/>
                    </a:lnT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30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交付重点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T w="9525">
                      <a:solidFill>
                        <a:srgbClr val="EFE4D8"/>
                      </a:solidFill>
                      <a:prstDash val="solid"/>
                    </a:lnT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302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通过标准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T w="9525">
                      <a:solidFill>
                        <a:srgbClr val="EFE4D8"/>
                      </a:solidFill>
                      <a:prstDash val="solid"/>
                    </a:lnT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302B2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月 19 日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冻结 B 版 Demo、录屏与 BP</a:t>
                      </a:r>
                    </a:p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官方格式和提交入口待确认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同版实际 CRUD、B/C 回归</a:t>
                      </a:r>
                    </a:p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材料口径一致，Tech Lead 审核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Mochi 启用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#49/#52 基础已合并，Provider 禁用</a:t>
                      </a:r>
                    </a:p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#54 Mock QA 通过，尚未合并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真实授权租约、预算与正式接线</a:t>
                      </a:r>
                    </a:p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同版浏览器验收后再决定启用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修改与导出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React ZIP CRUD 已有独立验收</a:t>
                      </a:r>
                    </a:p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补文案、颜色、圆角导出保真 P1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实际导出工程构建与交互复现</a:t>
                      </a:r>
                    </a:p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外观逐项对照，不泛化支持范围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FFB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公开与试点</a:t>
                      </a:r>
                    </a:p>
                  </a:txBody>
                  <a:tcPr marL="142875" marR="142875" marT="104775" marB="95250" anchor="ctr">
                    <a:lnL w="9525">
                      <a:solidFill>
                        <a:srgbClr val="EFE4D8"/>
                      </a:solidFill>
                      <a:prstDash val="solid"/>
                    </a:lnL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 基础 GO；魔塔链接待确认</a:t>
                      </a:r>
                    </a:p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 AI 生成与公开演示待验收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HTTPS、访问权限与平台回归</a:t>
                      </a:r>
                    </a:p>
                    <a:p>
                      <a:r>
                        <a:rPr sz="1650">
                          <a:solidFill>
                            <a:srgbClr val="302B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核实模型来源、成本及失败保护</a:t>
                      </a:r>
                    </a:p>
                  </a:txBody>
                  <a:tcPr marL="142875" marR="142875" marT="104775" marB="95250" anchor="ctr">
                    <a:lnR w="9525">
                      <a:solidFill>
                        <a:srgbClr val="EFE4D8"/>
                      </a:solidFill>
                      <a:prstDash val="solid"/>
                    </a:lnR>
                    <a:lnB w="9525">
                      <a:solidFill>
                        <a:srgbClr val="EFE4D8"/>
                      </a:solidFill>
                      <a:prstDash val="solid"/>
                    </a:lnB>
                    <a:solidFill>
                      <a:srgbClr val="F5EEE6"/>
                    </a:solidFill>
                  </a:tcPr>
                </a:tc>
              </a:tr>
            </a:tbl>
          </a:graphicData>
        </a:graphic>
      </p:graphicFrame>
      <p:sp>
        <p:nvSpPr>
          <p:cNvPr id="9" name="后续里程碑为研发计划，未承诺在初赛前完成。公">
            <a:extLst xmlns:a="http://schemas.openxmlformats.org/drawingml/2006/main">
              <a:ext uri="{FF2B5EF4-FFF2-40B4-BE49-F238E27FC236}">
                <a16:creationId xmlns:a16="http://schemas.microsoft.com/office/drawing/2014/main" id="{0E455609-5BB5-470A-AA36-6BE6EBB5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任意 TSX 隔离 Spike 仍为 NO-GO；源码改写与公开产品闭环属于后续目标。</a:t>
            </a:r>
          </a:p>
        </p:txBody>
      </p:sp>
    </p:spTree>
    <p:extLst>
      <p:ext uri="{BB962C8B-B14F-4D97-AF65-F5344CB8AC3E}">
        <p14:creationId xmlns:p14="http://schemas.microsoft.com/office/powerpoint/2010/main" val="2250629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13 已确认成员分工">
            <a:extLst xmlns:a="http://schemas.openxmlformats.org/drawingml/2006/main">
              <a:ext uri="{FF2B5EF4-FFF2-40B4-BE49-F238E27FC236}">
                <a16:creationId xmlns:a16="http://schemas.microsoft.com/office/drawing/2014/main" id="{F837ABA8-1A0B-4DE2-B0C6-2913CF4A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13 已确认成员分工</a:t>
            </a:r>
          </a:p>
        </p:txBody>
      </p:sp>
      <p:sp>
        <p:nvSpPr>
          <p:cNvPr id="2" name="五人协作，完成从创作到交付的产品">
            <a:extLst xmlns:a="http://schemas.openxmlformats.org/drawingml/2006/main">
              <a:ext uri="{FF2B5EF4-FFF2-40B4-BE49-F238E27FC236}">
                <a16:creationId xmlns:a16="http://schemas.microsoft.com/office/drawing/2014/main" id="{B593211B-8B47-45E8-8CD0-36993500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五人协作，完成从创作到交付的产品</a:t>
            </a:r>
          </a:p>
        </p:txBody>
      </p:sp>
      <p:sp>
        <p:nvSpPr>
          <p:cNvPr id="3" name="架构统筹衔接 B 模式、Mochi、C 模式">
            <a:extLst xmlns:a="http://schemas.openxmlformats.org/drawingml/2006/main">
              <a:ext uri="{FF2B5EF4-FFF2-40B4-BE49-F238E27FC236}">
                <a16:creationId xmlns:a16="http://schemas.microsoft.com/office/drawing/2014/main" id="{80D89C32-A650-4800-B44F-72FA64F2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架构统筹衔接 B 模式、Mochi、C 模式与工程部署，以共同验收保证完整体验。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EB8B2-E901-428D-8FBD-3B86FF4A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01F1C89C-D4CB-4F45-A83B-EE9D160B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1A156A19-4F31-4FAF-BB56-8FC438DF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14">
            <a:extLst xmlns:a="http://schemas.openxmlformats.org/drawingml/2006/main">
              <a:ext uri="{FF2B5EF4-FFF2-40B4-BE49-F238E27FC236}">
                <a16:creationId xmlns:a16="http://schemas.microsoft.com/office/drawing/2014/main" id="{9D24D46D-4D29-4C65-9AA5-D686DC94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E14DE-D73B-4360-ADC0-4E8C50C9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20574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18E80-CC5E-48B8-8C80-5C18CEAC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BC"/>
          </a:solidFill>
          <a:ln xmlns:a="http://schemas.openxmlformats.org/drawingml/2006/main" w="0">
            <a:noFill/>
          </a:ln>
        </p:spPr>
      </p:sp>
      <p:sp>
        <p:nvSpPr>
          <p:cNvPr id="10" name="刘东媛">
            <a:extLst xmlns:a="http://schemas.openxmlformats.org/drawingml/2006/main">
              <a:ext uri="{FF2B5EF4-FFF2-40B4-BE49-F238E27FC236}">
                <a16:creationId xmlns:a16="http://schemas.microsoft.com/office/drawing/2014/main" id="{096C6CA2-545E-458F-BF1D-2DC0E5BD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刘东媛</a:t>
            </a:r>
          </a:p>
        </p:txBody>
      </p:sp>
      <p:sp>
        <p:nvSpPr>
          <p:cNvPr id="11" name="队长 / Tech Lead">
            <a:extLst xmlns:a="http://schemas.openxmlformats.org/drawingml/2006/main">
              <a:ext uri="{FF2B5EF4-FFF2-40B4-BE49-F238E27FC236}">
                <a16:creationId xmlns:a16="http://schemas.microsoft.com/office/drawing/2014/main" id="{22EC50A4-3B8C-4C05-8177-2AB6AE78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队长 / Tech Lead</a:t>
            </a:r>
          </a:p>
        </p:txBody>
      </p:sp>
      <p:sp>
        <p:nvSpPr>
          <p:cNvPr id="12" name="架构、集成与决策&#10;接口边界与安全验收&#10;研发协">
            <a:extLst xmlns:a="http://schemas.openxmlformats.org/drawingml/2006/main">
              <a:ext uri="{FF2B5EF4-FFF2-40B4-BE49-F238E27FC236}">
                <a16:creationId xmlns:a16="http://schemas.microsoft.com/office/drawing/2014/main" id="{A48939AF-8CDC-4EE3-8BAF-D0BEA5FB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752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架构、集成与决策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接口边界与安全验收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研发协调与 PR 审核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Demo 交付确认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B336B-0604-435E-91C4-3137002B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19325"/>
            <a:ext cx="20574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C24B9-A5E5-45EB-A6DB-0F8A15A7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19325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F2"/>
          </a:solidFill>
          <a:ln xmlns:a="http://schemas.openxmlformats.org/drawingml/2006/main" w="0">
            <a:noFill/>
          </a:ln>
        </p:spPr>
      </p:sp>
      <p:sp>
        <p:nvSpPr>
          <p:cNvPr id="15" name="王致远">
            <a:extLst xmlns:a="http://schemas.openxmlformats.org/drawingml/2006/main">
              <a:ext uri="{FF2B5EF4-FFF2-40B4-BE49-F238E27FC236}">
                <a16:creationId xmlns:a16="http://schemas.microsoft.com/office/drawing/2014/main" id="{495A72D9-4E9A-41E5-AB9C-BF65E2CE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43175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王致远</a:t>
            </a:r>
          </a:p>
        </p:txBody>
      </p:sp>
      <p:sp>
        <p:nvSpPr>
          <p:cNvPr id="16" name="B 模式负责人">
            <a:extLst xmlns:a="http://schemas.openxmlformats.org/drawingml/2006/main">
              <a:ext uri="{FF2B5EF4-FFF2-40B4-BE49-F238E27FC236}">
                <a16:creationId xmlns:a16="http://schemas.microsoft.com/office/drawing/2014/main" id="{01FF3E4B-F277-43B8-9254-73FA116E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57525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B 模式负责人</a:t>
            </a:r>
          </a:p>
        </p:txBody>
      </p:sp>
      <p:sp>
        <p:nvSpPr>
          <p:cNvPr id="17" name="选择、拖动与排列&#10;Inspector 参数配">
            <a:extLst xmlns:a="http://schemas.openxmlformats.org/drawingml/2006/main">
              <a:ext uri="{FF2B5EF4-FFF2-40B4-BE49-F238E27FC236}">
                <a16:creationId xmlns:a16="http://schemas.microsoft.com/office/drawing/2014/main" id="{774DC586-ED98-4C41-8598-BC192DC7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57625"/>
            <a:ext cx="1752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选择、拖动与排列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Inspector 参数配置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积木版本编辑体验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共享项目状态协作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FE0B3-5A37-4057-A5AB-FB6D914D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19325"/>
            <a:ext cx="20574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5D4EE-0D09-4513-AB88-A28ECD6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19325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BCE"/>
          </a:solidFill>
          <a:ln xmlns:a="http://schemas.openxmlformats.org/drawingml/2006/main" w="0">
            <a:noFill/>
          </a:ln>
        </p:spPr>
      </p:sp>
      <p:sp>
        <p:nvSpPr>
          <p:cNvPr id="20" name="干陆烃芸">
            <a:extLst xmlns:a="http://schemas.openxmlformats.org/drawingml/2006/main">
              <a:ext uri="{FF2B5EF4-FFF2-40B4-BE49-F238E27FC236}">
                <a16:creationId xmlns:a16="http://schemas.microsoft.com/office/drawing/2014/main" id="{F9B53054-101B-45C1-949E-F6D3D7F9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43175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干陆烃芸</a:t>
            </a:r>
          </a:p>
        </p:txBody>
      </p:sp>
      <p:sp>
        <p:nvSpPr>
          <p:cNvPr id="21" name="Mochi 负责人">
            <a:extLst xmlns:a="http://schemas.openxmlformats.org/drawingml/2006/main">
              <a:ext uri="{FF2B5EF4-FFF2-40B4-BE49-F238E27FC236}">
                <a16:creationId xmlns:a16="http://schemas.microsoft.com/office/drawing/2014/main" id="{55EE0715-59EF-4245-981D-A2823334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Mochi 负责人</a:t>
            </a:r>
          </a:p>
        </p:txBody>
      </p:sp>
      <p:sp>
        <p:nvSpPr>
          <p:cNvPr id="22" name="像素猫动画与反馈&#10;选中积木后的对话&#10;修改方案">
            <a:extLst xmlns:a="http://schemas.openxmlformats.org/drawingml/2006/main">
              <a:ext uri="{FF2B5EF4-FFF2-40B4-BE49-F238E27FC236}">
                <a16:creationId xmlns:a16="http://schemas.microsoft.com/office/drawing/2014/main" id="{A361998D-8EA2-41C6-84E2-613E78C7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57625"/>
            <a:ext cx="1752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像素猫动画与反馈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选中积木后的对话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修改方案与用户确认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Host 与 AI 集成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17637-A561-42FD-B55E-E4A55C5F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19325"/>
            <a:ext cx="20574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3A453-BA32-4BBF-9785-DCC947C6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19325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BC"/>
          </a:solidFill>
          <a:ln xmlns:a="http://schemas.openxmlformats.org/drawingml/2006/main" w="0">
            <a:noFill/>
          </a:ln>
        </p:spPr>
      </p:sp>
      <p:sp>
        <p:nvSpPr>
          <p:cNvPr id="25" name="金运梓">
            <a:extLst xmlns:a="http://schemas.openxmlformats.org/drawingml/2006/main">
              <a:ext uri="{FF2B5EF4-FFF2-40B4-BE49-F238E27FC236}">
                <a16:creationId xmlns:a16="http://schemas.microsoft.com/office/drawing/2014/main" id="{DBE8C323-ED66-48B3-8750-44291090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43175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金运梓</a:t>
            </a:r>
          </a:p>
        </p:txBody>
      </p:sp>
      <p:sp>
        <p:nvSpPr>
          <p:cNvPr id="26" name="C 模式负责人">
            <a:extLst xmlns:a="http://schemas.openxmlformats.org/drawingml/2006/main">
              <a:ext uri="{FF2B5EF4-FFF2-40B4-BE49-F238E27FC236}">
                <a16:creationId xmlns:a16="http://schemas.microsoft.com/office/drawing/2014/main" id="{66BBC212-15A7-4CCB-8DF7-50848AB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57525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C 模式负责人</a:t>
            </a:r>
          </a:p>
        </p:txBody>
      </p:sp>
      <p:sp>
        <p:nvSpPr>
          <p:cNvPr id="27" name="渲染与真实 CRUD&#10;B/C 状态一致性&#10;桌">
            <a:extLst xmlns:a="http://schemas.openxmlformats.org/drawingml/2006/main">
              <a:ext uri="{FF2B5EF4-FFF2-40B4-BE49-F238E27FC236}">
                <a16:creationId xmlns:a16="http://schemas.microsoft.com/office/drawing/2014/main" id="{EBA553AC-4AC9-4233-8CBA-55D230BC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57625"/>
            <a:ext cx="1752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渲染与真实 CRUD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B/C 状态一致性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桌面与手机端回归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Viewer 验收协作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262EF9-CB8C-40E3-AECE-9698E067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19325"/>
            <a:ext cx="20574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4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3E641E-CBD5-47F9-9C08-0CB88C83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19325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F2"/>
          </a:solidFill>
          <a:ln xmlns:a="http://schemas.openxmlformats.org/drawingml/2006/main" w="0">
            <a:noFill/>
          </a:ln>
        </p:spPr>
      </p:sp>
      <p:sp>
        <p:nvSpPr>
          <p:cNvPr id="30" name="郑相">
            <a:extLst xmlns:a="http://schemas.openxmlformats.org/drawingml/2006/main">
              <a:ext uri="{FF2B5EF4-FFF2-40B4-BE49-F238E27FC236}">
                <a16:creationId xmlns:a16="http://schemas.microsoft.com/office/drawing/2014/main" id="{C0AF9C96-01C2-4993-ABB1-76135672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43175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郑相</a:t>
            </a:r>
          </a:p>
        </p:txBody>
      </p:sp>
      <p:sp>
        <p:nvSpPr>
          <p:cNvPr id="31" name="工程部署与系统交付">
            <a:extLst xmlns:a="http://schemas.openxmlformats.org/drawingml/2006/main">
              <a:ext uri="{FF2B5EF4-FFF2-40B4-BE49-F238E27FC236}">
                <a16:creationId xmlns:a16="http://schemas.microsoft.com/office/drawing/2014/main" id="{C656E94E-A995-4116-82C9-1B371BA4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57525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工程部署与系统交付</a:t>
            </a:r>
          </a:p>
        </p:txBody>
      </p:sp>
      <p:sp>
        <p:nvSpPr>
          <p:cNvPr id="32" name="部署环境准备&#10;构建与资源配置检查&#10;部署文档维">
            <a:extLst xmlns:a="http://schemas.openxmlformats.org/drawingml/2006/main">
              <a:ext uri="{FF2B5EF4-FFF2-40B4-BE49-F238E27FC236}">
                <a16:creationId xmlns:a16="http://schemas.microsoft.com/office/drawing/2014/main" id="{2F5F5555-3991-4938-9E8D-61DC569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57625"/>
            <a:ext cx="1752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部署环境准备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构建与资源配置检查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部署文档维护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后续全栈演示验证</a:t>
            </a:r>
          </a:p>
        </p:txBody>
      </p:sp>
      <p:sp>
        <p:nvSpPr>
          <p:cNvPr id="33" name="共同交付">
            <a:extLst xmlns:a="http://schemas.openxmlformats.org/drawingml/2006/main">
              <a:ext uri="{FF2B5EF4-FFF2-40B4-BE49-F238E27FC236}">
                <a16:creationId xmlns:a16="http://schemas.microsoft.com/office/drawing/2014/main" id="{036D5446-8653-4A31-8C7A-97DEEBD8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共同交付</a:t>
            </a:r>
          </a:p>
        </p:txBody>
      </p:sp>
      <p:sp>
        <p:nvSpPr>
          <p:cNvPr id="34" name="能编辑、能预览、可持续修改，并逐步具备可验证">
            <a:extLst xmlns:a="http://schemas.openxmlformats.org/drawingml/2006/main">
              <a:ext uri="{FF2B5EF4-FFF2-40B4-BE49-F238E27FC236}">
                <a16:creationId xmlns:a16="http://schemas.microsoft.com/office/drawing/2014/main" id="{44620CD5-6ADE-41FB-8EB1-7126D8D4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1022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能编辑、能预览、可持续修改，并逐步具备可验证的源码与部署交付。</a:t>
            </a:r>
          </a:p>
        </p:txBody>
      </p:sp>
    </p:spTree>
    <p:extLst>
      <p:ext uri="{BB962C8B-B14F-4D97-AF65-F5344CB8AC3E}">
        <p14:creationId xmlns:p14="http://schemas.microsoft.com/office/powerpoint/2010/main" val="21275581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14 产品与团队愿景">
            <a:extLst xmlns:a="http://schemas.openxmlformats.org/drawingml/2006/main">
              <a:ext uri="{FF2B5EF4-FFF2-40B4-BE49-F238E27FC236}">
                <a16:creationId xmlns:a16="http://schemas.microsoft.com/office/drawing/2014/main" id="{32A39A1B-93F2-4398-A036-FB923DA4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14 产品与团队愿景</a:t>
            </a:r>
          </a:p>
        </p:txBody>
      </p:sp>
      <p:sp>
        <p:nvSpPr>
          <p:cNvPr id="2" name="把想法，搭成现实">
            <a:extLst xmlns:a="http://schemas.openxmlformats.org/drawingml/2006/main">
              <a:ext uri="{FF2B5EF4-FFF2-40B4-BE49-F238E27FC236}">
                <a16:creationId xmlns:a16="http://schemas.microsoft.com/office/drawing/2014/main" id="{AD401C55-5773-4E9E-B847-03D079ED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把想法，搭成现实</a:t>
            </a:r>
          </a:p>
        </p:txBody>
      </p:sp>
      <p:sp>
        <p:nvSpPr>
          <p:cNvPr id="3" name="让没有系统编程经验的人，也能持续创造、修改并">
            <a:extLst xmlns:a="http://schemas.openxmlformats.org/drawingml/2006/main">
              <a:ext uri="{FF2B5EF4-FFF2-40B4-BE49-F238E27FC236}">
                <a16:creationId xmlns:a16="http://schemas.microsoft.com/office/drawing/2014/main" id="{F0005D98-ABB7-4535-B560-52C7C78C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让没有系统编程经验的人，也能持续创造、修改并拥有自己的软件。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71C82-E32F-43AB-AB47-E0B4DA19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8"/>
          </a:solidFill>
          <a:ln xmlns:a="http://schemas.openxmlformats.org/drawingml/2006/main" w="0">
            <a:noFill/>
          </a:ln>
        </p:spPr>
      </p:sp>
      <p:sp>
        <p:nvSpPr>
          <p:cNvPr id="5" name="BlockCraft AI">
            <a:extLst xmlns:a="http://schemas.openxmlformats.org/drawingml/2006/main">
              <a:ext uri="{FF2B5EF4-FFF2-40B4-BE49-F238E27FC236}">
                <a16:creationId xmlns:a16="http://schemas.microsoft.com/office/drawing/2014/main" id="{AEFFB01A-D316-4675-A016-7D8C5484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BlockCraft AI</a:t>
            </a:r>
          </a:p>
        </p:txBody>
      </p:sp>
      <p:sp>
        <p:nvSpPr>
          <p:cNvPr id="6" name="v0.4 · 2026.10.18">
            <a:extLst xmlns:a="http://schemas.openxmlformats.org/drawingml/2006/main">
              <a:ext uri="{FF2B5EF4-FFF2-40B4-BE49-F238E27FC236}">
                <a16:creationId xmlns:a16="http://schemas.microsoft.com/office/drawing/2014/main" id="{D6E54957-A794-48CB-93B8-68BE921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Final · 2026.10.19</a:t>
            </a:r>
          </a:p>
        </p:txBody>
      </p:sp>
      <p:sp>
        <p:nvSpPr>
          <p:cNvPr id="7" name="15">
            <a:extLst xmlns:a="http://schemas.openxmlformats.org/drawingml/2006/main">
              <a:ext uri="{FF2B5EF4-FFF2-40B4-BE49-F238E27FC236}">
                <a16:creationId xmlns:a16="http://schemas.microsoft.com/office/drawing/2014/main" id="{691697FA-F9FB-45C1-A03D-C1BABC0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8" name="从一个真正需要的小工具开始">
            <a:extLst xmlns:a="http://schemas.openxmlformats.org/drawingml/2006/main">
              <a:ext uri="{FF2B5EF4-FFF2-40B4-BE49-F238E27FC236}">
                <a16:creationId xmlns:a16="http://schemas.microsoft.com/office/drawing/2014/main" id="{16E88ADD-D2F5-4786-8AF8-79E068B2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302B29"/>
                </a:solidFill>
                <a:latin typeface="PingFang SC"/>
                <a:ea typeface="PingFang SC"/>
                <a:cs typeface="PingFang SC"/>
              </a:rPr>
              <a:t>从一个真正需要的小工具开始</a:t>
            </a:r>
          </a:p>
        </p:txBody>
      </p:sp>
      <p:sp>
        <p:nvSpPr>
          <p:cNvPr id="9" name="功能积木让修改有明确的对象。&#10;Mochi 帮">
            <a:extLst xmlns:a="http://schemas.openxmlformats.org/drawingml/2006/main">
              <a:ext uri="{FF2B5EF4-FFF2-40B4-BE49-F238E27FC236}">
                <a16:creationId xmlns:a16="http://schemas.microsoft.com/office/drawing/2014/main" id="{D309E898-FF64-4836-8708-2969BC1B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800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愿景：让功能看得见，让修改有对象。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让 Mochi 帮助用户表达变化、确认方案，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6F6560"/>
                </a:solidFill>
                <a:latin typeface="PingFang SC"/>
                <a:ea typeface="PingFang SC"/>
                <a:cs typeface="PingFang SC"/>
              </a:rPr>
              <a:t>让完整源码最终属于创造它的人。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0ED8D-D462-41D9-A464-2B6F374B39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5d4c0b8064134"/>
          <a:stretch xmlns:a="http://schemas.openxmlformats.org/drawingml/2006/main"/>
        </p:blipFill>
        <p:spPr>
          <a:xfrm xmlns:a="http://schemas.openxmlformats.org/drawingml/2006/main">
            <a:off x="9067800" y="2667858"/>
            <a:ext cx="2324100" cy="2093784"/>
          </a:xfrm>
          <a:prstGeom xmlns:a="http://schemas.openxmlformats.org/drawingml/2006/main" prst="rect">
            <a:avLst/>
          </a:prstGeom>
        </p:spPr>
      </p:pic>
      <p:sp>
        <p:nvSpPr>
          <p:cNvPr id="11" name="团队下一步：把完整愿景逐项变成可验证的产品能">
            <a:extLst xmlns:a="http://schemas.openxmlformats.org/drawingml/2006/main">
              <a:ext uri="{FF2B5EF4-FFF2-40B4-BE49-F238E27FC236}">
                <a16:creationId xmlns:a16="http://schemas.microsoft.com/office/drawing/2014/main" id="{75D2DDFC-86B4-4167-BF82-63EB5076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9702F"/>
                </a:solidFill>
                <a:latin typeface="PingFang SC"/>
                <a:ea typeface="PingFang SC"/>
                <a:cs typeface="PingFang SC"/>
              </a:rPr>
              <a:t>团队下一步：把完整愿景逐项变成可验证的产品能力。</a:t>
            </a:r>
          </a:p>
        </p:txBody>
      </p:sp>
    </p:spTree>
    <p:extLst>
      <p:ext uri="{BB962C8B-B14F-4D97-AF65-F5344CB8AC3E}">
        <p14:creationId xmlns:p14="http://schemas.microsoft.com/office/powerpoint/2010/main" val="1271342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2026-10-19T11:00:13.6470000Z</dcterms:created>
  <dcterms:modified xsi:type="dcterms:W3CDTF">2026-10-19T11:00:13.6470000Z</dcterms:modified>
</coreProperties>
</file>